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580" y="1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96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SQL1</a:t>
            </a:r>
            <a:r>
              <a:rPr lang="ja-JP" altLang="en-US" dirty="0"/>
              <a:t>年生」をもとに作成した、データベースのしくみについての</a:t>
            </a:r>
            <a:r>
              <a:rPr lang="en-US" altLang="ja-JP" dirty="0"/>
              <a:t>PowerPoint</a:t>
            </a:r>
            <a:r>
              <a:rPr lang="ja-JP" altLang="en-US" dirty="0"/>
              <a:t>を発表させていただきます。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章でSQLとデータベースの基本を押さえ、第2章で『データを取り出す』SELECT、第3章で集計や並べ替えといった加工、第4章で追加・更新・削除のCRUD、第5章で複数のテーブルを設計して結合するところまで進み</a:t>
            </a:r>
            <a:r>
              <a:rPr lang="ja-JP" altLang="en-US" dirty="0"/>
              <a:t>、</a:t>
            </a:r>
            <a:r>
              <a:rPr dirty="0" err="1"/>
              <a:t>最後に学んだことを整理</a:t>
            </a:r>
            <a:r>
              <a:rPr lang="ja-JP" altLang="en-US" dirty="0"/>
              <a:t>する</a:t>
            </a:r>
            <a:r>
              <a:rPr dirty="0"/>
              <a:t>。</a:t>
            </a:r>
            <a:r>
              <a:rPr dirty="0" err="1"/>
              <a:t>この順番どおりに</a:t>
            </a:r>
            <a:r>
              <a:rPr dirty="0"/>
              <a:t>、</a:t>
            </a:r>
            <a:r>
              <a:rPr lang="ja-JP" altLang="en-US" dirty="0"/>
              <a:t>進めて</a:t>
            </a:r>
            <a:r>
              <a:rPr dirty="0" err="1"/>
              <a:t>いきます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まずは第1章、土台となる考え方です。データベースとSQLが、それぞれ何を指す言葉なのかを整理します。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データベースとは、データの集まりと、それを管理するしくみ＝DBMSをまとめた呼び方です。中でも、データを表の形で管理するリレーショナル型＝RDBMSが今の主流で、OracleやMySQL、そして今回使うSQLiteなどがあります。SQLは、このRDBMSにお願いする命令文で、基本は各データベース共通なので一度覚えれば応用が効きます。表の呼び名は下の図のとおり</a:t>
            </a:r>
            <a:r>
              <a:rPr lang="ja-JP" altLang="en-US" dirty="0"/>
              <a:t>です</a:t>
            </a:r>
            <a:r>
              <a:rPr dirty="0"/>
              <a:t>。縦の列がカラム、横の行が1件分のレコード、そして列と行が交わる1つのマスがフィールドです。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SQLiteは軽くて設定もいらず、すぐ始められるのが魅力です。コマンドプロンプトで sqlite3 sample.db と打つと起動し、sample.db というデータベースを開きます。続いて .read で用意されたSQL文をまとめて実行すると、練習用の sales テーブル、フルーツ店の売上表ができます。.tables で一覧を確認し、終わるときは .exit。ここで大事なのは、ドットで始まる命令はSQLiteだけの便利コマンドで、SQL文とは別物だという点です。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第2章は、データベースの基本中の基本、データを取り出す操作です。テーブル全部ではなく、欲しい列・欲しい行だけをピンポイントで取り出す方法を見ていきます。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データを取り出す命令がSELECTです。SELECT</a:t>
            </a:r>
            <a:r>
              <a:rPr dirty="0"/>
              <a:t> </a:t>
            </a:r>
            <a:r>
              <a:rPr dirty="0" err="1"/>
              <a:t>アスタリスク</a:t>
            </a:r>
            <a:r>
              <a:rPr dirty="0"/>
              <a:t> FROM sales と書けば、salesテーブルの全データが出てきます。列を選びたいときはアスタリスクの代わりにカラム名を書きます。同じ値が並ぶときはDISTINCTで重複を</a:t>
            </a:r>
            <a:r>
              <a:rPr lang="ja-JP" altLang="en-US" dirty="0"/>
              <a:t>避け</a:t>
            </a:r>
            <a:r>
              <a:rPr dirty="0"/>
              <a:t>、</a:t>
            </a:r>
            <a:r>
              <a:rPr dirty="0" err="1"/>
              <a:t>ASを使えば見出しに別名を付けられます。さらに</a:t>
            </a:r>
            <a:r>
              <a:rPr dirty="0"/>
              <a:t> .header on と .mode column </a:t>
            </a:r>
            <a:r>
              <a:rPr dirty="0" err="1"/>
              <a:t>を使うと、右の画面のように見やすい表の形で表示できます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取り出す行をしぼるのがWHEREです。WHERE</a:t>
            </a:r>
            <a:r>
              <a:rPr dirty="0"/>
              <a:t> </a:t>
            </a:r>
            <a:r>
              <a:rPr dirty="0" err="1"/>
              <a:t>item_name</a:t>
            </a:r>
            <a:r>
              <a:rPr dirty="0"/>
              <a:t> </a:t>
            </a:r>
            <a:r>
              <a:rPr dirty="0" err="1"/>
              <a:t>イコール</a:t>
            </a:r>
            <a:r>
              <a:rPr dirty="0"/>
              <a:t> </a:t>
            </a:r>
            <a:r>
              <a:rPr dirty="0" err="1"/>
              <a:t>リンゴ、と書けばリンゴの行だけ</a:t>
            </a:r>
            <a:r>
              <a:rPr lang="ja-JP" altLang="en-US" dirty="0"/>
              <a:t>取り出せます</a:t>
            </a:r>
            <a:r>
              <a:rPr dirty="0"/>
              <a:t>。</a:t>
            </a:r>
            <a:r>
              <a:rPr dirty="0" err="1"/>
              <a:t>比較には</a:t>
            </a:r>
            <a:r>
              <a:rPr dirty="0"/>
              <a:t> イコールや、等しくないを表す小なり大なり、大小の記号を使います。ANDやOR、NOTでいくつもの条件を組み合わせられ、優先順位はカッコで整理します。決まった候補のどれかに当てはめたいときはIN、『</a:t>
            </a:r>
            <a:r>
              <a:rPr dirty="0" err="1"/>
              <a:t>いくつからいくつまで』の範囲はBETWEENが便利です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第3章は、取り出したデータを加工する章です。1件ずつ見るのではなく、件数や合計、平均といった形でまとめて計算したり、グループごとに集計したり、並べ替えたり</a:t>
            </a:r>
            <a:r>
              <a:rPr lang="ja-JP" altLang="en-US" dirty="0"/>
              <a:t>して、</a:t>
            </a:r>
            <a:r>
              <a:rPr dirty="0" err="1"/>
              <a:t>データを『使える情報』に変えていきます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ここからは関数</a:t>
            </a:r>
            <a:r>
              <a:rPr lang="ja-JP" altLang="en-US" dirty="0"/>
              <a:t>を使っていきます</a:t>
            </a:r>
            <a:r>
              <a:rPr dirty="0"/>
              <a:t>。</a:t>
            </a:r>
            <a:r>
              <a:rPr dirty="0" err="1"/>
              <a:t>関数は、カラムを渡すと決まった計算をして答えを返す道具</a:t>
            </a:r>
            <a:r>
              <a:rPr lang="ja-JP" altLang="en-US" dirty="0"/>
              <a:t>です</a:t>
            </a:r>
            <a:r>
              <a:rPr dirty="0"/>
              <a:t>。代表が5つ。COUNTは件数、SUMは合計、AVGは平均、MINとMAXは最小・最大です。たとえば SELECT SUM price FROM sales とすれば、代金の合計4460が一発で出ます。MINとMAXを並べれば、一番安い商品と高い商品の値段も同時にわかります。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次はグループ化です。GROUP</a:t>
            </a:r>
            <a:r>
              <a:rPr dirty="0"/>
              <a:t> BY customer とすると、お客さんごとにまとめて集計でき、右のように誰が何回来たかがわかります。グループ内の値をつなげて見せるGROUP_CONCATもあります。そして条件の絞り込み</a:t>
            </a:r>
            <a:r>
              <a:rPr lang="ja-JP" altLang="en-US" dirty="0"/>
              <a:t>では、</a:t>
            </a:r>
            <a:r>
              <a:rPr dirty="0" err="1"/>
              <a:t>行に対する条件はWHERE、グループに対する条件はHAVINGと役割が分かれています。最後にORDER</a:t>
            </a:r>
            <a:r>
              <a:rPr dirty="0"/>
              <a:t> </a:t>
            </a:r>
            <a:r>
              <a:rPr dirty="0" err="1"/>
              <a:t>BYで並べ替え</a:t>
            </a:r>
            <a:r>
              <a:rPr lang="ja-JP" altLang="en-US" dirty="0"/>
              <a:t>をします</a:t>
            </a:r>
            <a:r>
              <a:rPr dirty="0"/>
              <a:t>。</a:t>
            </a:r>
            <a:r>
              <a:rPr dirty="0" err="1"/>
              <a:t>ASCで小さい順、DESCで大きい順、複数の基準も指定できます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これらの句は、書く順番が決まっています。SELECT、FROM、WHERE、GROUP BY、HAVING、ORDER BYの順です。全部を毎回使う必要はなく、必要なものだけを選んで組み合わせます。この順番さえ守れば、『バナナ以外を、商品ごとにまとめて、合計が多い順に並べる』といった複雑な取り出しも、たった一つのSQL文で書ける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第4章は、データそのものを変える操作です。作る・読む・更新する・消す。この4つの頭文字をとってCRUDと呼びます。読む</a:t>
            </a:r>
            <a:r>
              <a:rPr lang="ja-JP" altLang="en-US" dirty="0"/>
              <a:t>である</a:t>
            </a:r>
            <a:r>
              <a:rPr dirty="0" err="1"/>
              <a:t>SELECTはもうやっ</a:t>
            </a:r>
            <a:r>
              <a:rPr lang="ja-JP" altLang="en-US" dirty="0"/>
              <a:t>ている</a:t>
            </a:r>
            <a:r>
              <a:rPr dirty="0" err="1"/>
              <a:t>ので、ここでは残りの、追加・更新・削除を見ていきます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データを変える3つの命令です。追加はINSERT。INSERT INTO </a:t>
            </a:r>
            <a:r>
              <a:rPr dirty="0" err="1"/>
              <a:t>テーブル</a:t>
            </a:r>
            <a:r>
              <a:rPr dirty="0"/>
              <a:t> VALUES </a:t>
            </a:r>
            <a:r>
              <a:rPr dirty="0" err="1"/>
              <a:t>と書いて値を並べます。更新はUPDATE。SETで新しい値を指定し、WHEREでどの行かを決めます。削除はDELETE</a:t>
            </a:r>
            <a:r>
              <a:rPr dirty="0"/>
              <a:t> </a:t>
            </a:r>
            <a:r>
              <a:rPr dirty="0" err="1"/>
              <a:t>FROM。テーブルごと消すならDROP</a:t>
            </a:r>
            <a:r>
              <a:rPr dirty="0"/>
              <a:t> </a:t>
            </a:r>
            <a:r>
              <a:rPr dirty="0" err="1"/>
              <a:t>TABLEです。ここで一番の注意点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UPDATEやDELETEでWHEREを付け忘れると</a:t>
            </a:r>
            <a:r>
              <a:rPr dirty="0"/>
              <a:t>、</a:t>
            </a:r>
            <a:r>
              <a:rPr lang="ja-JP" altLang="en-US" dirty="0"/>
              <a:t>全て</a:t>
            </a:r>
            <a:r>
              <a:rPr dirty="0" err="1"/>
              <a:t>の行が更新・削除されてしまいます。作業の前には必ず</a:t>
            </a:r>
            <a:r>
              <a:rPr dirty="0"/>
              <a:t> .backup </a:t>
            </a:r>
            <a:r>
              <a:rPr dirty="0" err="1"/>
              <a:t>でバックアップを取ってお</a:t>
            </a:r>
            <a:r>
              <a:rPr lang="ja-JP" altLang="en-US" dirty="0"/>
              <a:t>くことが安心です。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最後の第5章は、いよいよリレーショナルデータベースの本領、複数のテーブルを扱う章です。情報を上手に分けて2つの表にし、それを結合して1つの結果として取り出す。設計と結合がテーマです。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新しいテーブルを作る前に、名前の付け方や型を決めます。名前は</a:t>
            </a:r>
            <a:r>
              <a:rPr lang="ja-JP" altLang="en-US" dirty="0"/>
              <a:t>英語の</a:t>
            </a:r>
            <a:r>
              <a:rPr dirty="0" err="1"/>
              <a:t>小文字と数字とアンダースコアで、アルファベット始まり</a:t>
            </a:r>
            <a:r>
              <a:rPr lang="ja-JP" altLang="en-US" dirty="0"/>
              <a:t>です</a:t>
            </a:r>
            <a:r>
              <a:rPr dirty="0"/>
              <a:t>。データ型は、文字列ならTEXT、整数ならINTEGERなどを指定します。さらに制約というルールを付けられます。主キー</a:t>
            </a:r>
            <a:r>
              <a:rPr lang="ja-JP" altLang="en-US" dirty="0"/>
              <a:t>のことである</a:t>
            </a:r>
            <a:r>
              <a:rPr dirty="0"/>
              <a:t>PRIMARY </a:t>
            </a:r>
            <a:r>
              <a:rPr dirty="0" err="1"/>
              <a:t>KEYは、重複もNULLも許さない、レコードを見分ける鍵</a:t>
            </a:r>
            <a:r>
              <a:rPr lang="ja-JP" altLang="en-US" dirty="0"/>
              <a:t>となります</a:t>
            </a:r>
            <a:r>
              <a:rPr dirty="0"/>
              <a:t>。NOT </a:t>
            </a:r>
            <a:r>
              <a:rPr dirty="0" err="1"/>
              <a:t>NULLは入れ忘れを防ぎます。CREATE</a:t>
            </a:r>
            <a:r>
              <a:rPr dirty="0"/>
              <a:t> TABLEでこれらをまとめて指定してテーブルを作ります。今回は売上のsalesと商品のitemに分け、共通のitem_idでつなぐ設計にしています。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分けた表は、結合して使います。INNER</a:t>
            </a:r>
            <a:r>
              <a:rPr dirty="0"/>
              <a:t> JOINで、両方の表にある共通の列＝ここではitem_idを鍵にして、2つのテーブルを1つに合体させます。右がその結果で、売上に商品名や</a:t>
            </a:r>
            <a:r>
              <a:rPr lang="ja-JP" altLang="en-US" dirty="0"/>
              <a:t>購入した数</a:t>
            </a:r>
            <a:r>
              <a:rPr dirty="0" err="1"/>
              <a:t>が組み合わさっています。結合した表では、個数かける単価のような計算もでき、SUMと組み合わせれば合計金額も出せます。最後に</a:t>
            </a:r>
            <a:r>
              <a:rPr dirty="0"/>
              <a:t> .mode csv と .once </a:t>
            </a:r>
            <a:r>
              <a:rPr dirty="0" err="1"/>
              <a:t>を使えば、結果をCSVファイルに書き出してExcelで開くこともできます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最後に</a:t>
            </a:r>
            <a:r>
              <a:rPr dirty="0" err="1"/>
              <a:t>まとめです。データを取り出すSELECTとWHERE、集計のための関数とGROUP</a:t>
            </a:r>
            <a:r>
              <a:rPr dirty="0"/>
              <a:t> </a:t>
            </a:r>
            <a:r>
              <a:rPr dirty="0" err="1"/>
              <a:t>BY、並べ替えのORDER</a:t>
            </a:r>
            <a:r>
              <a:rPr dirty="0"/>
              <a:t> </a:t>
            </a:r>
            <a:r>
              <a:rPr dirty="0" err="1"/>
              <a:t>BY、データを変えるINSERT・UPDATE・DELETE、そしてテーブルを作るCREATE</a:t>
            </a:r>
            <a:r>
              <a:rPr dirty="0"/>
              <a:t> </a:t>
            </a:r>
            <a:r>
              <a:rPr dirty="0" err="1"/>
              <a:t>TABLEと結合のINNER</a:t>
            </a:r>
            <a:r>
              <a:rPr dirty="0"/>
              <a:t> JOINまで、ひととおり触れました。次のステップとしては、SQL文の中にSQL文を入れるサブクエリや、3つ以上の表の結合、MySQLなど他のデータベースへの応用があります。</a:t>
            </a:r>
            <a:r>
              <a:rPr lang="ja-JP" altLang="en-US" dirty="0"/>
              <a:t>以上で発表のほうを終わります。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640080"/>
            <a:ext cx="2377440" cy="2377440"/>
          </a:xfrm>
          <a:prstGeom prst="ellipse">
            <a:avLst/>
          </a:prstGeom>
          <a:solidFill>
            <a:srgbClr val="FF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521440" y="5394960"/>
            <a:ext cx="2194560" cy="2194560"/>
          </a:xfrm>
          <a:prstGeom prst="ellipse">
            <a:avLst/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2880" y="-731520"/>
            <a:ext cx="1828800" cy="1828800"/>
          </a:xfrm>
          <a:prstGeom prst="ellipse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60" y="1051560"/>
            <a:ext cx="310896" cy="3108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256032" cy="256032"/>
          </a:xfrm>
          <a:prstGeom prst="ellipse">
            <a:avLst/>
          </a:prstGeom>
          <a:solidFill>
            <a:srgbClr val="F5C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18520" y="1097280"/>
            <a:ext cx="237744" cy="237744"/>
          </a:xfrm>
          <a:prstGeom prst="ellipse">
            <a:avLst/>
          </a:prstGeom>
          <a:solidFill>
            <a:srgbClr val="8A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はじめての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第1〜5章 ダイジェスト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SQLite で学ぶ、データベース操作の基本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486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lang="ja-JP" altLang="en-US" sz="3100" b="1" dirty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目次</a:t>
            </a:r>
            <a:endParaRPr sz="3100" b="1" dirty="0">
              <a:solidFill>
                <a:srgbClr val="3A355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835640" cy="749808"/>
          </a:xfrm>
          <a:prstGeom prst="roundRect">
            <a:avLst>
              <a:gd name="adj" fmla="val 14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1837944"/>
            <a:ext cx="457200" cy="457200"/>
          </a:xfrm>
          <a:prstGeom prst="ellipse">
            <a:avLst/>
          </a:prstGeom>
          <a:solidFill>
            <a:srgbClr val="37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37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40"/>
            <a:ext cx="6400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第1章　SQLとデータベースの基本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SQL・RDBMS・テーブルとは？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10835640" cy="749808"/>
          </a:xfrm>
          <a:prstGeom prst="roundRect">
            <a:avLst>
              <a:gd name="adj" fmla="val 14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2633472"/>
            <a:ext cx="457200" cy="457200"/>
          </a:xfrm>
          <a:prstGeom prst="ellipse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87168"/>
            <a:ext cx="6400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第2章　データを取り出す（SELECT）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487168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SELECT／WHERE／条件式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82696"/>
            <a:ext cx="10835640" cy="749808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" y="3429000"/>
            <a:ext cx="457200" cy="457200"/>
          </a:xfrm>
          <a:prstGeom prst="ellipse">
            <a:avLst/>
          </a:prstGeom>
          <a:solidFill>
            <a:srgbClr val="8A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82696"/>
            <a:ext cx="6400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第3章　データを集計・加工する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82696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関数／GROUP BY／並べ替え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78224"/>
            <a:ext cx="10835640" cy="749808"/>
          </a:xfrm>
          <a:prstGeom prst="roundRect">
            <a:avLst>
              <a:gd name="adj" fmla="val 14000"/>
            </a:avLst>
          </a:prstGeom>
          <a:solidFill>
            <a:srgbClr val="FDF1E6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" y="4224528"/>
            <a:ext cx="457200" cy="457200"/>
          </a:xfrm>
          <a:prstGeom prst="ellipse">
            <a:avLst/>
          </a:prstGeom>
          <a:solidFill>
            <a:srgbClr val="E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78224"/>
            <a:ext cx="6400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第4章　データを変更する（CRUD）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078224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INSERT／UPDATE／DELETE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73752"/>
            <a:ext cx="10835640" cy="749808"/>
          </a:xfrm>
          <a:prstGeom prst="roundRect">
            <a:avLst>
              <a:gd name="adj" fmla="val 14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6112" y="5020056"/>
            <a:ext cx="457200" cy="457200"/>
          </a:xfrm>
          <a:prstGeom prst="ellipse">
            <a:avLst/>
          </a:prstGeom>
          <a:solidFill>
            <a:srgbClr val="4FA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5020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873752"/>
            <a:ext cx="6400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第5章　複数テーブルで管理する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873752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テーブル設計／制約／JOIN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669280"/>
            <a:ext cx="10835640" cy="749808"/>
          </a:xfrm>
          <a:prstGeom prst="roundRect">
            <a:avLst>
              <a:gd name="adj" fmla="val 14000"/>
            </a:avLst>
          </a:prstGeom>
          <a:solidFill>
            <a:srgbClr val="FFEF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5815584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8155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669280"/>
            <a:ext cx="64008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まとめと、これからの学習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669280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学んだSQLの整理と次のステップ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40880" y="182880"/>
            <a:ext cx="4937760" cy="6583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30000" b="1">
                <a:solidFill>
                  <a:srgbClr val="67BDD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10312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SQLについて学ぼう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5262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そもそも、データベースとSQLって何だろう？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第1章　SQLについて学ぼう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データベースと SQL とは？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7556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データベース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40864"/>
            <a:ext cx="2971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データの集まり＋管理のしくみ。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目的の1件を素早く取り出せる。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7556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RDBMS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340864"/>
            <a:ext cx="2971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表でデータを管理する主流のDB。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例：Oracle／MySQL／SQLite。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429000" cy="1627632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1" y="17556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40864"/>
            <a:ext cx="2971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RDBMSへの命令文（クエリ）。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標準規格（ANSI・ISO）で応用可。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6704"/>
            <a:ext cx="10835640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ja-JP" altLang="en-US" sz="1600" b="1" dirty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　　　　　　　　　　　</a:t>
            </a:r>
            <a:r>
              <a:rPr sz="1600" b="1" dirty="0" err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表を表す言葉</a:t>
            </a:r>
            <a:r>
              <a:rPr sz="1600" b="1" dirty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　</a:t>
            </a:r>
            <a:r>
              <a:rPr sz="1600" b="0" dirty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― </a:t>
            </a:r>
            <a:r>
              <a:rPr sz="1600" b="0" dirty="0" err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テーブル（表全体）の中の、それぞれの呼び名</a:t>
            </a:r>
            <a:endParaRPr sz="1600" b="0" dirty="0">
              <a:solidFill>
                <a:srgbClr val="6B658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0520" y="4187952"/>
            <a:ext cx="1143000" cy="402336"/>
          </a:xfrm>
          <a:prstGeom prst="rect">
            <a:avLst/>
          </a:prstGeom>
          <a:solidFill>
            <a:srgbClr val="EFECF5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4187952"/>
            <a:ext cx="1298448" cy="402336"/>
          </a:xfrm>
          <a:prstGeom prst="rect">
            <a:avLst/>
          </a:prstGeom>
          <a:solidFill>
            <a:srgbClr val="FFF0F5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item_name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4187952"/>
            <a:ext cx="777240" cy="402336"/>
          </a:xfrm>
          <a:prstGeom prst="rect">
            <a:avLst/>
          </a:prstGeom>
          <a:solidFill>
            <a:srgbClr val="EFECF5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4187952"/>
            <a:ext cx="1078992" cy="402336"/>
          </a:xfrm>
          <a:prstGeom prst="rect">
            <a:avLst/>
          </a:prstGeom>
          <a:solidFill>
            <a:srgbClr val="EFECF5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4590288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2023-04-10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4590288"/>
            <a:ext cx="1298448" cy="457200"/>
          </a:xfrm>
          <a:prstGeom prst="rect">
            <a:avLst/>
          </a:prstGeom>
          <a:solidFill>
            <a:srgbClr val="FFF0F5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リンゴ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1968" y="4590288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360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9208" y="4590288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ウサ田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5047488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2023-04-11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5047488"/>
            <a:ext cx="1298448" cy="457200"/>
          </a:xfrm>
          <a:prstGeom prst="rect">
            <a:avLst/>
          </a:prstGeom>
          <a:solidFill>
            <a:srgbClr val="FFF0F5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バナナ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1968" y="5047488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400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9208" y="5047488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サル橋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5504688"/>
            <a:ext cx="1143000" cy="457200"/>
          </a:xfrm>
          <a:prstGeom prst="rect">
            <a:avLst/>
          </a:prstGeom>
          <a:solidFill>
            <a:srgbClr val="EEF7E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2023-04-12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5504688"/>
            <a:ext cx="1298448" cy="457200"/>
          </a:xfrm>
          <a:prstGeom prst="rect">
            <a:avLst/>
          </a:prstGeom>
          <a:solidFill>
            <a:srgbClr val="F4EEFB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イチゴ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5504688"/>
            <a:ext cx="777240" cy="457200"/>
          </a:xfrm>
          <a:prstGeom prst="rect">
            <a:avLst/>
          </a:prstGeom>
          <a:solidFill>
            <a:srgbClr val="EEF7E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800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5504688"/>
            <a:ext cx="1078992" cy="457200"/>
          </a:xfrm>
          <a:prstGeom prst="rect">
            <a:avLst/>
          </a:prstGeom>
          <a:solidFill>
            <a:srgbClr val="EEF7EF"/>
          </a:solidFill>
          <a:ln w="9525">
            <a:solidFill>
              <a:srgbClr val="EFE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イヌ山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5504688"/>
            <a:ext cx="1298448" cy="457200"/>
          </a:xfrm>
          <a:prstGeom prst="rect">
            <a:avLst/>
          </a:prstGeom>
          <a:noFill/>
          <a:ln w="31750">
            <a:solidFill>
              <a:srgbClr val="8A5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114800" y="4142232"/>
            <a:ext cx="4389120" cy="1865376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C9C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1144" y="369417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カラム（縦の列）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8424" y="3931920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04688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レコード（横の行＝1件分）　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504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◀　フィールド（1つのマス）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第1章　SQLについて学ぼう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準備から、テーブル作成までの流れ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074920" cy="1600200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SQLite の特徴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69464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軽量で高速・複雑な設定が不要・導入がかんたん。小規模システムやIoT機器などで広く使われる。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20440"/>
            <a:ext cx="5074920" cy="1874519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372160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sales テーブル（練習用データ）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06824"/>
            <a:ext cx="4617720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フルーツ店の売上表。5つのカラムを持つ。</a:t>
            </a:r>
            <a:r>
              <a:rPr sz="128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date / item_name / item_count / price /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83080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1892807"/>
            <a:ext cx="51297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9F97C0"/>
                </a:solidFill>
                <a:latin typeface="Consolas"/>
                <a:ea typeface="Consolas"/>
                <a:cs typeface="Consolas"/>
              </a:rPr>
              <a:t>コマンドプロンプトでの操作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240280"/>
            <a:ext cx="5129783" cy="2221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.read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chap1_sales</a:t>
            </a:r>
            <a:r>
              <a:rPr sz="130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.sql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30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SQL文をまとめて実行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sqlite3 sample</a:t>
            </a:r>
            <a:r>
              <a:rPr sz="130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.db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30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起動（DBを開く/作成）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.tables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30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テーブル一覧を表示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.exit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                </a:t>
            </a:r>
            <a:r>
              <a:rPr sz="130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安全に終了する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75488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EAF6F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475488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37A9D6"/>
                </a:solidFill>
                <a:latin typeface="Meiryo"/>
                <a:ea typeface="Meiryo"/>
                <a:cs typeface="Meiryo"/>
              </a:rPr>
              <a:t>ヒント：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「.」で始まるのはSQLite独自のコマンド。SQL文ではありません。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40880" y="182880"/>
            <a:ext cx="4937760" cy="6583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30000" b="1">
                <a:solidFill>
                  <a:srgbClr val="F391B3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10312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データを取り出そう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5262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SELECT文で、欲しいデータだけを取り出す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第2章　データを取り出そう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SELECT の基本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126480" cy="105156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5724144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sales;   </a:t>
            </a:r>
            <a:r>
              <a:rPr sz="140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salesの全データを取り出す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6126480" cy="576072"/>
          </a:xfrm>
          <a:prstGeom prst="roundRect">
            <a:avLst>
              <a:gd name="adj" fmla="val 16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3236976"/>
            <a:ext cx="237744" cy="237744"/>
          </a:xfrm>
          <a:prstGeom prst="ellipse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53949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SELECT * FROM …　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テーブルの全カラムを取り出す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85032"/>
            <a:ext cx="6126480" cy="576072"/>
          </a:xfrm>
          <a:prstGeom prst="roundRect">
            <a:avLst>
              <a:gd name="adj" fmla="val 16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858768"/>
            <a:ext cx="237744" cy="237744"/>
          </a:xfrm>
          <a:prstGeom prst="ellipse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685032"/>
            <a:ext cx="53949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カラム名を指定　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SELECT customer FROM sales; で列だけ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06824"/>
            <a:ext cx="6126480" cy="576072"/>
          </a:xfrm>
          <a:prstGeom prst="roundRect">
            <a:avLst>
              <a:gd name="adj" fmla="val 16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4480560"/>
            <a:ext cx="237744" cy="237744"/>
          </a:xfrm>
          <a:prstGeom prst="ellipse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306824"/>
            <a:ext cx="53949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DISTINCT　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重複した値をまとめて除く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28616"/>
            <a:ext cx="6126480" cy="576072"/>
          </a:xfrm>
          <a:prstGeom prst="roundRect">
            <a:avLst>
              <a:gd name="adj" fmla="val 16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5102352"/>
            <a:ext cx="237744" cy="237744"/>
          </a:xfrm>
          <a:prstGeom prst="ellipse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928616"/>
            <a:ext cx="53949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AS　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見出しに分かりやすい別名を付ける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50407"/>
            <a:ext cx="6126480" cy="576072"/>
          </a:xfrm>
          <a:prstGeom prst="roundRect">
            <a:avLst>
              <a:gd name="adj" fmla="val 16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5724144"/>
            <a:ext cx="237744" cy="237744"/>
          </a:xfrm>
          <a:prstGeom prst="ellipse">
            <a:avLst/>
          </a:prstGeom>
          <a:solidFill>
            <a:srgbClr val="F06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5550407"/>
            <a:ext cx="53949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.header on / .mode column　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結果を見やすい表形式に整える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13448" y="1892807"/>
            <a:ext cx="4581144" cy="2667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ESSON0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65960"/>
            <a:ext cx="4434840" cy="2520856"/>
          </a:xfrm>
          <a:prstGeom prst="rect">
            <a:avLst/>
          </a:prstGeom>
          <a:ln w="12700">
            <a:solidFill>
              <a:srgbClr val="EFE9DF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086600" y="4614832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▲ .mode column で整えた sales テーブル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第2章　データを取り出そう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WHERE で「条件」をつける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35640" cy="137160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1043330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 </a:t>
            </a: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item_name = </a:t>
            </a:r>
            <a:r>
              <a:rPr sz="1400" b="0">
                <a:solidFill>
                  <a:srgbClr val="A5E0A5"/>
                </a:solidFill>
                <a:latin typeface="Consolas"/>
                <a:ea typeface="Consolas"/>
                <a:cs typeface="Consolas"/>
              </a:rPr>
              <a:t>'リンゴ'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 </a:t>
            </a: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item_count &gt;= </a:t>
            </a:r>
            <a:r>
              <a:rPr sz="1400" b="0">
                <a:solidFill>
                  <a:srgbClr val="C9B6FF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customer = </a:t>
            </a:r>
            <a:r>
              <a:rPr sz="1400" b="0">
                <a:solidFill>
                  <a:srgbClr val="A5E0A5"/>
                </a:solidFill>
                <a:latin typeface="Consolas"/>
                <a:ea typeface="Consolas"/>
                <a:cs typeface="Consolas"/>
              </a:rPr>
              <a:t>'サル橋'</a:t>
            </a:r>
            <a:r>
              <a:rPr sz="14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5349240" cy="1234440"/>
          </a:xfrm>
          <a:prstGeom prst="roundRect">
            <a:avLst>
              <a:gd name="adj" fmla="val 9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63016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比較演算子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15384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= 　&lt;&gt; 　&gt; 　&lt; 　&gt;= 　&lt;=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429000"/>
            <a:ext cx="5349240" cy="1234440"/>
          </a:xfrm>
          <a:prstGeom prst="roundRect">
            <a:avLst>
              <a:gd name="adj" fmla="val 9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363016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AND / OR /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4215384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複数条件を組み合わせ。優先はカッコ ( 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00600"/>
            <a:ext cx="5349240" cy="1234440"/>
          </a:xfrm>
          <a:prstGeom prst="roundRect">
            <a:avLst>
              <a:gd name="adj" fmla="val 9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500176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IN ( …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586984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リストのいずれかに一致する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800600"/>
            <a:ext cx="5349240" cy="1234440"/>
          </a:xfrm>
          <a:prstGeom prst="roundRect">
            <a:avLst>
              <a:gd name="adj" fmla="val 9000"/>
            </a:avLst>
          </a:prstGeom>
          <a:solidFill>
            <a:srgbClr val="FFF0F5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500176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06F9C"/>
                </a:solidFill>
                <a:latin typeface="Meiryo"/>
                <a:ea typeface="Meiryo"/>
                <a:cs typeface="Meiryo"/>
              </a:rPr>
              <a:t>BETWEEN a AND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586984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aからbまでの範囲を指定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5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40880" y="182880"/>
            <a:ext cx="4937760" cy="6583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30000" b="1">
                <a:solidFill>
                  <a:srgbClr val="A683D4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10312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データを集計・加工しよう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5262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件数・合計・平均…まとめて計算する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第3章　データを集計・加工しよう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集計関数でまとめて計算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30552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1576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件数を数える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1215" y="1874519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71215" y="2130552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271576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合計を出す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1" y="1874519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56631" y="2130552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AVG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71576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平均を出す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7" y="1874519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2047" y="2130552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7" y="271576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最小値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27463" y="1874519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7463" y="2130552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3" y="271576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最大値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11880"/>
            <a:ext cx="6400800" cy="182880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813048"/>
            <a:ext cx="5998464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(price)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sales;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35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全部の代金を合計 → 4460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(price),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(price)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sales;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350" b="0">
                <a:solidFill>
                  <a:srgbClr val="8F88B3"/>
                </a:solidFill>
                <a:latin typeface="Consolas"/>
                <a:ea typeface="Consolas"/>
                <a:cs typeface="Consolas"/>
              </a:rPr>
              <a:t>-- 一番安い値と高い値を同時に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611880"/>
            <a:ext cx="4160520" cy="1828800"/>
          </a:xfrm>
          <a:prstGeom prst="roundRect">
            <a:avLst>
              <a:gd name="adj" fmla="val 10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40" y="379476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関数って？</a:t>
            </a:r>
            <a:r>
              <a:rPr sz="13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カラムを渡すと、決まった計算をして1つの答えを返してくれる道具。</a:t>
            </a:r>
            <a:r>
              <a:rPr sz="1300" b="0">
                <a:solidFill>
                  <a:srgbClr val="6B6580"/>
                </a:solidFill>
                <a:latin typeface="Meiryo"/>
                <a:ea typeface="Meiryo"/>
                <a:cs typeface="Meiryo"/>
              </a:rPr>
              <a:t>「全部でいくつ？」に一発で答える。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第3章　データを集計・加工しよう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グループ化・絞り込み・並べ替え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309360" cy="105156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5907024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customer,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(*)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3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customer;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6309360" cy="603504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5852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3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GROUP BY　</a:t>
            </a:r>
            <a:r>
              <a:rPr sz="123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同じ値ごとにまとめて集計（例：お客さんごとの来店回数）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12464"/>
            <a:ext cx="6309360" cy="603504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5852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3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GROUP_CONCAT　</a:t>
            </a:r>
            <a:r>
              <a:rPr sz="123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グループ内の値を1つにつなげて表示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61688"/>
            <a:ext cx="6309360" cy="603504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61688"/>
            <a:ext cx="5852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3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HAVING　</a:t>
            </a:r>
            <a:r>
              <a:rPr sz="123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グループへの条件（WHEREは行、HAVINGはグループ）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10912"/>
            <a:ext cx="6309360" cy="603504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10912"/>
            <a:ext cx="5852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3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ORDER BY　</a:t>
            </a:r>
            <a:r>
              <a:rPr sz="123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並べ替え。ASC＝昇順／DESC＝降順、複数キーも可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6328" y="1938528"/>
            <a:ext cx="4352544" cy="13918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ESSON1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011680"/>
            <a:ext cx="4206240" cy="1245502"/>
          </a:xfrm>
          <a:prstGeom prst="rect">
            <a:avLst/>
          </a:prstGeom>
          <a:ln w="12700">
            <a:solidFill>
              <a:srgbClr val="EFE9DF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269480" y="338519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▲ お客さんごとの来店回数を集計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第3章　データを集計・加工しよう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句を組み合わせる ― 書く順番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627632" cy="1234440"/>
          </a:xfrm>
          <a:prstGeom prst="roundRect">
            <a:avLst>
              <a:gd name="adj" fmla="val 14000"/>
            </a:avLst>
          </a:prstGeom>
          <a:solidFill>
            <a:srgbClr val="8A5CC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688336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18688"/>
            <a:ext cx="1627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取り出す列</a:t>
            </a:r>
          </a:p>
        </p:txBody>
      </p:sp>
      <p:sp>
        <p:nvSpPr>
          <p:cNvPr id="8" name="Chevron 7"/>
          <p:cNvSpPr/>
          <p:nvPr/>
        </p:nvSpPr>
        <p:spPr>
          <a:xfrm>
            <a:off x="2339108" y="2939796"/>
            <a:ext cx="162616" cy="292608"/>
          </a:xfrm>
          <a:prstGeom prst="chevron">
            <a:avLst/>
          </a:prstGeom>
          <a:solidFill>
            <a:srgbClr val="D9C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27401" y="2468880"/>
            <a:ext cx="1627632" cy="1234440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27401" y="2688336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7401" y="3218688"/>
            <a:ext cx="1627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対象のテーブル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0709" y="2939796"/>
            <a:ext cx="162616" cy="292608"/>
          </a:xfrm>
          <a:prstGeom prst="chevron">
            <a:avLst/>
          </a:prstGeom>
          <a:solidFill>
            <a:srgbClr val="D9C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69003" y="2468880"/>
            <a:ext cx="1627632" cy="1234440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9003" y="2688336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9003" y="3218688"/>
            <a:ext cx="1627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行の条件</a:t>
            </a:r>
          </a:p>
        </p:txBody>
      </p:sp>
      <p:sp>
        <p:nvSpPr>
          <p:cNvPr id="16" name="Chevron 15"/>
          <p:cNvSpPr/>
          <p:nvPr/>
        </p:nvSpPr>
        <p:spPr>
          <a:xfrm>
            <a:off x="6022311" y="2939796"/>
            <a:ext cx="162616" cy="292608"/>
          </a:xfrm>
          <a:prstGeom prst="chevron">
            <a:avLst/>
          </a:prstGeom>
          <a:solidFill>
            <a:srgbClr val="D9C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0604" y="2468880"/>
            <a:ext cx="1627632" cy="1234440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0604" y="2688336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GROUP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604" y="3218688"/>
            <a:ext cx="1627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グループ化</a:t>
            </a:r>
          </a:p>
        </p:txBody>
      </p:sp>
      <p:sp>
        <p:nvSpPr>
          <p:cNvPr id="20" name="Chevron 19"/>
          <p:cNvSpPr/>
          <p:nvPr/>
        </p:nvSpPr>
        <p:spPr>
          <a:xfrm>
            <a:off x="7863913" y="2939796"/>
            <a:ext cx="162616" cy="292608"/>
          </a:xfrm>
          <a:prstGeom prst="chevron">
            <a:avLst/>
          </a:prstGeom>
          <a:solidFill>
            <a:srgbClr val="D9C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52206" y="2468880"/>
            <a:ext cx="1627632" cy="1234440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52206" y="2688336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HAVING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2206" y="3218688"/>
            <a:ext cx="1627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グループの条件</a:t>
            </a:r>
          </a:p>
        </p:txBody>
      </p:sp>
      <p:sp>
        <p:nvSpPr>
          <p:cNvPr id="24" name="Chevron 23"/>
          <p:cNvSpPr/>
          <p:nvPr/>
        </p:nvSpPr>
        <p:spPr>
          <a:xfrm>
            <a:off x="9705514" y="2939796"/>
            <a:ext cx="162616" cy="292608"/>
          </a:xfrm>
          <a:prstGeom prst="chevron">
            <a:avLst/>
          </a:prstGeom>
          <a:solidFill>
            <a:srgbClr val="D9C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93808" y="2468880"/>
            <a:ext cx="1627632" cy="1234440"/>
          </a:xfrm>
          <a:prstGeom prst="roundRect">
            <a:avLst>
              <a:gd name="adj" fmla="val 14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93808" y="2688336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ORDER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3218688"/>
            <a:ext cx="1627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並べ替え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34840"/>
            <a:ext cx="10835640" cy="1005840"/>
          </a:xfrm>
          <a:prstGeom prst="roundRect">
            <a:avLst>
              <a:gd name="adj" fmla="val 9000"/>
            </a:avLst>
          </a:prstGeom>
          <a:solidFill>
            <a:srgbClr val="F4EEF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43484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8A5CC7"/>
                </a:solidFill>
                <a:latin typeface="Meiryo"/>
                <a:ea typeface="Meiryo"/>
                <a:cs typeface="Meiryo"/>
              </a:rPr>
              <a:t>この順番で書くのがルール。</a:t>
            </a:r>
            <a:r>
              <a:rPr sz="13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必要な句だけを選んで組み合わせれば、「◯◯を、条件で絞って、グループ化して、多い順に」といった複雑な取り出しも1文で書けます。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40880" y="182880"/>
            <a:ext cx="4937760" cy="6583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30000" b="1">
                <a:solidFill>
                  <a:srgbClr val="F2A65D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10312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EF8A2B"/>
                </a:solidFill>
                <a:latin typeface="Meiryo"/>
                <a:ea typeface="Meiryo"/>
                <a:cs typeface="Meiryo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データを変更しよう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5262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作る・更新する・消す ― CRUD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EF8A2B"/>
                </a:solidFill>
                <a:latin typeface="Meiryo"/>
                <a:ea typeface="Meiryo"/>
                <a:cs typeface="Meiryo"/>
              </a:rPr>
              <a:t>第4章　データを変更しよう（CRUD）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INSERT・UPDATE・DELETE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126480" cy="1051560"/>
          </a:xfrm>
          <a:prstGeom prst="roundRect">
            <a:avLst>
              <a:gd name="adj" fmla="val 9000"/>
            </a:avLst>
          </a:prstGeom>
          <a:solidFill>
            <a:srgbClr val="FDF1E6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EF8A2B"/>
                </a:solidFill>
                <a:latin typeface="Meiryo"/>
                <a:ea typeface="Meiryo"/>
                <a:cs typeface="Meiryo"/>
              </a:rPr>
              <a:t>INSERT　追加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69464"/>
            <a:ext cx="5669280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INSERT INTO sales VALUES ( … );</a:t>
            </a: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カラム名は省略がおすすめ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53512"/>
            <a:ext cx="6126480" cy="1051560"/>
          </a:xfrm>
          <a:prstGeom prst="roundRect">
            <a:avLst>
              <a:gd name="adj" fmla="val 9000"/>
            </a:avLst>
          </a:prstGeom>
          <a:solidFill>
            <a:srgbClr val="FDF1E6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31546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EF8A2B"/>
                </a:solidFill>
                <a:latin typeface="Meiryo"/>
                <a:ea typeface="Meiryo"/>
                <a:cs typeface="Meiryo"/>
              </a:rPr>
              <a:t>UPDATE　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39896"/>
            <a:ext cx="5669280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UPDATE sales SET price = 400 WHERE … ;</a:t>
            </a: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SETで新しい値を指定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23944"/>
            <a:ext cx="6126480" cy="1051560"/>
          </a:xfrm>
          <a:prstGeom prst="roundRect">
            <a:avLst>
              <a:gd name="adj" fmla="val 9000"/>
            </a:avLst>
          </a:prstGeom>
          <a:solidFill>
            <a:srgbClr val="FDF1E6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325112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EF8A2B"/>
                </a:solidFill>
                <a:latin typeface="Meiryo"/>
                <a:ea typeface="Meiryo"/>
                <a:cs typeface="Meiryo"/>
              </a:rPr>
              <a:t>DELETE　削除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910328"/>
            <a:ext cx="5669280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1">
                <a:solidFill>
                  <a:srgbClr val="6B6580"/>
                </a:solidFill>
                <a:latin typeface="Meiryo"/>
                <a:ea typeface="Meiryo"/>
                <a:cs typeface="Meiryo"/>
              </a:rPr>
              <a:t>DELETE FROM sales WHERE … ;</a:t>
            </a: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テーブルごとは DROP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03520"/>
            <a:ext cx="6126480" cy="960120"/>
          </a:xfrm>
          <a:prstGeom prst="roundRect">
            <a:avLst>
              <a:gd name="adj" fmla="val 10000"/>
            </a:avLst>
          </a:prstGeom>
          <a:solidFill>
            <a:srgbClr val="FFE9D6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303520"/>
            <a:ext cx="5623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>
                <a:solidFill>
                  <a:srgbClr val="FF6B6B"/>
                </a:solidFill>
                <a:latin typeface="Meiryo"/>
                <a:ea typeface="Meiryo"/>
                <a:cs typeface="Meiryo"/>
              </a:rPr>
              <a:t>⚠ WHERE を忘れると全件が変わる！　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条件なしのUPDATE・DELETEは全行が対象。変更前は .backup でバックアップを。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3448" y="2029967"/>
            <a:ext cx="4581144" cy="1809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ESSON1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03120"/>
            <a:ext cx="4434840" cy="1663064"/>
          </a:xfrm>
          <a:prstGeom prst="rect">
            <a:avLst/>
          </a:prstGeom>
          <a:ln w="12700">
            <a:solidFill>
              <a:srgbClr val="EFE9DF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086600" y="38942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EF8A2B"/>
                </a:solidFill>
                <a:latin typeface="Meiryo"/>
                <a:ea typeface="Meiryo"/>
                <a:cs typeface="Meiryo"/>
              </a:rPr>
              <a:t>▲ UPDATE で日付を更新した結果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A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40880" y="182880"/>
            <a:ext cx="4937760" cy="6583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30000" b="1">
                <a:solidFill>
                  <a:srgbClr val="79BC7D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10312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複数テーブルで管理しよう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5262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テーブルを分けて、結合して使う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第5章　複数テーブルで管理しよう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テーブルの設計と作成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命名規則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1" y="2569464"/>
            <a:ext cx="4972407" cy="449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英小文字・数字・_（アンダースコア）で、アルファベット始まり。予約語は避ける。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37560"/>
            <a:ext cx="5349240" cy="1371600"/>
          </a:xfrm>
          <a:prstGeom prst="roundRect">
            <a:avLst>
              <a:gd name="adj" fmla="val 9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353872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データ型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123944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TEXT＝文字列／INTEGER＝整数／REAL＝小数 など。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4632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504748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制約（ルール）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632704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PRIMARY KEY＝主キー（重複・NULL禁止）NOT NULL＝必ず値を入れる（入れ忘れ防止）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892807"/>
            <a:ext cx="4855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9F97C0"/>
                </a:solidFill>
                <a:latin typeface="Consolas"/>
                <a:ea typeface="Consolas"/>
                <a:cs typeface="Consolas"/>
              </a:rPr>
              <a:t>CREATE TABLE でテーブルを作る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240280"/>
            <a:ext cx="4855464" cy="2084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item (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item_id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INTEGER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item_name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price  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INTEGER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farm   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date   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30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617720"/>
            <a:ext cx="5257800" cy="1645920"/>
          </a:xfrm>
          <a:prstGeom prst="roundRect">
            <a:avLst>
              <a:gd name="adj" fmla="val 9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8006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なぜ分ける？</a:t>
            </a:r>
            <a:r>
              <a:rPr sz="125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売上（sales）と商品（item）を別の表にし、共通の item_id でつなぐ。商品情報の重複がなくなり、管理がすっきりする。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第5章　複数テーブルで管理しよう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テーブルの結合・計算・書き出し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309360" cy="1600200"/>
          </a:xfrm>
          <a:prstGeom prst="roundRect">
            <a:avLst>
              <a:gd name="adj" fmla="val 6000"/>
            </a:avLst>
          </a:prstGeom>
          <a:solidFill>
            <a:srgbClr val="2B293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5907024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2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</a:t>
            </a:r>
            <a:r>
              <a:rPr sz="125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.date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, item_name, item_count, customer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2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2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INNER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item </a:t>
            </a:r>
            <a:r>
              <a:rPr sz="1250" b="1">
                <a:solidFill>
                  <a:srgbClr val="FFD98A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 sales</a:t>
            </a:r>
            <a:r>
              <a:rPr sz="125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.item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_id = item</a:t>
            </a:r>
            <a:r>
              <a:rPr sz="1250" b="1">
                <a:solidFill>
                  <a:srgbClr val="8FD6FF"/>
                </a:solidFill>
                <a:latin typeface="Consolas"/>
                <a:ea typeface="Consolas"/>
                <a:cs typeface="Consolas"/>
              </a:rPr>
              <a:t>.item</a:t>
            </a:r>
            <a:r>
              <a:rPr sz="1250" b="0">
                <a:solidFill>
                  <a:srgbClr val="ECEAF5"/>
                </a:solidFill>
                <a:latin typeface="Consolas"/>
                <a:ea typeface="Consolas"/>
                <a:cs typeface="Consolas"/>
              </a:rPr>
              <a:t>_id;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6309360" cy="566928"/>
          </a:xfrm>
          <a:prstGeom prst="roundRect">
            <a:avLst>
              <a:gd name="adj" fmla="val 14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8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INNER JOIN … ON　</a:t>
            </a:r>
            <a:r>
              <a:rPr sz="11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共通の列（item_id）で2つの表を合体させる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24528"/>
            <a:ext cx="6309360" cy="566928"/>
          </a:xfrm>
          <a:prstGeom prst="roundRect">
            <a:avLst>
              <a:gd name="adj" fmla="val 14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8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計算する　</a:t>
            </a:r>
            <a:r>
              <a:rPr sz="11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item_count * price（＋ − ＊ ／ ％）、ASで別名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37176"/>
            <a:ext cx="6309360" cy="566928"/>
          </a:xfrm>
          <a:prstGeom prst="roundRect">
            <a:avLst>
              <a:gd name="adj" fmla="val 14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37176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8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集計と併用　</a:t>
            </a:r>
            <a:r>
              <a:rPr sz="11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SUM(item_count * price) で合計金額も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449824"/>
            <a:ext cx="6309360" cy="566928"/>
          </a:xfrm>
          <a:prstGeom prst="roundRect">
            <a:avLst>
              <a:gd name="adj" fmla="val 14000"/>
            </a:avLst>
          </a:prstGeom>
          <a:solidFill>
            <a:srgbClr val="EEF7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449824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8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.mode csv / .once　</a:t>
            </a:r>
            <a:r>
              <a:rPr sz="11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結果をCSVに書き出し、Excelで開ける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6328" y="1892807"/>
            <a:ext cx="4352544" cy="1698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ESSON2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65960"/>
            <a:ext cx="4206240" cy="1551936"/>
          </a:xfrm>
          <a:prstGeom prst="rect">
            <a:avLst/>
          </a:prstGeom>
          <a:ln w="12700">
            <a:solidFill>
              <a:srgbClr val="EFE9DF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269480" y="364591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4FA854"/>
                </a:solidFill>
                <a:latin typeface="Meiryo"/>
                <a:ea typeface="Meiryo"/>
                <a:cs typeface="Meiryo"/>
              </a:rPr>
              <a:t>▲ sales と item を結合した結果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100" b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まとめ ― そして次のステップへ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760720" cy="293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3A3550"/>
                </a:solidFill>
                <a:latin typeface="Meiryo"/>
                <a:ea typeface="Meiryo"/>
                <a:cs typeface="Meiryo"/>
              </a:rPr>
              <a:t>身についたSQL</a:t>
            </a:r>
            <a:endParaRPr sz="1700" b="1" dirty="0">
              <a:solidFill>
                <a:srgbClr val="3A355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197864" cy="530352"/>
          </a:xfrm>
          <a:prstGeom prst="roundRect">
            <a:avLst>
              <a:gd name="adj" fmla="val 50000"/>
            </a:avLst>
          </a:prstGeom>
          <a:solidFill>
            <a:srgbClr val="F06F9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1978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SELECT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3" y="2148840"/>
            <a:ext cx="1074420" cy="530352"/>
          </a:xfrm>
          <a:prstGeom prst="roundRect">
            <a:avLst>
              <a:gd name="adj" fmla="val 50000"/>
            </a:avLst>
          </a:prstGeom>
          <a:solidFill>
            <a:srgbClr val="F06F9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66543" y="2148840"/>
            <a:ext cx="10744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3844" y="2148840"/>
            <a:ext cx="1316736" cy="530352"/>
          </a:xfrm>
          <a:prstGeom prst="roundRect">
            <a:avLst>
              <a:gd name="adj" fmla="val 50000"/>
            </a:avLst>
          </a:prstGeom>
          <a:solidFill>
            <a:srgbClr val="8A5CC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3844" y="2148840"/>
            <a:ext cx="13167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集計関数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07208"/>
            <a:ext cx="2555748" cy="530352"/>
          </a:xfrm>
          <a:prstGeom prst="roundRect">
            <a:avLst>
              <a:gd name="adj" fmla="val 50000"/>
            </a:avLst>
          </a:prstGeom>
          <a:solidFill>
            <a:srgbClr val="8A5CC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2555748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GROUP BY / HAVING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2807208"/>
            <a:ext cx="1444752" cy="530352"/>
          </a:xfrm>
          <a:prstGeom prst="roundRect">
            <a:avLst>
              <a:gd name="adj" fmla="val 50000"/>
            </a:avLst>
          </a:prstGeom>
          <a:solidFill>
            <a:srgbClr val="8A5CC7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4428" y="2807208"/>
            <a:ext cx="14447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ORDER BY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65576"/>
            <a:ext cx="3419856" cy="530352"/>
          </a:xfrm>
          <a:prstGeom prst="roundRect">
            <a:avLst>
              <a:gd name="adj" fmla="val 50000"/>
            </a:avLst>
          </a:prstGeom>
          <a:solidFill>
            <a:srgbClr val="EF8A2B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465576"/>
            <a:ext cx="341985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INSERT / UPDATE /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3465576"/>
            <a:ext cx="1938528" cy="530352"/>
          </a:xfrm>
          <a:prstGeom prst="roundRect">
            <a:avLst>
              <a:gd name="adj" fmla="val 50000"/>
            </a:avLst>
          </a:prstGeom>
          <a:solidFill>
            <a:srgbClr val="4FA854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88536" y="3465576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CREATE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23944"/>
            <a:ext cx="1691640" cy="530352"/>
          </a:xfrm>
          <a:prstGeom prst="roundRect">
            <a:avLst>
              <a:gd name="adj" fmla="val 50000"/>
            </a:avLst>
          </a:prstGeom>
          <a:solidFill>
            <a:srgbClr val="4FA854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123944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INNER JOIN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783080"/>
            <a:ext cx="4800600" cy="3200400"/>
          </a:xfrm>
          <a:prstGeom prst="roundRect">
            <a:avLst>
              <a:gd name="adj" fmla="val 9000"/>
            </a:avLst>
          </a:prstGeom>
          <a:solidFill>
            <a:srgbClr val="FFEFEF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76872" y="198424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FF6B6B"/>
                </a:solidFill>
                <a:latin typeface="Meiryo"/>
                <a:ea typeface="Meiryo"/>
                <a:cs typeface="Meiryo"/>
              </a:rPr>
              <a:t>次に学ぶと広がること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569464"/>
            <a:ext cx="4343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・サブクエリ（SQL文の中に SQL文を入れる）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・3つ以上のテーブルの結合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・他の RDBMS（MySQL・PostgreSQL など）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80" b="0">
                <a:solidFill>
                  <a:srgbClr val="3A3550"/>
                </a:solidFill>
                <a:latin typeface="Meiryo"/>
                <a:ea typeface="Meiryo"/>
                <a:cs typeface="Meiryo"/>
              </a:rPr>
              <a:t>・日付関数・算術関数など、便利な関数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49240"/>
            <a:ext cx="10835640" cy="914400"/>
          </a:xfrm>
          <a:prstGeom prst="roundRect">
            <a:avLst>
              <a:gd name="adj" fmla="val 20000"/>
            </a:avLst>
          </a:prstGeom>
          <a:solidFill>
            <a:srgbClr val="F06F9C"/>
          </a:solidFill>
          <a:ln>
            <a:noFill/>
          </a:ln>
          <a:effectLst>
            <a:outerShdw blurRad="90000" dist="32000" dir="5400000" rotWithShape="0">
              <a:srgbClr val="9A8F7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10835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おつかれさまでした！　まずは自分の手で SELECT を打つところから始めましょう。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1592</Words>
  <Application>Microsoft Office PowerPoint</Application>
  <PresentationFormat>ワイド画面</PresentationFormat>
  <Paragraphs>219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Meiryo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精工 パーツ</cp:lastModifiedBy>
  <cp:revision>6</cp:revision>
  <dcterms:created xsi:type="dcterms:W3CDTF">2013-01-27T09:14:16Z</dcterms:created>
  <dcterms:modified xsi:type="dcterms:W3CDTF">2026-08-16T23:58:23Z</dcterms:modified>
  <cp:category/>
</cp:coreProperties>
</file>