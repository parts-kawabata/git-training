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50" d="100"/>
          <a:sy n="150" d="100"/>
        </p:scale>
        <p:origin x="660" y="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419686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ja-JP" altLang="en-US" dirty="0"/>
              <a:t>「</a:t>
            </a:r>
            <a:r>
              <a:rPr lang="en-US" altLang="ja-JP" dirty="0"/>
              <a:t>SQL1</a:t>
            </a:r>
            <a:r>
              <a:rPr lang="ja-JP" altLang="en-US" dirty="0"/>
              <a:t>年生」をもとに作成した、データベースのしくみについての</a:t>
            </a:r>
            <a:r>
              <a:rPr lang="en-US" altLang="ja-JP" dirty="0"/>
              <a:t>PowerPoint</a:t>
            </a:r>
            <a:r>
              <a:rPr lang="ja-JP" altLang="en-US" dirty="0"/>
              <a:t>を発表させていただきます。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第1章でSQLとデータベースの基本を押さえ、第2章で『データを取り出す』SELECT、第3章で集計や並べ替えといった加工、第4章で追加・更新・削除のCRUD、第5章で複数のテーブルを設計して結合するところまで進み</a:t>
            </a:r>
            <a:r>
              <a:rPr lang="ja-JP" altLang="en-US" dirty="0"/>
              <a:t>、</a:t>
            </a:r>
            <a:r>
              <a:rPr dirty="0" err="1"/>
              <a:t>最後に学んだことを整理</a:t>
            </a:r>
            <a:r>
              <a:rPr lang="ja-JP" altLang="en-US" dirty="0"/>
              <a:t>する</a:t>
            </a:r>
            <a:r>
              <a:rPr dirty="0"/>
              <a:t>。</a:t>
            </a:r>
            <a:r>
              <a:rPr dirty="0" err="1"/>
              <a:t>この順番どおりに</a:t>
            </a:r>
            <a:r>
              <a:rPr dirty="0"/>
              <a:t>、</a:t>
            </a:r>
            <a:r>
              <a:rPr lang="ja-JP" altLang="en-US" dirty="0"/>
              <a:t>進めて</a:t>
            </a:r>
            <a:r>
              <a:rPr dirty="0" err="1"/>
              <a:t>いきます</a:t>
            </a:r>
            <a:r>
              <a:rPr dirty="0"/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まずは第1章、土台となる考え方です。データベースとSQLが、それぞれ何を指す言葉なのかを整理します。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データベースとは、データの集まりと、それを管理するしくみ＝DBMSをまとめた呼び方です。中でも、データを表の形で管理するリレーショナル型＝RDBMSが今の主流で、OracleやMySQL、そして今回使うSQLiteなどがあります。そしてSQLは、このRDBMSにお願いする命令文で、基本は各データベース共通なので一度覚えれば応用が効きます。表の呼び名は下の図のとおり</a:t>
            </a:r>
            <a:r>
              <a:rPr lang="ja-JP" altLang="en-US" dirty="0"/>
              <a:t>です</a:t>
            </a:r>
            <a:r>
              <a:rPr dirty="0"/>
              <a:t>。縦の列がカラム、横の行が1件分のレコード、そして列と行が交わる1つのマスがフィールドです。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SQLiteは軽くて設定もいらず、すぐ始められるのが魅力です。コマンドプロンプトで sqlite3 sample.db と打つと起動し、sample.db というデータベースを開きます。続いて .read で用意されたSQL文をまとめて実行すると、練習用の sales テーブル、フルーツ店の売上表ができます。.tables で一覧を確認し、終わるときは .exit。ここで大事なのは、ドットで始まる命令はSQLiteだけの便利コマンドで、SQL文とは別物だという点です。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第2章は、データベースの基本中の基本、データを取り出す操作です。テーブル全部ではなく、欲しい列・欲しい行だけをピンポイントで取り出す方法を見ていきます。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データを取り出す命令がSELECTです。SELECT</a:t>
            </a:r>
            <a:r>
              <a:rPr dirty="0"/>
              <a:t> </a:t>
            </a:r>
            <a:r>
              <a:rPr dirty="0" err="1"/>
              <a:t>アスタリスク</a:t>
            </a:r>
            <a:r>
              <a:rPr dirty="0"/>
              <a:t> FROM sales と書けば、salesテーブルの全データが出てきます。列を選びたいときはアスタリスクの代わりにカラム名を書きます。同じ値が並ぶときはDISTINCTで重複を</a:t>
            </a:r>
            <a:r>
              <a:rPr lang="ja-JP" altLang="en-US" dirty="0"/>
              <a:t>避け</a:t>
            </a:r>
            <a:r>
              <a:rPr dirty="0"/>
              <a:t>、</a:t>
            </a:r>
            <a:r>
              <a:rPr dirty="0" err="1"/>
              <a:t>ASを使えば見出しに別名を付けられます。さらに</a:t>
            </a:r>
            <a:r>
              <a:rPr dirty="0"/>
              <a:t> .header on と .mode column </a:t>
            </a:r>
            <a:r>
              <a:rPr dirty="0" err="1"/>
              <a:t>を使うと、右の画面のように見やすい表の形で表示できます</a:t>
            </a:r>
            <a:r>
              <a:rPr dirty="0"/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取り出す行をしぼるのがWHEREです。WHERE</a:t>
            </a:r>
            <a:r>
              <a:rPr dirty="0"/>
              <a:t> </a:t>
            </a:r>
            <a:r>
              <a:rPr dirty="0" err="1"/>
              <a:t>item_name</a:t>
            </a:r>
            <a:r>
              <a:rPr dirty="0"/>
              <a:t> </a:t>
            </a:r>
            <a:r>
              <a:rPr dirty="0" err="1"/>
              <a:t>イコール</a:t>
            </a:r>
            <a:r>
              <a:rPr dirty="0"/>
              <a:t> </a:t>
            </a:r>
            <a:r>
              <a:rPr dirty="0" err="1"/>
              <a:t>リンゴ、と書けばリンゴの行だけ</a:t>
            </a:r>
            <a:r>
              <a:rPr lang="ja-JP" altLang="en-US" dirty="0"/>
              <a:t>取り出せます</a:t>
            </a:r>
            <a:r>
              <a:rPr dirty="0"/>
              <a:t>。</a:t>
            </a:r>
            <a:r>
              <a:rPr dirty="0" err="1"/>
              <a:t>比較には</a:t>
            </a:r>
            <a:r>
              <a:rPr dirty="0"/>
              <a:t> イコールや、等しくないを表す小なり大なり、大小の記号を使います。ANDやOR、NOTでいくつもの条件を組み合わせられ、優先順位はカッコで整理します。決まった候補のどれかに当てはめたいときはIN、『</a:t>
            </a:r>
            <a:r>
              <a:rPr dirty="0" err="1"/>
              <a:t>いくつからいくつまで』の範囲はBETWEENが便利です</a:t>
            </a:r>
            <a:r>
              <a:rPr dirty="0"/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第3章は、取り出したデータを加工する章です。1件ずつ見るのではなく、件数や合計、平均といった形でまとめて計算したり、グループごとに集計したり、並べ替えたり</a:t>
            </a:r>
            <a:r>
              <a:rPr lang="ja-JP" altLang="en-US" dirty="0"/>
              <a:t>して、</a:t>
            </a:r>
            <a:r>
              <a:rPr dirty="0" err="1"/>
              <a:t>データを『使える情報』に変えていきます</a:t>
            </a:r>
            <a:r>
              <a:rPr dirty="0"/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ここからは関数</a:t>
            </a:r>
            <a:r>
              <a:rPr lang="ja-JP" altLang="en-US" dirty="0"/>
              <a:t>を使っていきます</a:t>
            </a:r>
            <a:r>
              <a:rPr dirty="0"/>
              <a:t>。</a:t>
            </a:r>
            <a:r>
              <a:rPr dirty="0" err="1"/>
              <a:t>関数は、カラムを渡すと決まった計算をして答えを返す道具</a:t>
            </a:r>
            <a:r>
              <a:rPr lang="ja-JP" altLang="en-US" dirty="0"/>
              <a:t>です</a:t>
            </a:r>
            <a:r>
              <a:rPr dirty="0"/>
              <a:t>。代表が5つ。COUNTは件数、SUMは合計、AVGは平均、MINとMAXは最小・最大です。たとえば SELECT SUM price FROM sales とすれば、代金の合計4460が一発で出ます。MINとMAXを並べれば、一番安い商品と高い商品の値段も同時にわかります。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次はグループ化です。GROUP</a:t>
            </a:r>
            <a:r>
              <a:rPr dirty="0"/>
              <a:t> BY customer とすると、お客さんごとにまとめて集計でき、右のように誰が何回来たかがわかります。グループ内の値をつなげて見せるGROUP_CONCATもあります。そして条件の絞り込み</a:t>
            </a:r>
            <a:r>
              <a:rPr lang="ja-JP" altLang="en-US" dirty="0"/>
              <a:t>では、</a:t>
            </a:r>
            <a:r>
              <a:rPr dirty="0" err="1"/>
              <a:t>行に対する条件はWHERE、グループに対する条件はHAVINGと役割が分かれています。最後にORDER</a:t>
            </a:r>
            <a:r>
              <a:rPr dirty="0"/>
              <a:t> </a:t>
            </a:r>
            <a:r>
              <a:rPr dirty="0" err="1"/>
              <a:t>BYで並べ替え</a:t>
            </a:r>
            <a:r>
              <a:rPr lang="ja-JP" altLang="en-US" dirty="0"/>
              <a:t>をします</a:t>
            </a:r>
            <a:r>
              <a:rPr dirty="0"/>
              <a:t>。</a:t>
            </a:r>
            <a:r>
              <a:rPr dirty="0" err="1"/>
              <a:t>ASCで小さい順、DESCで大きい順、複数の基準も指定できます</a:t>
            </a:r>
            <a:r>
              <a:rPr dirty="0"/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これらの句は、書く順番が決まっています。SELECT、FROM、WHERE、GROUP BY、HAVING、ORDER BYの順です。全部を毎回使う必要はなく、必要なものだけを選んで組み合わせます。この順番さえ守れば、『バナナ以外を、商品ごとにまとめて、合計が多い順に並べる』といった複雑な取り出しも、たった一つのSQL文で書けるようになり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第4章は、データそのものを変える操作です。作る・読む・更新する・消す。この4つの頭文字をとってCRUDと呼びます。読む</a:t>
            </a:r>
            <a:r>
              <a:rPr lang="ja-JP" altLang="en-US" dirty="0"/>
              <a:t>である</a:t>
            </a:r>
            <a:r>
              <a:rPr dirty="0" err="1"/>
              <a:t>SELECTはもうやっ</a:t>
            </a:r>
            <a:r>
              <a:rPr lang="ja-JP" altLang="en-US" dirty="0"/>
              <a:t>ている</a:t>
            </a:r>
            <a:r>
              <a:rPr dirty="0" err="1"/>
              <a:t>ので、ここでは残りの、追加・更新・削除を見ていきます</a:t>
            </a:r>
            <a:r>
              <a:rPr dirty="0"/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データを変える3つの命令です。追加はINSERT。INSERT INTO </a:t>
            </a:r>
            <a:r>
              <a:rPr dirty="0" err="1"/>
              <a:t>テーブル</a:t>
            </a:r>
            <a:r>
              <a:rPr dirty="0"/>
              <a:t> VALUES </a:t>
            </a:r>
            <a:r>
              <a:rPr dirty="0" err="1"/>
              <a:t>と書いて値を並べます。更新はUPDATE。SETで新しい値を指定し、WHEREでどの行かを決めます。削除はDELETE</a:t>
            </a:r>
            <a:r>
              <a:rPr dirty="0"/>
              <a:t> </a:t>
            </a:r>
            <a:r>
              <a:rPr dirty="0" err="1"/>
              <a:t>FROM。テーブルごと消すならDROP</a:t>
            </a:r>
            <a:r>
              <a:rPr dirty="0"/>
              <a:t> </a:t>
            </a:r>
            <a:r>
              <a:rPr dirty="0" err="1"/>
              <a:t>TABLEです。ここで一番の注意点</a:t>
            </a:r>
            <a:r>
              <a:rPr lang="ja-JP" altLang="en-US" dirty="0"/>
              <a:t>です</a:t>
            </a:r>
            <a:r>
              <a:rPr dirty="0"/>
              <a:t>。</a:t>
            </a:r>
            <a:r>
              <a:rPr dirty="0" err="1"/>
              <a:t>UPDATEやDELETEでWHEREを付け忘れると</a:t>
            </a:r>
            <a:r>
              <a:rPr dirty="0"/>
              <a:t>、</a:t>
            </a:r>
            <a:r>
              <a:rPr lang="ja-JP" altLang="en-US" dirty="0"/>
              <a:t>全て</a:t>
            </a:r>
            <a:r>
              <a:rPr dirty="0" err="1"/>
              <a:t>の行が更新・削除されてしまいます。作業の前には必ず</a:t>
            </a:r>
            <a:r>
              <a:rPr dirty="0"/>
              <a:t> .backup </a:t>
            </a:r>
            <a:r>
              <a:rPr dirty="0" err="1"/>
              <a:t>でバックアップを取ってお</a:t>
            </a:r>
            <a:r>
              <a:rPr lang="ja-JP" altLang="en-US" dirty="0"/>
              <a:t>くことが安心です。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最後の第5章は、いよいよリレーショナルデータベースの本領、複数のテーブルを扱う章です。情報を上手に分けて2つの表にし、それを結合して1つの結果として取り出す。設計と結合がテーマです。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新しいテーブルを作る前に、名前の付け方や型を決めます。名前は</a:t>
            </a:r>
            <a:r>
              <a:rPr lang="ja-JP" altLang="en-US" dirty="0"/>
              <a:t>英語の</a:t>
            </a:r>
            <a:r>
              <a:rPr dirty="0" err="1"/>
              <a:t>小文字と数字とアンダースコアで、アルファベット始まり</a:t>
            </a:r>
            <a:r>
              <a:rPr lang="ja-JP" altLang="en-US" dirty="0"/>
              <a:t>です</a:t>
            </a:r>
            <a:r>
              <a:rPr dirty="0"/>
              <a:t>。データ型は、文字列ならTEXT、整数ならINTEGERなどを指定します。さらに制約というルールを付けられます。主キー</a:t>
            </a:r>
            <a:r>
              <a:rPr lang="ja-JP" altLang="en-US" dirty="0"/>
              <a:t>のことである</a:t>
            </a:r>
            <a:r>
              <a:rPr dirty="0"/>
              <a:t>PRIMARY </a:t>
            </a:r>
            <a:r>
              <a:rPr dirty="0" err="1"/>
              <a:t>KEYは、重複もNULLも許さない、レコードを見分ける鍵</a:t>
            </a:r>
            <a:r>
              <a:rPr lang="ja-JP" altLang="en-US" dirty="0"/>
              <a:t>となります</a:t>
            </a:r>
            <a:r>
              <a:rPr dirty="0"/>
              <a:t>。NOT </a:t>
            </a:r>
            <a:r>
              <a:rPr dirty="0" err="1"/>
              <a:t>NULLは入れ忘れを防ぎます。CREATE</a:t>
            </a:r>
            <a:r>
              <a:rPr dirty="0"/>
              <a:t> TABLEでこれらをまとめて指定してテーブルを作ります。今回は売上のsalesと商品のitemに分け、共通のitem_idでつなぐ設計にしています。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分けた表は、結合して使います。INNER JOINで、両方の表にある共通の列＝ここではitem_idを鍵にして、2つのテーブルを1つに合体させます。右がその結果で、売上に商品名や産地が組み合わさっています。結合した表では、個数かける単価のような計算もでき、SUMと組み合わせれば合計金額も出せます。最後に .mode csv と .once を使えば、結果をCSVファイルに書き出してExcelで開くこともできます。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ja-JP" altLang="en-US" dirty="0"/>
              <a:t>最後に</a:t>
            </a:r>
            <a:r>
              <a:rPr dirty="0" err="1"/>
              <a:t>まとめです。データを取り出すSELECTとWHERE、集計のための関数とGROUP</a:t>
            </a:r>
            <a:r>
              <a:rPr dirty="0"/>
              <a:t> </a:t>
            </a:r>
            <a:r>
              <a:rPr dirty="0" err="1"/>
              <a:t>BY、並べ替えのORDER</a:t>
            </a:r>
            <a:r>
              <a:rPr dirty="0"/>
              <a:t> </a:t>
            </a:r>
            <a:r>
              <a:rPr dirty="0" err="1"/>
              <a:t>BY、データを変えるINSERT・UPDATE・DELETE、そしてテーブルを作るCREATE</a:t>
            </a:r>
            <a:r>
              <a:rPr dirty="0"/>
              <a:t> </a:t>
            </a:r>
            <a:r>
              <a:rPr dirty="0" err="1"/>
              <a:t>TABLEと結合のINNER</a:t>
            </a:r>
            <a:r>
              <a:rPr dirty="0"/>
              <a:t> JOINまで、ひととおり触れました。次のステップとしては、SQL文の中にSQL文を入れるサブクエリや、3つ以上の表の結合、MySQLなど他のデータベースへの応用があります。</a:t>
            </a:r>
            <a:r>
              <a:rPr lang="ja-JP" altLang="en-US" dirty="0"/>
              <a:t>以上で発表のほうを終わります。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10881360" y="-640080"/>
            <a:ext cx="2377440" cy="2377440"/>
          </a:xfrm>
          <a:prstGeom prst="ellipse">
            <a:avLst/>
          </a:prstGeom>
          <a:solidFill>
            <a:srgbClr val="FFF0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1521440" y="5394960"/>
            <a:ext cx="2194560" cy="2194560"/>
          </a:xfrm>
          <a:prstGeom prst="ellipse">
            <a:avLst/>
          </a:prstGeom>
          <a:solidFill>
            <a:srgbClr val="EA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-731520" y="5120640"/>
            <a:ext cx="2377440" cy="2377440"/>
          </a:xfrm>
          <a:prstGeom prst="ellipse">
            <a:avLst/>
          </a:prstGeom>
          <a:solidFill>
            <a:srgbClr val="EEF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82880" y="-731520"/>
            <a:ext cx="1828800" cy="1828800"/>
          </a:xfrm>
          <a:prstGeom prst="ellipse">
            <a:avLst/>
          </a:prstGeom>
          <a:solidFill>
            <a:srgbClr val="FFF8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9966960" y="1051560"/>
            <a:ext cx="310896" cy="310896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0515600" y="914400"/>
            <a:ext cx="256032" cy="256032"/>
          </a:xfrm>
          <a:prstGeom prst="ellipse">
            <a:avLst/>
          </a:prstGeom>
          <a:solidFill>
            <a:srgbClr val="F5C2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11018520" y="1097280"/>
            <a:ext cx="237744" cy="237744"/>
          </a:xfrm>
          <a:prstGeom prst="ellipse">
            <a:avLst/>
          </a:prstGeom>
          <a:solidFill>
            <a:srgbClr val="8A5C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1371600"/>
            <a:ext cx="100584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600" b="1">
                <a:solidFill>
                  <a:srgbClr val="F06F9C"/>
                </a:solidFill>
                <a:latin typeface="Meiryo"/>
                <a:ea typeface="Meiryo"/>
                <a:cs typeface="Meiryo"/>
              </a:rPr>
              <a:t>はじめての SQL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1965960"/>
            <a:ext cx="1051560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400" b="1">
                <a:solidFill>
                  <a:srgbClr val="3A3550"/>
                </a:solidFill>
                <a:latin typeface="Meiryo"/>
                <a:ea typeface="Meiryo"/>
                <a:cs typeface="Meiryo"/>
              </a:rPr>
              <a:t>第1〜5章 ダイジェスト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611880"/>
            <a:ext cx="100584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0">
                <a:solidFill>
                  <a:srgbClr val="6B6580"/>
                </a:solidFill>
                <a:latin typeface="Meiryo"/>
                <a:ea typeface="Meiryo"/>
                <a:cs typeface="Meiryo"/>
              </a:rPr>
              <a:t>SQLite で学ぶ、データベース操作の基本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10789920" cy="486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lang="ja-JP" altLang="en-US" sz="3100" b="1" dirty="0">
                <a:solidFill>
                  <a:srgbClr val="3A3550"/>
                </a:solidFill>
                <a:latin typeface="Meiryo"/>
                <a:ea typeface="Meiryo"/>
                <a:cs typeface="Meiryo"/>
              </a:rPr>
              <a:t>目次</a:t>
            </a:r>
            <a:endParaRPr sz="3100" b="1" dirty="0">
              <a:solidFill>
                <a:srgbClr val="3A3550"/>
              </a:solidFill>
              <a:latin typeface="Meiryo"/>
              <a:ea typeface="Meiryo"/>
              <a:cs typeface="Meiryo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685800" y="1691640"/>
            <a:ext cx="10835640" cy="749808"/>
          </a:xfrm>
          <a:prstGeom prst="roundRect">
            <a:avLst>
              <a:gd name="adj" fmla="val 14000"/>
            </a:avLst>
          </a:prstGeom>
          <a:solidFill>
            <a:srgbClr val="EAF6FC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896112" y="1837944"/>
            <a:ext cx="457200" cy="457200"/>
          </a:xfrm>
          <a:prstGeom prst="ellipse">
            <a:avLst/>
          </a:prstGeom>
          <a:solidFill>
            <a:srgbClr val="37A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96112" y="1837944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691640"/>
            <a:ext cx="6400800" cy="7498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650" b="1">
                <a:solidFill>
                  <a:srgbClr val="3A3550"/>
                </a:solidFill>
                <a:latin typeface="Meiryo"/>
                <a:ea typeface="Meiryo"/>
                <a:cs typeface="Meiryo"/>
              </a:rPr>
              <a:t>第1章　SQLとデータベースの基本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0" y="1691640"/>
            <a:ext cx="3566160" cy="7498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0">
                <a:solidFill>
                  <a:srgbClr val="6B6580"/>
                </a:solidFill>
                <a:latin typeface="Meiryo"/>
                <a:ea typeface="Meiryo"/>
                <a:cs typeface="Meiryo"/>
              </a:rPr>
              <a:t>SQL・RDBMS・テーブルとは？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487168"/>
            <a:ext cx="10835640" cy="749808"/>
          </a:xfrm>
          <a:prstGeom prst="roundRect">
            <a:avLst>
              <a:gd name="adj" fmla="val 14000"/>
            </a:avLst>
          </a:prstGeom>
          <a:solidFill>
            <a:srgbClr val="FFF0F5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896112" y="2633472"/>
            <a:ext cx="457200" cy="457200"/>
          </a:xfrm>
          <a:prstGeom prst="ellipse">
            <a:avLst/>
          </a:prstGeom>
          <a:solidFill>
            <a:srgbClr val="F06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96112" y="2633472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00200" y="2487168"/>
            <a:ext cx="6400800" cy="7498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650" b="1">
                <a:solidFill>
                  <a:srgbClr val="3A3550"/>
                </a:solidFill>
                <a:latin typeface="Meiryo"/>
                <a:ea typeface="Meiryo"/>
                <a:cs typeface="Meiryo"/>
              </a:rPr>
              <a:t>第2章　データを取り出す（SELECT）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0" y="2487168"/>
            <a:ext cx="3566160" cy="7498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0">
                <a:solidFill>
                  <a:srgbClr val="6B6580"/>
                </a:solidFill>
                <a:latin typeface="Meiryo"/>
                <a:ea typeface="Meiryo"/>
                <a:cs typeface="Meiryo"/>
              </a:rPr>
              <a:t>SELECT／WHERE／条件式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282696"/>
            <a:ext cx="10835640" cy="749808"/>
          </a:xfrm>
          <a:prstGeom prst="roundRect">
            <a:avLst>
              <a:gd name="adj" fmla="val 14000"/>
            </a:avLst>
          </a:prstGeom>
          <a:solidFill>
            <a:srgbClr val="F4EEFB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896112" y="3429000"/>
            <a:ext cx="457200" cy="457200"/>
          </a:xfrm>
          <a:prstGeom prst="ellipse">
            <a:avLst/>
          </a:prstGeom>
          <a:solidFill>
            <a:srgbClr val="8A5C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96112" y="3429000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00200" y="3282696"/>
            <a:ext cx="6400800" cy="7498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650" b="1">
                <a:solidFill>
                  <a:srgbClr val="3A3550"/>
                </a:solidFill>
                <a:latin typeface="Meiryo"/>
                <a:ea typeface="Meiryo"/>
                <a:cs typeface="Meiryo"/>
              </a:rPr>
              <a:t>第3章　データを集計・加工する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0" y="3282696"/>
            <a:ext cx="3566160" cy="7498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0">
                <a:solidFill>
                  <a:srgbClr val="6B6580"/>
                </a:solidFill>
                <a:latin typeface="Meiryo"/>
                <a:ea typeface="Meiryo"/>
                <a:cs typeface="Meiryo"/>
              </a:rPr>
              <a:t>関数／GROUP BY／並べ替え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4078224"/>
            <a:ext cx="10835640" cy="749808"/>
          </a:xfrm>
          <a:prstGeom prst="roundRect">
            <a:avLst>
              <a:gd name="adj" fmla="val 14000"/>
            </a:avLst>
          </a:prstGeom>
          <a:solidFill>
            <a:srgbClr val="FDF1E6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896112" y="4224528"/>
            <a:ext cx="457200" cy="457200"/>
          </a:xfrm>
          <a:prstGeom prst="ellipse">
            <a:avLst/>
          </a:prstGeom>
          <a:solidFill>
            <a:srgbClr val="EF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96112" y="4224528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00200" y="4078224"/>
            <a:ext cx="6400800" cy="7498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650" b="1">
                <a:solidFill>
                  <a:srgbClr val="3A3550"/>
                </a:solidFill>
                <a:latin typeface="Meiryo"/>
                <a:ea typeface="Meiryo"/>
                <a:cs typeface="Meiryo"/>
              </a:rPr>
              <a:t>第4章　データを変更する（CRUD）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40" y="4078224"/>
            <a:ext cx="3566160" cy="7498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0">
                <a:solidFill>
                  <a:srgbClr val="6B6580"/>
                </a:solidFill>
                <a:latin typeface="Meiryo"/>
                <a:ea typeface="Meiryo"/>
                <a:cs typeface="Meiryo"/>
              </a:rPr>
              <a:t>INSERT／UPDATE／DELETE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" y="4873752"/>
            <a:ext cx="10835640" cy="749808"/>
          </a:xfrm>
          <a:prstGeom prst="roundRect">
            <a:avLst>
              <a:gd name="adj" fmla="val 14000"/>
            </a:avLst>
          </a:prstGeom>
          <a:solidFill>
            <a:srgbClr val="EEF7EF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896112" y="5020056"/>
            <a:ext cx="457200" cy="457200"/>
          </a:xfrm>
          <a:prstGeom prst="ellipse">
            <a:avLst/>
          </a:prstGeom>
          <a:solidFill>
            <a:srgbClr val="4FA8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96112" y="5020056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00200" y="4873752"/>
            <a:ext cx="6400800" cy="7498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650" b="1">
                <a:solidFill>
                  <a:srgbClr val="3A3550"/>
                </a:solidFill>
                <a:latin typeface="Meiryo"/>
                <a:ea typeface="Meiryo"/>
                <a:cs typeface="Meiryo"/>
              </a:rPr>
              <a:t>第5章　複数テーブルで管理する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63840" y="4873752"/>
            <a:ext cx="3566160" cy="7498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0">
                <a:solidFill>
                  <a:srgbClr val="6B6580"/>
                </a:solidFill>
                <a:latin typeface="Meiryo"/>
                <a:ea typeface="Meiryo"/>
                <a:cs typeface="Meiryo"/>
              </a:rPr>
              <a:t>テーブル設計／制約／JOIN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85800" y="5669280"/>
            <a:ext cx="10835640" cy="749808"/>
          </a:xfrm>
          <a:prstGeom prst="roundRect">
            <a:avLst>
              <a:gd name="adj" fmla="val 14000"/>
            </a:avLst>
          </a:prstGeom>
          <a:solidFill>
            <a:srgbClr val="FFEFEF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896112" y="5815584"/>
            <a:ext cx="457200" cy="457200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96112" y="5815584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★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00200" y="5669280"/>
            <a:ext cx="6400800" cy="7498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650" b="1">
                <a:solidFill>
                  <a:srgbClr val="3A3550"/>
                </a:solidFill>
                <a:latin typeface="Meiryo"/>
                <a:ea typeface="Meiryo"/>
                <a:cs typeface="Meiryo"/>
              </a:rPr>
              <a:t>まとめと、これからの学習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63840" y="5669280"/>
            <a:ext cx="3566160" cy="7498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0">
                <a:solidFill>
                  <a:srgbClr val="6B6580"/>
                </a:solidFill>
                <a:latin typeface="Meiryo"/>
                <a:ea typeface="Meiryo"/>
                <a:cs typeface="Meiryo"/>
              </a:rPr>
              <a:t>学んだSQLの整理と次のステップ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7A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040880" y="182880"/>
            <a:ext cx="4937760" cy="6583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30000" b="1">
                <a:solidFill>
                  <a:srgbClr val="67BDDF"/>
                </a:solidFill>
                <a:latin typeface="Meiryo"/>
                <a:ea typeface="Meiryo"/>
                <a:cs typeface="Meiryo"/>
              </a:rPr>
              <a:t>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2286000"/>
            <a:ext cx="2103120" cy="60350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2286000"/>
            <a:ext cx="210312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37A9D6"/>
                </a:solidFill>
                <a:latin typeface="Meiryo"/>
                <a:ea typeface="Meiryo"/>
                <a:cs typeface="Meiryo"/>
              </a:rPr>
              <a:t>第1章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063240"/>
            <a:ext cx="960120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sz="46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SQLについて学ぼう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" y="4526280"/>
            <a:ext cx="96012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FFFFFF"/>
                </a:solidFill>
                <a:latin typeface="Meiryo"/>
                <a:ea typeface="Meiryo"/>
                <a:cs typeface="Meiryo"/>
              </a:rPr>
              <a:t>そもそも、データベースとSQLって何だろう？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50" b="1">
                <a:solidFill>
                  <a:srgbClr val="37A9D6"/>
                </a:solidFill>
                <a:latin typeface="Meiryo"/>
                <a:ea typeface="Meiryo"/>
                <a:cs typeface="Meiryo"/>
              </a:rPr>
              <a:t>第1章　SQLについて学ぼう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sz="3100" b="1">
                <a:solidFill>
                  <a:srgbClr val="3A3550"/>
                </a:solidFill>
                <a:latin typeface="Meiryo"/>
                <a:ea typeface="Meiryo"/>
                <a:cs typeface="Meiryo"/>
              </a:rPr>
              <a:t>データベースと SQL とは？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554480"/>
            <a:ext cx="3429000" cy="1627632"/>
          </a:xfrm>
          <a:prstGeom prst="roundRect">
            <a:avLst>
              <a:gd name="adj" fmla="val 9000"/>
            </a:avLst>
          </a:prstGeom>
          <a:solidFill>
            <a:srgbClr val="EAF6FC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41832" y="1755648"/>
            <a:ext cx="2971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50" b="1">
                <a:solidFill>
                  <a:srgbClr val="37A9D6"/>
                </a:solidFill>
                <a:latin typeface="Meiryo"/>
                <a:ea typeface="Meiryo"/>
                <a:cs typeface="Meiryo"/>
              </a:rPr>
              <a:t>データベース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" y="2340864"/>
            <a:ext cx="2971800" cy="7132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280" b="0">
                <a:solidFill>
                  <a:srgbClr val="3A3550"/>
                </a:solidFill>
                <a:latin typeface="Meiryo"/>
                <a:ea typeface="Meiryo"/>
                <a:cs typeface="Meiryo"/>
              </a:rPr>
              <a:t>データの集まり＋管理のしくみ。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280" b="0">
                <a:solidFill>
                  <a:srgbClr val="3A3550"/>
                </a:solidFill>
                <a:latin typeface="Meiryo"/>
                <a:ea typeface="Meiryo"/>
                <a:cs typeface="Meiryo"/>
              </a:rPr>
              <a:t>目的の1件を素早く取り出せる。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554480"/>
            <a:ext cx="3429000" cy="1627632"/>
          </a:xfrm>
          <a:prstGeom prst="roundRect">
            <a:avLst>
              <a:gd name="adj" fmla="val 9000"/>
            </a:avLst>
          </a:prstGeom>
          <a:solidFill>
            <a:srgbClr val="EAF6FC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645152" y="1755648"/>
            <a:ext cx="2971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50" b="1">
                <a:solidFill>
                  <a:srgbClr val="37A9D6"/>
                </a:solidFill>
                <a:latin typeface="Meiryo"/>
                <a:ea typeface="Meiryo"/>
                <a:cs typeface="Meiryo"/>
              </a:rPr>
              <a:t>RDBMS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45152" y="2340864"/>
            <a:ext cx="2971800" cy="7132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280" b="0">
                <a:solidFill>
                  <a:srgbClr val="3A3550"/>
                </a:solidFill>
                <a:latin typeface="Meiryo"/>
                <a:ea typeface="Meiryo"/>
                <a:cs typeface="Meiryo"/>
              </a:rPr>
              <a:t>表でデータを管理する主流のDB。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280" b="0">
                <a:solidFill>
                  <a:srgbClr val="3A3550"/>
                </a:solidFill>
                <a:latin typeface="Meiryo"/>
                <a:ea typeface="Meiryo"/>
                <a:cs typeface="Meiryo"/>
              </a:rPr>
              <a:t>例：Oracle／MySQL／SQLite。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2440" y="1554480"/>
            <a:ext cx="3429000" cy="1627632"/>
          </a:xfrm>
          <a:prstGeom prst="roundRect">
            <a:avLst>
              <a:gd name="adj" fmla="val 9000"/>
            </a:avLst>
          </a:prstGeom>
          <a:solidFill>
            <a:srgbClr val="EAF6FC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348471" y="1755648"/>
            <a:ext cx="2971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50" b="1">
                <a:solidFill>
                  <a:srgbClr val="37A9D6"/>
                </a:solidFill>
                <a:latin typeface="Meiryo"/>
                <a:ea typeface="Meiryo"/>
                <a:cs typeface="Meiryo"/>
              </a:rPr>
              <a:t>SQL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48471" y="2340864"/>
            <a:ext cx="2971800" cy="7132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280" b="0">
                <a:solidFill>
                  <a:srgbClr val="3A3550"/>
                </a:solidFill>
                <a:latin typeface="Meiryo"/>
                <a:ea typeface="Meiryo"/>
                <a:cs typeface="Meiryo"/>
              </a:rPr>
              <a:t>RDBMSへの命令文（クエリ）。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280" b="0">
                <a:solidFill>
                  <a:srgbClr val="3A3550"/>
                </a:solidFill>
                <a:latin typeface="Meiryo"/>
                <a:ea typeface="Meiryo"/>
                <a:cs typeface="Meiryo"/>
              </a:rPr>
              <a:t>標準規格（ANSI・ISO）で応用可。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3346704"/>
            <a:ext cx="10835640" cy="2757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lang="ja-JP" altLang="en-US" sz="1600" b="1" dirty="0">
                <a:solidFill>
                  <a:srgbClr val="3A3550"/>
                </a:solidFill>
                <a:latin typeface="Meiryo"/>
                <a:ea typeface="Meiryo"/>
                <a:cs typeface="Meiryo"/>
              </a:rPr>
              <a:t>　　　　　　　　　　　</a:t>
            </a:r>
            <a:r>
              <a:rPr sz="1600" b="1" dirty="0" err="1">
                <a:solidFill>
                  <a:srgbClr val="3A3550"/>
                </a:solidFill>
                <a:latin typeface="Meiryo"/>
                <a:ea typeface="Meiryo"/>
                <a:cs typeface="Meiryo"/>
              </a:rPr>
              <a:t>表を表す言葉</a:t>
            </a:r>
            <a:r>
              <a:rPr sz="1600" b="1" dirty="0">
                <a:solidFill>
                  <a:srgbClr val="3A3550"/>
                </a:solidFill>
                <a:latin typeface="Meiryo"/>
                <a:ea typeface="Meiryo"/>
                <a:cs typeface="Meiryo"/>
              </a:rPr>
              <a:t>　</a:t>
            </a:r>
            <a:r>
              <a:rPr sz="1600" b="0" dirty="0">
                <a:solidFill>
                  <a:srgbClr val="6B6580"/>
                </a:solidFill>
                <a:latin typeface="Meiryo"/>
                <a:ea typeface="Meiryo"/>
                <a:cs typeface="Meiryo"/>
              </a:rPr>
              <a:t>― </a:t>
            </a:r>
            <a:r>
              <a:rPr sz="1600" b="0" dirty="0" err="1">
                <a:solidFill>
                  <a:srgbClr val="6B6580"/>
                </a:solidFill>
                <a:latin typeface="Meiryo"/>
                <a:ea typeface="Meiryo"/>
                <a:cs typeface="Meiryo"/>
              </a:rPr>
              <a:t>テーブル（表全体）の中の、それぞれの呼び名</a:t>
            </a:r>
            <a:endParaRPr sz="1600" b="0" dirty="0">
              <a:solidFill>
                <a:srgbClr val="6B6580"/>
              </a:solidFill>
              <a:latin typeface="Meiryo"/>
              <a:ea typeface="Meiryo"/>
              <a:cs typeface="Meiryo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4160520" y="4187952"/>
            <a:ext cx="1143000" cy="402336"/>
          </a:xfrm>
          <a:prstGeom prst="rect">
            <a:avLst/>
          </a:prstGeom>
          <a:solidFill>
            <a:srgbClr val="EFECF5"/>
          </a:solidFill>
          <a:ln w="9525">
            <a:solidFill>
              <a:srgbClr val="EFE9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00" b="1">
                <a:solidFill>
                  <a:srgbClr val="6B6580"/>
                </a:solidFill>
                <a:latin typeface="Meiryo"/>
                <a:ea typeface="Meiryo"/>
                <a:cs typeface="Meiryo"/>
              </a:rPr>
              <a:t>date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303520" y="4187952"/>
            <a:ext cx="1298448" cy="402336"/>
          </a:xfrm>
          <a:prstGeom prst="rect">
            <a:avLst/>
          </a:prstGeom>
          <a:solidFill>
            <a:srgbClr val="FFF0F5"/>
          </a:solidFill>
          <a:ln w="9525">
            <a:solidFill>
              <a:srgbClr val="EFE9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00" b="1">
                <a:solidFill>
                  <a:srgbClr val="F06F9C"/>
                </a:solidFill>
                <a:latin typeface="Meiryo"/>
                <a:ea typeface="Meiryo"/>
                <a:cs typeface="Meiryo"/>
              </a:rPr>
              <a:t>item_name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01968" y="4187952"/>
            <a:ext cx="777240" cy="402336"/>
          </a:xfrm>
          <a:prstGeom prst="rect">
            <a:avLst/>
          </a:prstGeom>
          <a:solidFill>
            <a:srgbClr val="EFECF5"/>
          </a:solidFill>
          <a:ln w="9525">
            <a:solidFill>
              <a:srgbClr val="EFE9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00" b="1">
                <a:solidFill>
                  <a:srgbClr val="6B6580"/>
                </a:solidFill>
                <a:latin typeface="Meiryo"/>
                <a:ea typeface="Meiryo"/>
                <a:cs typeface="Meiryo"/>
              </a:rPr>
              <a:t>price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79208" y="4187952"/>
            <a:ext cx="1078992" cy="402336"/>
          </a:xfrm>
          <a:prstGeom prst="rect">
            <a:avLst/>
          </a:prstGeom>
          <a:solidFill>
            <a:srgbClr val="EFECF5"/>
          </a:solidFill>
          <a:ln w="9525">
            <a:solidFill>
              <a:srgbClr val="EFE9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00" b="1">
                <a:solidFill>
                  <a:srgbClr val="6B6580"/>
                </a:solidFill>
                <a:latin typeface="Meiryo"/>
                <a:ea typeface="Meiryo"/>
                <a:cs typeface="Meiryo"/>
              </a:rPr>
              <a:t>customer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60520" y="4590288"/>
            <a:ext cx="11430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FE9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00" b="0">
                <a:solidFill>
                  <a:srgbClr val="3A3550"/>
                </a:solidFill>
                <a:latin typeface="Meiryo"/>
                <a:ea typeface="Meiryo"/>
                <a:cs typeface="Meiryo"/>
              </a:rPr>
              <a:t>2023-04-10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303520" y="4590288"/>
            <a:ext cx="1298448" cy="457200"/>
          </a:xfrm>
          <a:prstGeom prst="rect">
            <a:avLst/>
          </a:prstGeom>
          <a:solidFill>
            <a:srgbClr val="FFF0F5"/>
          </a:solidFill>
          <a:ln w="9525">
            <a:solidFill>
              <a:srgbClr val="EFE9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00" b="0">
                <a:solidFill>
                  <a:srgbClr val="3A3550"/>
                </a:solidFill>
                <a:latin typeface="Meiryo"/>
                <a:ea typeface="Meiryo"/>
                <a:cs typeface="Meiryo"/>
              </a:rPr>
              <a:t>リンゴ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01968" y="4590288"/>
            <a:ext cx="77724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FE9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00" b="0">
                <a:solidFill>
                  <a:srgbClr val="3A3550"/>
                </a:solidFill>
                <a:latin typeface="Meiryo"/>
                <a:ea typeface="Meiryo"/>
                <a:cs typeface="Meiryo"/>
              </a:rPr>
              <a:t>360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79208" y="4590288"/>
            <a:ext cx="1078992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FE9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00" b="0">
                <a:solidFill>
                  <a:srgbClr val="3A3550"/>
                </a:solidFill>
                <a:latin typeface="Meiryo"/>
                <a:ea typeface="Meiryo"/>
                <a:cs typeface="Meiryo"/>
              </a:rPr>
              <a:t>ウサ田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60520" y="5047488"/>
            <a:ext cx="11430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FE9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00" b="0">
                <a:solidFill>
                  <a:srgbClr val="3A3550"/>
                </a:solidFill>
                <a:latin typeface="Meiryo"/>
                <a:ea typeface="Meiryo"/>
                <a:cs typeface="Meiryo"/>
              </a:rPr>
              <a:t>2023-04-11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303520" y="5047488"/>
            <a:ext cx="1298448" cy="457200"/>
          </a:xfrm>
          <a:prstGeom prst="rect">
            <a:avLst/>
          </a:prstGeom>
          <a:solidFill>
            <a:srgbClr val="FFF0F5"/>
          </a:solidFill>
          <a:ln w="9525">
            <a:solidFill>
              <a:srgbClr val="EFE9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00" b="0">
                <a:solidFill>
                  <a:srgbClr val="3A3550"/>
                </a:solidFill>
                <a:latin typeface="Meiryo"/>
                <a:ea typeface="Meiryo"/>
                <a:cs typeface="Meiryo"/>
              </a:rPr>
              <a:t>バナナ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601968" y="5047488"/>
            <a:ext cx="77724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FE9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00" b="0">
                <a:solidFill>
                  <a:srgbClr val="3A3550"/>
                </a:solidFill>
                <a:latin typeface="Meiryo"/>
                <a:ea typeface="Meiryo"/>
                <a:cs typeface="Meiryo"/>
              </a:rPr>
              <a:t>400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79208" y="5047488"/>
            <a:ext cx="1078992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FE9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00" b="0">
                <a:solidFill>
                  <a:srgbClr val="3A3550"/>
                </a:solidFill>
                <a:latin typeface="Meiryo"/>
                <a:ea typeface="Meiryo"/>
                <a:cs typeface="Meiryo"/>
              </a:rPr>
              <a:t>サル橋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60520" y="5504688"/>
            <a:ext cx="1143000" cy="457200"/>
          </a:xfrm>
          <a:prstGeom prst="rect">
            <a:avLst/>
          </a:prstGeom>
          <a:solidFill>
            <a:srgbClr val="EEF7EF"/>
          </a:solidFill>
          <a:ln w="9525">
            <a:solidFill>
              <a:srgbClr val="EFE9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00" b="0">
                <a:solidFill>
                  <a:srgbClr val="3A3550"/>
                </a:solidFill>
                <a:latin typeface="Meiryo"/>
                <a:ea typeface="Meiryo"/>
                <a:cs typeface="Meiryo"/>
              </a:rPr>
              <a:t>2023-04-12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03520" y="5504688"/>
            <a:ext cx="1298448" cy="457200"/>
          </a:xfrm>
          <a:prstGeom prst="rect">
            <a:avLst/>
          </a:prstGeom>
          <a:solidFill>
            <a:srgbClr val="F4EEFB"/>
          </a:solidFill>
          <a:ln w="9525">
            <a:solidFill>
              <a:srgbClr val="EFE9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00" b="1">
                <a:solidFill>
                  <a:srgbClr val="3A3550"/>
                </a:solidFill>
                <a:latin typeface="Meiryo"/>
                <a:ea typeface="Meiryo"/>
                <a:cs typeface="Meiryo"/>
              </a:rPr>
              <a:t>イチゴ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01968" y="5504688"/>
            <a:ext cx="777240" cy="457200"/>
          </a:xfrm>
          <a:prstGeom prst="rect">
            <a:avLst/>
          </a:prstGeom>
          <a:solidFill>
            <a:srgbClr val="EEF7EF"/>
          </a:solidFill>
          <a:ln w="9525">
            <a:solidFill>
              <a:srgbClr val="EFE9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00" b="0">
                <a:solidFill>
                  <a:srgbClr val="3A3550"/>
                </a:solidFill>
                <a:latin typeface="Meiryo"/>
                <a:ea typeface="Meiryo"/>
                <a:cs typeface="Meiryo"/>
              </a:rPr>
              <a:t>800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379208" y="5504688"/>
            <a:ext cx="1078992" cy="457200"/>
          </a:xfrm>
          <a:prstGeom prst="rect">
            <a:avLst/>
          </a:prstGeom>
          <a:solidFill>
            <a:srgbClr val="EEF7EF"/>
          </a:solidFill>
          <a:ln w="9525">
            <a:solidFill>
              <a:srgbClr val="EFE9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00" b="0">
                <a:solidFill>
                  <a:srgbClr val="3A3550"/>
                </a:solidFill>
                <a:latin typeface="Meiryo"/>
                <a:ea typeface="Meiryo"/>
                <a:cs typeface="Meiryo"/>
              </a:rPr>
              <a:t>イヌ山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303520" y="5504688"/>
            <a:ext cx="1298448" cy="457200"/>
          </a:xfrm>
          <a:prstGeom prst="rect">
            <a:avLst/>
          </a:prstGeom>
          <a:noFill/>
          <a:ln w="31750">
            <a:solidFill>
              <a:srgbClr val="8A5C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4114800" y="4142232"/>
            <a:ext cx="4389120" cy="1865376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C9C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4581144" y="3694176"/>
            <a:ext cx="27432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250" b="1">
                <a:solidFill>
                  <a:srgbClr val="F06F9C"/>
                </a:solidFill>
                <a:latin typeface="Meiryo"/>
                <a:ea typeface="Meiryo"/>
                <a:cs typeface="Meiryo"/>
              </a:rPr>
              <a:t>カラム（縦の列）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78424" y="3931920"/>
            <a:ext cx="5486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200" b="1">
                <a:solidFill>
                  <a:srgbClr val="F06F9C"/>
                </a:solidFill>
                <a:latin typeface="Meiryo"/>
                <a:ea typeface="Meiryo"/>
                <a:cs typeface="Meiryo"/>
              </a:rPr>
              <a:t>▼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" y="5504688"/>
            <a:ext cx="312724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1250" b="1">
                <a:solidFill>
                  <a:srgbClr val="4FA854"/>
                </a:solidFill>
                <a:latin typeface="Meiryo"/>
                <a:ea typeface="Meiryo"/>
                <a:cs typeface="Meiryo"/>
              </a:rPr>
              <a:t>レコード（横の行＝1件分）　▶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732520" y="5504688"/>
            <a:ext cx="329184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>
                <a:solidFill>
                  <a:srgbClr val="8A5CC7"/>
                </a:solidFill>
                <a:latin typeface="Meiryo"/>
                <a:ea typeface="Meiryo"/>
                <a:cs typeface="Meiryo"/>
              </a:rPr>
              <a:t>◀　フィールド（1つのマス）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50" b="1">
                <a:solidFill>
                  <a:srgbClr val="37A9D6"/>
                </a:solidFill>
                <a:latin typeface="Meiryo"/>
                <a:ea typeface="Meiryo"/>
                <a:cs typeface="Meiryo"/>
              </a:rPr>
              <a:t>第1章　SQLについて学ぼう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sz="3100" b="1">
                <a:solidFill>
                  <a:srgbClr val="3A3550"/>
                </a:solidFill>
                <a:latin typeface="Meiryo"/>
                <a:ea typeface="Meiryo"/>
                <a:cs typeface="Meiryo"/>
              </a:rPr>
              <a:t>準備から、テーブル作成までの流れ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783080"/>
            <a:ext cx="5074920" cy="1600200"/>
          </a:xfrm>
          <a:prstGeom prst="roundRect">
            <a:avLst>
              <a:gd name="adj" fmla="val 9000"/>
            </a:avLst>
          </a:prstGeom>
          <a:solidFill>
            <a:srgbClr val="EAF6FC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41832" y="1984248"/>
            <a:ext cx="46177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50" b="1">
                <a:solidFill>
                  <a:srgbClr val="37A9D6"/>
                </a:solidFill>
                <a:latin typeface="Meiryo"/>
                <a:ea typeface="Meiryo"/>
                <a:cs typeface="Meiryo"/>
              </a:rPr>
              <a:t>SQLite の特徴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" y="2569464"/>
            <a:ext cx="461772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280" b="0">
                <a:solidFill>
                  <a:srgbClr val="3A3550"/>
                </a:solidFill>
                <a:latin typeface="Meiryo"/>
                <a:ea typeface="Meiryo"/>
                <a:cs typeface="Meiryo"/>
              </a:rPr>
              <a:t>軽量で高速・複雑な設定が不要・導入がかんたん。小規模システムやIoT機器などで広く使われる。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3520440"/>
            <a:ext cx="5074920" cy="1874519"/>
          </a:xfrm>
          <a:prstGeom prst="roundRect">
            <a:avLst>
              <a:gd name="adj" fmla="val 9000"/>
            </a:avLst>
          </a:prstGeom>
          <a:solidFill>
            <a:srgbClr val="EAF6FC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41832" y="3721608"/>
            <a:ext cx="46177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50" b="1">
                <a:solidFill>
                  <a:srgbClr val="37A9D6"/>
                </a:solidFill>
                <a:latin typeface="Meiryo"/>
                <a:ea typeface="Meiryo"/>
                <a:cs typeface="Meiryo"/>
              </a:rPr>
              <a:t>sales テーブル（練習用データ）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" y="4306824"/>
            <a:ext cx="4617720" cy="9601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280" b="0">
                <a:solidFill>
                  <a:srgbClr val="3A3550"/>
                </a:solidFill>
                <a:latin typeface="Meiryo"/>
                <a:ea typeface="Meiryo"/>
                <a:cs typeface="Meiryo"/>
              </a:rPr>
              <a:t>フルーツ店の売上表。5つのカラムを持つ。</a:t>
            </a:r>
            <a:r>
              <a:rPr sz="1280" b="1">
                <a:solidFill>
                  <a:srgbClr val="6B6580"/>
                </a:solidFill>
                <a:latin typeface="Meiryo"/>
                <a:ea typeface="Meiryo"/>
                <a:cs typeface="Meiryo"/>
              </a:rPr>
              <a:t>date / item_name / item_count / price / customer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89320" y="1783080"/>
            <a:ext cx="5532120" cy="2788920"/>
          </a:xfrm>
          <a:prstGeom prst="roundRect">
            <a:avLst>
              <a:gd name="adj" fmla="val 6000"/>
            </a:avLst>
          </a:prstGeom>
          <a:solidFill>
            <a:srgbClr val="2B2937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190488" y="1892807"/>
            <a:ext cx="5129783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>
                <a:solidFill>
                  <a:srgbClr val="9F97C0"/>
                </a:solidFill>
                <a:latin typeface="Consolas"/>
                <a:ea typeface="Consolas"/>
                <a:cs typeface="Consolas"/>
              </a:rPr>
              <a:t>コマンドプロンプトでの操作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90488" y="2240280"/>
            <a:ext cx="5129783" cy="222199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6000"/>
              </a:lnSpc>
              <a:spcAft>
                <a:spcPts val="200"/>
              </a:spcAft>
            </a:pPr>
            <a:r>
              <a:rPr sz="1300" b="1">
                <a:solidFill>
                  <a:srgbClr val="8FD6FF"/>
                </a:solidFill>
                <a:latin typeface="Consolas"/>
                <a:ea typeface="Consolas"/>
                <a:cs typeface="Consolas"/>
              </a:rPr>
              <a:t>.read</a:t>
            </a:r>
            <a:r>
              <a:rPr sz="1300" b="0">
                <a:solidFill>
                  <a:srgbClr val="ECEAF5"/>
                </a:solidFill>
                <a:latin typeface="Consolas"/>
                <a:ea typeface="Consolas"/>
                <a:cs typeface="Consolas"/>
              </a:rPr>
              <a:t> chap1_sales</a:t>
            </a:r>
            <a:r>
              <a:rPr sz="1300" b="1">
                <a:solidFill>
                  <a:srgbClr val="8FD6FF"/>
                </a:solidFill>
                <a:latin typeface="Consolas"/>
                <a:ea typeface="Consolas"/>
                <a:cs typeface="Consolas"/>
              </a:rPr>
              <a:t>.sql</a:t>
            </a:r>
            <a:r>
              <a:rPr sz="1300" b="0">
                <a:solidFill>
                  <a:srgbClr val="ECEAF5"/>
                </a:solidFill>
                <a:latin typeface="Consolas"/>
                <a:ea typeface="Consolas"/>
                <a:cs typeface="Consolas"/>
              </a:rPr>
              <a:t>   </a:t>
            </a:r>
            <a:r>
              <a:rPr sz="1300" b="0">
                <a:solidFill>
                  <a:srgbClr val="8F88B3"/>
                </a:solidFill>
                <a:latin typeface="Consolas"/>
                <a:ea typeface="Consolas"/>
                <a:cs typeface="Consolas"/>
              </a:rPr>
              <a:t>-- SQL文をまとめて実行</a:t>
            </a:r>
          </a:p>
          <a:p>
            <a:pPr>
              <a:lnSpc>
                <a:spcPct val="116000"/>
              </a:lnSpc>
              <a:spcAft>
                <a:spcPts val="200"/>
              </a:spcAft>
            </a:pPr>
            <a:r>
              <a:rPr sz="1300" b="0">
                <a:solidFill>
                  <a:srgbClr val="ECEAF5"/>
                </a:solidFill>
                <a:latin typeface="Consolas"/>
                <a:ea typeface="Consolas"/>
                <a:cs typeface="Consolas"/>
              </a:rPr>
              <a:t>sqlite3 sample</a:t>
            </a:r>
            <a:r>
              <a:rPr sz="1300" b="1">
                <a:solidFill>
                  <a:srgbClr val="8FD6FF"/>
                </a:solidFill>
                <a:latin typeface="Consolas"/>
                <a:ea typeface="Consolas"/>
                <a:cs typeface="Consolas"/>
              </a:rPr>
              <a:t>.db</a:t>
            </a:r>
            <a:r>
              <a:rPr sz="1300" b="0">
                <a:solidFill>
                  <a:srgbClr val="ECEAF5"/>
                </a:solidFill>
                <a:latin typeface="Consolas"/>
                <a:ea typeface="Consolas"/>
                <a:cs typeface="Consolas"/>
              </a:rPr>
              <a:t>       </a:t>
            </a:r>
            <a:r>
              <a:rPr sz="1300" b="0">
                <a:solidFill>
                  <a:srgbClr val="8F88B3"/>
                </a:solidFill>
                <a:latin typeface="Consolas"/>
                <a:ea typeface="Consolas"/>
                <a:cs typeface="Consolas"/>
              </a:rPr>
              <a:t>-- 起動（DBを開く/作成）</a:t>
            </a:r>
          </a:p>
          <a:p>
            <a:pPr>
              <a:lnSpc>
                <a:spcPct val="116000"/>
              </a:lnSpc>
              <a:spcAft>
                <a:spcPts val="200"/>
              </a:spcAft>
            </a:pPr>
            <a:r>
              <a:rPr sz="1300" b="1">
                <a:solidFill>
                  <a:srgbClr val="8FD6FF"/>
                </a:solidFill>
                <a:latin typeface="Consolas"/>
                <a:ea typeface="Consolas"/>
                <a:cs typeface="Consolas"/>
              </a:rPr>
              <a:t>.tables</a:t>
            </a:r>
            <a:r>
              <a:rPr sz="1300" b="0">
                <a:solidFill>
                  <a:srgbClr val="ECEAF5"/>
                </a:solidFill>
                <a:latin typeface="Consolas"/>
                <a:ea typeface="Consolas"/>
                <a:cs typeface="Consolas"/>
              </a:rPr>
              <a:t>                 </a:t>
            </a:r>
            <a:r>
              <a:rPr sz="1300" b="0">
                <a:solidFill>
                  <a:srgbClr val="8F88B3"/>
                </a:solidFill>
                <a:latin typeface="Consolas"/>
                <a:ea typeface="Consolas"/>
                <a:cs typeface="Consolas"/>
              </a:rPr>
              <a:t>-- テーブル一覧を表示</a:t>
            </a:r>
          </a:p>
          <a:p>
            <a:pPr>
              <a:lnSpc>
                <a:spcPct val="116000"/>
              </a:lnSpc>
              <a:spcAft>
                <a:spcPts val="200"/>
              </a:spcAft>
            </a:pPr>
            <a:r>
              <a:rPr sz="1300" b="1">
                <a:solidFill>
                  <a:srgbClr val="8FD6FF"/>
                </a:solidFill>
                <a:latin typeface="Consolas"/>
                <a:ea typeface="Consolas"/>
                <a:cs typeface="Consolas"/>
              </a:rPr>
              <a:t>.exit</a:t>
            </a:r>
            <a:r>
              <a:rPr sz="1300" b="0">
                <a:solidFill>
                  <a:srgbClr val="ECEAF5"/>
                </a:solidFill>
                <a:latin typeface="Consolas"/>
                <a:ea typeface="Consolas"/>
                <a:cs typeface="Consolas"/>
              </a:rPr>
              <a:t>                   </a:t>
            </a:r>
            <a:r>
              <a:rPr sz="1300" b="0">
                <a:solidFill>
                  <a:srgbClr val="8F88B3"/>
                </a:solidFill>
                <a:latin typeface="Consolas"/>
                <a:ea typeface="Consolas"/>
                <a:cs typeface="Consolas"/>
              </a:rPr>
              <a:t>-- 安全に終了する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89320" y="4754880"/>
            <a:ext cx="5532120" cy="640080"/>
          </a:xfrm>
          <a:prstGeom prst="roundRect">
            <a:avLst>
              <a:gd name="adj" fmla="val 12000"/>
            </a:avLst>
          </a:prstGeom>
          <a:solidFill>
            <a:srgbClr val="EAF6FC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263640" y="4754880"/>
            <a:ext cx="502920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1">
                <a:solidFill>
                  <a:srgbClr val="37A9D6"/>
                </a:solidFill>
                <a:latin typeface="Meiryo"/>
                <a:ea typeface="Meiryo"/>
                <a:cs typeface="Meiryo"/>
              </a:rPr>
              <a:t>ヒント：</a:t>
            </a:r>
            <a:r>
              <a:rPr sz="1250" b="0">
                <a:solidFill>
                  <a:srgbClr val="3A3550"/>
                </a:solidFill>
                <a:latin typeface="Meiryo"/>
                <a:ea typeface="Meiryo"/>
                <a:cs typeface="Meiryo"/>
              </a:rPr>
              <a:t>「.」で始まるのはSQLite独自のコマンド。SQL文ではありません。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6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040880" y="182880"/>
            <a:ext cx="4937760" cy="6583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30000" b="1">
                <a:solidFill>
                  <a:srgbClr val="F391B3"/>
                </a:solidFill>
                <a:latin typeface="Meiryo"/>
                <a:ea typeface="Meiryo"/>
                <a:cs typeface="Meiryo"/>
              </a:rPr>
              <a:t>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2286000"/>
            <a:ext cx="2103120" cy="60350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2286000"/>
            <a:ext cx="210312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F06F9C"/>
                </a:solidFill>
                <a:latin typeface="Meiryo"/>
                <a:ea typeface="Meiryo"/>
                <a:cs typeface="Meiryo"/>
              </a:rPr>
              <a:t>第2章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063240"/>
            <a:ext cx="960120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sz="46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データを取り出そう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" y="4526280"/>
            <a:ext cx="96012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FFFFFF"/>
                </a:solidFill>
                <a:latin typeface="Meiryo"/>
                <a:ea typeface="Meiryo"/>
                <a:cs typeface="Meiryo"/>
              </a:rPr>
              <a:t>SELECT文で、欲しいデータだけを取り出す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50" b="1">
                <a:solidFill>
                  <a:srgbClr val="F06F9C"/>
                </a:solidFill>
                <a:latin typeface="Meiryo"/>
                <a:ea typeface="Meiryo"/>
                <a:cs typeface="Meiryo"/>
              </a:rPr>
              <a:t>第2章　データを取り出そう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sz="3100" b="1">
                <a:solidFill>
                  <a:srgbClr val="3A3550"/>
                </a:solidFill>
                <a:latin typeface="Meiryo"/>
                <a:ea typeface="Meiryo"/>
                <a:cs typeface="Meiryo"/>
              </a:rPr>
              <a:t>SELECT の基本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783080"/>
            <a:ext cx="6126480" cy="1051560"/>
          </a:xfrm>
          <a:prstGeom prst="roundRect">
            <a:avLst>
              <a:gd name="adj" fmla="val 6000"/>
            </a:avLst>
          </a:prstGeom>
          <a:solidFill>
            <a:srgbClr val="2B2937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86968" y="1984248"/>
            <a:ext cx="5724144" cy="7406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6000"/>
              </a:lnSpc>
              <a:spcAft>
                <a:spcPts val="200"/>
              </a:spcAft>
            </a:pPr>
            <a:r>
              <a:rPr sz="1400" b="1">
                <a:solidFill>
                  <a:srgbClr val="FFD98A"/>
                </a:solidFill>
                <a:latin typeface="Consolas"/>
                <a:ea typeface="Consolas"/>
                <a:cs typeface="Consolas"/>
              </a:rPr>
              <a:t>SELECT</a:t>
            </a:r>
            <a:r>
              <a:rPr sz="1400" b="0">
                <a:solidFill>
                  <a:srgbClr val="ECEAF5"/>
                </a:solidFill>
                <a:latin typeface="Consolas"/>
                <a:ea typeface="Consolas"/>
                <a:cs typeface="Consolas"/>
              </a:rPr>
              <a:t> * </a:t>
            </a:r>
            <a:r>
              <a:rPr sz="1400" b="1">
                <a:solidFill>
                  <a:srgbClr val="FFD98A"/>
                </a:solidFill>
                <a:latin typeface="Consolas"/>
                <a:ea typeface="Consolas"/>
                <a:cs typeface="Consolas"/>
              </a:rPr>
              <a:t>FROM</a:t>
            </a:r>
            <a:r>
              <a:rPr sz="1400" b="0">
                <a:solidFill>
                  <a:srgbClr val="ECEAF5"/>
                </a:solidFill>
                <a:latin typeface="Consolas"/>
                <a:ea typeface="Consolas"/>
                <a:cs typeface="Consolas"/>
              </a:rPr>
              <a:t> sales;   </a:t>
            </a:r>
            <a:r>
              <a:rPr sz="1400" b="0">
                <a:solidFill>
                  <a:srgbClr val="8F88B3"/>
                </a:solidFill>
                <a:latin typeface="Consolas"/>
                <a:ea typeface="Consolas"/>
                <a:cs typeface="Consolas"/>
              </a:rPr>
              <a:t>-- salesの全データを取り出す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3063240"/>
            <a:ext cx="6126480" cy="576072"/>
          </a:xfrm>
          <a:prstGeom prst="roundRect">
            <a:avLst>
              <a:gd name="adj" fmla="val 16000"/>
            </a:avLst>
          </a:prstGeom>
          <a:solidFill>
            <a:srgbClr val="FFF0F5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868680" y="3236976"/>
            <a:ext cx="237744" cy="237744"/>
          </a:xfrm>
          <a:prstGeom prst="ellipse">
            <a:avLst/>
          </a:prstGeom>
          <a:solidFill>
            <a:srgbClr val="F06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280160" y="3063240"/>
            <a:ext cx="5394960" cy="5760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50" b="1">
                <a:solidFill>
                  <a:srgbClr val="F06F9C"/>
                </a:solidFill>
                <a:latin typeface="Meiryo"/>
                <a:ea typeface="Meiryo"/>
                <a:cs typeface="Meiryo"/>
              </a:rPr>
              <a:t>SELECT * FROM …　</a:t>
            </a:r>
            <a:r>
              <a:rPr sz="1250" b="0">
                <a:solidFill>
                  <a:srgbClr val="3A3550"/>
                </a:solidFill>
                <a:latin typeface="Meiryo"/>
                <a:ea typeface="Meiryo"/>
                <a:cs typeface="Meiryo"/>
              </a:rPr>
              <a:t>テーブルの全カラムを取り出す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3685032"/>
            <a:ext cx="6126480" cy="576072"/>
          </a:xfrm>
          <a:prstGeom prst="roundRect">
            <a:avLst>
              <a:gd name="adj" fmla="val 16000"/>
            </a:avLst>
          </a:prstGeom>
          <a:solidFill>
            <a:srgbClr val="FFF0F5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868680" y="3858768"/>
            <a:ext cx="237744" cy="237744"/>
          </a:xfrm>
          <a:prstGeom prst="ellipse">
            <a:avLst/>
          </a:prstGeom>
          <a:solidFill>
            <a:srgbClr val="F06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280160" y="3685032"/>
            <a:ext cx="5394960" cy="5760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50" b="1">
                <a:solidFill>
                  <a:srgbClr val="F06F9C"/>
                </a:solidFill>
                <a:latin typeface="Meiryo"/>
                <a:ea typeface="Meiryo"/>
                <a:cs typeface="Meiryo"/>
              </a:rPr>
              <a:t>カラム名を指定　</a:t>
            </a:r>
            <a:r>
              <a:rPr sz="1250" b="0">
                <a:solidFill>
                  <a:srgbClr val="3A3550"/>
                </a:solidFill>
                <a:latin typeface="Meiryo"/>
                <a:ea typeface="Meiryo"/>
                <a:cs typeface="Meiryo"/>
              </a:rPr>
              <a:t>SELECT customer FROM sales; で列だけ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4306824"/>
            <a:ext cx="6126480" cy="576072"/>
          </a:xfrm>
          <a:prstGeom prst="roundRect">
            <a:avLst>
              <a:gd name="adj" fmla="val 16000"/>
            </a:avLst>
          </a:prstGeom>
          <a:solidFill>
            <a:srgbClr val="FFF0F5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868680" y="4480560"/>
            <a:ext cx="237744" cy="237744"/>
          </a:xfrm>
          <a:prstGeom prst="ellipse">
            <a:avLst/>
          </a:prstGeom>
          <a:solidFill>
            <a:srgbClr val="F06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280160" y="4306824"/>
            <a:ext cx="5394960" cy="5760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50" b="1">
                <a:solidFill>
                  <a:srgbClr val="F06F9C"/>
                </a:solidFill>
                <a:latin typeface="Meiryo"/>
                <a:ea typeface="Meiryo"/>
                <a:cs typeface="Meiryo"/>
              </a:rPr>
              <a:t>DISTINCT　</a:t>
            </a:r>
            <a:r>
              <a:rPr sz="1250" b="0">
                <a:solidFill>
                  <a:srgbClr val="3A3550"/>
                </a:solidFill>
                <a:latin typeface="Meiryo"/>
                <a:ea typeface="Meiryo"/>
                <a:cs typeface="Meiryo"/>
              </a:rPr>
              <a:t>重複した値をまとめて除く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4928616"/>
            <a:ext cx="6126480" cy="576072"/>
          </a:xfrm>
          <a:prstGeom prst="roundRect">
            <a:avLst>
              <a:gd name="adj" fmla="val 16000"/>
            </a:avLst>
          </a:prstGeom>
          <a:solidFill>
            <a:srgbClr val="FFF0F5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868680" y="5102352"/>
            <a:ext cx="237744" cy="237744"/>
          </a:xfrm>
          <a:prstGeom prst="ellipse">
            <a:avLst/>
          </a:prstGeom>
          <a:solidFill>
            <a:srgbClr val="F06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280160" y="4928616"/>
            <a:ext cx="5394960" cy="5760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50" b="1">
                <a:solidFill>
                  <a:srgbClr val="F06F9C"/>
                </a:solidFill>
                <a:latin typeface="Meiryo"/>
                <a:ea typeface="Meiryo"/>
                <a:cs typeface="Meiryo"/>
              </a:rPr>
              <a:t>AS　</a:t>
            </a:r>
            <a:r>
              <a:rPr sz="1250" b="0">
                <a:solidFill>
                  <a:srgbClr val="3A3550"/>
                </a:solidFill>
                <a:latin typeface="Meiryo"/>
                <a:ea typeface="Meiryo"/>
                <a:cs typeface="Meiryo"/>
              </a:rPr>
              <a:t>見出しに分かりやすい別名を付ける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5550407"/>
            <a:ext cx="6126480" cy="576072"/>
          </a:xfrm>
          <a:prstGeom prst="roundRect">
            <a:avLst>
              <a:gd name="adj" fmla="val 16000"/>
            </a:avLst>
          </a:prstGeom>
          <a:solidFill>
            <a:srgbClr val="FFF0F5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868680" y="5724144"/>
            <a:ext cx="237744" cy="237744"/>
          </a:xfrm>
          <a:prstGeom prst="ellipse">
            <a:avLst/>
          </a:prstGeom>
          <a:solidFill>
            <a:srgbClr val="F06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280160" y="5550407"/>
            <a:ext cx="5394960" cy="5760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50" b="1">
                <a:solidFill>
                  <a:srgbClr val="F06F9C"/>
                </a:solidFill>
                <a:latin typeface="Meiryo"/>
                <a:ea typeface="Meiryo"/>
                <a:cs typeface="Meiryo"/>
              </a:rPr>
              <a:t>.header on / .mode column　</a:t>
            </a:r>
            <a:r>
              <a:rPr sz="1250" b="0">
                <a:solidFill>
                  <a:srgbClr val="3A3550"/>
                </a:solidFill>
                <a:latin typeface="Meiryo"/>
                <a:ea typeface="Meiryo"/>
                <a:cs typeface="Meiryo"/>
              </a:rPr>
              <a:t>結果を見やすい表形式に整える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013448" y="1892807"/>
            <a:ext cx="4581144" cy="2667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3" name="Picture 22" descr="LESSON06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6600" y="1965960"/>
            <a:ext cx="4434840" cy="2520856"/>
          </a:xfrm>
          <a:prstGeom prst="rect">
            <a:avLst/>
          </a:prstGeom>
          <a:ln w="12700">
            <a:solidFill>
              <a:srgbClr val="EFE9DF"/>
            </a:solidFill>
          </a:ln>
        </p:spPr>
      </p:pic>
      <p:sp>
        <p:nvSpPr>
          <p:cNvPr id="24" name="TextBox 23"/>
          <p:cNvSpPr txBox="1"/>
          <p:nvPr/>
        </p:nvSpPr>
        <p:spPr>
          <a:xfrm>
            <a:off x="7086600" y="4614832"/>
            <a:ext cx="44348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100" b="1">
                <a:solidFill>
                  <a:srgbClr val="F06F9C"/>
                </a:solidFill>
                <a:latin typeface="Meiryo"/>
                <a:ea typeface="Meiryo"/>
                <a:cs typeface="Meiryo"/>
              </a:rPr>
              <a:t>▲ .mode column で整えた sales テーブル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50" b="1">
                <a:solidFill>
                  <a:srgbClr val="F06F9C"/>
                </a:solidFill>
                <a:latin typeface="Meiryo"/>
                <a:ea typeface="Meiryo"/>
                <a:cs typeface="Meiryo"/>
              </a:rPr>
              <a:t>第2章　データを取り出そう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sz="3100" b="1">
                <a:solidFill>
                  <a:srgbClr val="3A3550"/>
                </a:solidFill>
                <a:latin typeface="Meiryo"/>
                <a:ea typeface="Meiryo"/>
                <a:cs typeface="Meiryo"/>
              </a:rPr>
              <a:t>WHERE で「条件」をつける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783080"/>
            <a:ext cx="10835640" cy="1371600"/>
          </a:xfrm>
          <a:prstGeom prst="roundRect">
            <a:avLst>
              <a:gd name="adj" fmla="val 6000"/>
            </a:avLst>
          </a:prstGeom>
          <a:solidFill>
            <a:srgbClr val="2B2937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86968" y="1984248"/>
            <a:ext cx="10433304" cy="10607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6000"/>
              </a:lnSpc>
              <a:spcAft>
                <a:spcPts val="200"/>
              </a:spcAft>
            </a:pPr>
            <a:r>
              <a:rPr sz="1400" b="1">
                <a:solidFill>
                  <a:srgbClr val="FFD98A"/>
                </a:solidFill>
                <a:latin typeface="Consolas"/>
                <a:ea typeface="Consolas"/>
                <a:cs typeface="Consolas"/>
              </a:rPr>
              <a:t>SELECT</a:t>
            </a:r>
            <a:r>
              <a:rPr sz="1400" b="0">
                <a:solidFill>
                  <a:srgbClr val="ECEAF5"/>
                </a:solidFill>
                <a:latin typeface="Consolas"/>
                <a:ea typeface="Consolas"/>
                <a:cs typeface="Consolas"/>
              </a:rPr>
              <a:t> * </a:t>
            </a:r>
            <a:r>
              <a:rPr sz="1400" b="1">
                <a:solidFill>
                  <a:srgbClr val="FFD98A"/>
                </a:solidFill>
                <a:latin typeface="Consolas"/>
                <a:ea typeface="Consolas"/>
                <a:cs typeface="Consolas"/>
              </a:rPr>
              <a:t>FROM</a:t>
            </a:r>
            <a:r>
              <a:rPr sz="1400" b="0">
                <a:solidFill>
                  <a:srgbClr val="ECEAF5"/>
                </a:solidFill>
                <a:latin typeface="Consolas"/>
                <a:ea typeface="Consolas"/>
                <a:cs typeface="Consolas"/>
              </a:rPr>
              <a:t> sales </a:t>
            </a:r>
            <a:r>
              <a:rPr sz="1400" b="1">
                <a:solidFill>
                  <a:srgbClr val="FFD98A"/>
                </a:solidFill>
                <a:latin typeface="Consolas"/>
                <a:ea typeface="Consolas"/>
                <a:cs typeface="Consolas"/>
              </a:rPr>
              <a:t>WHERE</a:t>
            </a:r>
            <a:r>
              <a:rPr sz="1400" b="0">
                <a:solidFill>
                  <a:srgbClr val="ECEAF5"/>
                </a:solidFill>
                <a:latin typeface="Consolas"/>
                <a:ea typeface="Consolas"/>
                <a:cs typeface="Consolas"/>
              </a:rPr>
              <a:t> item_name = </a:t>
            </a:r>
            <a:r>
              <a:rPr sz="1400" b="0">
                <a:solidFill>
                  <a:srgbClr val="A5E0A5"/>
                </a:solidFill>
                <a:latin typeface="Consolas"/>
                <a:ea typeface="Consolas"/>
                <a:cs typeface="Consolas"/>
              </a:rPr>
              <a:t>'リンゴ'</a:t>
            </a:r>
            <a:r>
              <a:rPr sz="1400" b="0">
                <a:solidFill>
                  <a:srgbClr val="ECEAF5"/>
                </a:solidFill>
                <a:latin typeface="Consolas"/>
                <a:ea typeface="Consolas"/>
                <a:cs typeface="Consolas"/>
              </a:rPr>
              <a:t>;</a:t>
            </a:r>
          </a:p>
          <a:p>
            <a:pPr>
              <a:lnSpc>
                <a:spcPct val="116000"/>
              </a:lnSpc>
              <a:spcAft>
                <a:spcPts val="200"/>
              </a:spcAft>
            </a:pPr>
            <a:r>
              <a:rPr sz="1400" b="1">
                <a:solidFill>
                  <a:srgbClr val="FFD98A"/>
                </a:solidFill>
                <a:latin typeface="Consolas"/>
                <a:ea typeface="Consolas"/>
                <a:cs typeface="Consolas"/>
              </a:rPr>
              <a:t>SELECT</a:t>
            </a:r>
            <a:r>
              <a:rPr sz="1400" b="0">
                <a:solidFill>
                  <a:srgbClr val="ECEAF5"/>
                </a:solidFill>
                <a:latin typeface="Consolas"/>
                <a:ea typeface="Consolas"/>
                <a:cs typeface="Consolas"/>
              </a:rPr>
              <a:t> * </a:t>
            </a:r>
            <a:r>
              <a:rPr sz="1400" b="1">
                <a:solidFill>
                  <a:srgbClr val="FFD98A"/>
                </a:solidFill>
                <a:latin typeface="Consolas"/>
                <a:ea typeface="Consolas"/>
                <a:cs typeface="Consolas"/>
              </a:rPr>
              <a:t>FROM</a:t>
            </a:r>
            <a:r>
              <a:rPr sz="1400" b="0">
                <a:solidFill>
                  <a:srgbClr val="ECEAF5"/>
                </a:solidFill>
                <a:latin typeface="Consolas"/>
                <a:ea typeface="Consolas"/>
                <a:cs typeface="Consolas"/>
              </a:rPr>
              <a:t> sales </a:t>
            </a:r>
            <a:r>
              <a:rPr sz="1400" b="1">
                <a:solidFill>
                  <a:srgbClr val="FFD98A"/>
                </a:solidFill>
                <a:latin typeface="Consolas"/>
                <a:ea typeface="Consolas"/>
                <a:cs typeface="Consolas"/>
              </a:rPr>
              <a:t>WHERE</a:t>
            </a:r>
            <a:r>
              <a:rPr sz="1400" b="0">
                <a:solidFill>
                  <a:srgbClr val="ECEAF5"/>
                </a:solidFill>
                <a:latin typeface="Consolas"/>
                <a:ea typeface="Consolas"/>
                <a:cs typeface="Consolas"/>
              </a:rPr>
              <a:t> item_count &gt;= </a:t>
            </a:r>
            <a:r>
              <a:rPr sz="1400" b="0">
                <a:solidFill>
                  <a:srgbClr val="C9B6FF"/>
                </a:solidFill>
                <a:latin typeface="Consolas"/>
                <a:ea typeface="Consolas"/>
                <a:cs typeface="Consolas"/>
              </a:rPr>
              <a:t>2</a:t>
            </a:r>
            <a:r>
              <a:rPr sz="1400" b="0">
                <a:solidFill>
                  <a:srgbClr val="ECEA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400" b="1">
                <a:solidFill>
                  <a:srgbClr val="FFD98A"/>
                </a:solidFill>
                <a:latin typeface="Consolas"/>
                <a:ea typeface="Consolas"/>
                <a:cs typeface="Consolas"/>
              </a:rPr>
              <a:t>AND</a:t>
            </a:r>
            <a:r>
              <a:rPr sz="1400" b="0">
                <a:solidFill>
                  <a:srgbClr val="ECEAF5"/>
                </a:solidFill>
                <a:latin typeface="Consolas"/>
                <a:ea typeface="Consolas"/>
                <a:cs typeface="Consolas"/>
              </a:rPr>
              <a:t> customer = </a:t>
            </a:r>
            <a:r>
              <a:rPr sz="1400" b="0">
                <a:solidFill>
                  <a:srgbClr val="A5E0A5"/>
                </a:solidFill>
                <a:latin typeface="Consolas"/>
                <a:ea typeface="Consolas"/>
                <a:cs typeface="Consolas"/>
              </a:rPr>
              <a:t>'サル橋'</a:t>
            </a:r>
            <a:r>
              <a:rPr sz="1400" b="0">
                <a:solidFill>
                  <a:srgbClr val="ECEAF5"/>
                </a:solidFill>
                <a:latin typeface="Consolas"/>
                <a:ea typeface="Consolas"/>
                <a:cs typeface="Consolas"/>
              </a:rPr>
              <a:t>;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3429000"/>
            <a:ext cx="5349240" cy="1234440"/>
          </a:xfrm>
          <a:prstGeom prst="roundRect">
            <a:avLst>
              <a:gd name="adj" fmla="val 9000"/>
            </a:avLst>
          </a:prstGeom>
          <a:solidFill>
            <a:srgbClr val="FFF0F5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41832" y="3630168"/>
            <a:ext cx="4892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50" b="1">
                <a:solidFill>
                  <a:srgbClr val="F06F9C"/>
                </a:solidFill>
                <a:latin typeface="Meiryo"/>
                <a:ea typeface="Meiryo"/>
                <a:cs typeface="Meiryo"/>
              </a:rPr>
              <a:t>比較演算子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" y="4215384"/>
            <a:ext cx="4892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280" b="0">
                <a:solidFill>
                  <a:srgbClr val="3A3550"/>
                </a:solidFill>
                <a:latin typeface="Meiryo"/>
                <a:ea typeface="Meiryo"/>
                <a:cs typeface="Meiryo"/>
              </a:rPr>
              <a:t>= 　&lt;&gt; 　&gt; 　&lt; 　&gt;= 　&lt;=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3429000"/>
            <a:ext cx="5349240" cy="1234440"/>
          </a:xfrm>
          <a:prstGeom prst="roundRect">
            <a:avLst>
              <a:gd name="adj" fmla="val 9000"/>
            </a:avLst>
          </a:prstGeom>
          <a:solidFill>
            <a:srgbClr val="FFF0F5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28232" y="3630168"/>
            <a:ext cx="4892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50" b="1">
                <a:solidFill>
                  <a:srgbClr val="F06F9C"/>
                </a:solidFill>
                <a:latin typeface="Meiryo"/>
                <a:ea typeface="Meiryo"/>
                <a:cs typeface="Meiryo"/>
              </a:rPr>
              <a:t>AND / OR / NOT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8232" y="4215384"/>
            <a:ext cx="4892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280" b="0">
                <a:solidFill>
                  <a:srgbClr val="3A3550"/>
                </a:solidFill>
                <a:latin typeface="Meiryo"/>
                <a:ea typeface="Meiryo"/>
                <a:cs typeface="Meiryo"/>
              </a:rPr>
              <a:t>複数条件を組み合わせ。優先はカッコ ( 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4800600"/>
            <a:ext cx="5349240" cy="1234440"/>
          </a:xfrm>
          <a:prstGeom prst="roundRect">
            <a:avLst>
              <a:gd name="adj" fmla="val 9000"/>
            </a:avLst>
          </a:prstGeom>
          <a:solidFill>
            <a:srgbClr val="FFF0F5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41832" y="5001768"/>
            <a:ext cx="4892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50" b="1">
                <a:solidFill>
                  <a:srgbClr val="F06F9C"/>
                </a:solidFill>
                <a:latin typeface="Meiryo"/>
                <a:ea typeface="Meiryo"/>
                <a:cs typeface="Meiryo"/>
              </a:rPr>
              <a:t>IN ( … 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1832" y="5586984"/>
            <a:ext cx="4892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280" b="0">
                <a:solidFill>
                  <a:srgbClr val="3A3550"/>
                </a:solidFill>
                <a:latin typeface="Meiryo"/>
                <a:ea typeface="Meiryo"/>
                <a:cs typeface="Meiryo"/>
              </a:rPr>
              <a:t>リストのいずれかに一致する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4800600"/>
            <a:ext cx="5349240" cy="1234440"/>
          </a:xfrm>
          <a:prstGeom prst="roundRect">
            <a:avLst>
              <a:gd name="adj" fmla="val 9000"/>
            </a:avLst>
          </a:prstGeom>
          <a:solidFill>
            <a:srgbClr val="FFF0F5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28232" y="5001768"/>
            <a:ext cx="4892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50" b="1">
                <a:solidFill>
                  <a:srgbClr val="F06F9C"/>
                </a:solidFill>
                <a:latin typeface="Meiryo"/>
                <a:ea typeface="Meiryo"/>
                <a:cs typeface="Meiryo"/>
              </a:rPr>
              <a:t>BETWEEN a AND 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28232" y="5586984"/>
            <a:ext cx="4892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280" b="0">
                <a:solidFill>
                  <a:srgbClr val="3A3550"/>
                </a:solidFill>
                <a:latin typeface="Meiryo"/>
                <a:ea typeface="Meiryo"/>
                <a:cs typeface="Meiryo"/>
              </a:rPr>
              <a:t>aからbまでの範囲を指定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8A5C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040880" y="182880"/>
            <a:ext cx="4937760" cy="6583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30000" b="1">
                <a:solidFill>
                  <a:srgbClr val="A683D4"/>
                </a:solidFill>
                <a:latin typeface="Meiryo"/>
                <a:ea typeface="Meiryo"/>
                <a:cs typeface="Meiryo"/>
              </a:rPr>
              <a:t>3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2286000"/>
            <a:ext cx="2103120" cy="60350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2286000"/>
            <a:ext cx="210312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8A5CC7"/>
                </a:solidFill>
                <a:latin typeface="Meiryo"/>
                <a:ea typeface="Meiryo"/>
                <a:cs typeface="Meiryo"/>
              </a:rPr>
              <a:t>第3章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063240"/>
            <a:ext cx="960120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sz="46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データを集計・加工しよう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" y="4526280"/>
            <a:ext cx="96012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FFFFFF"/>
                </a:solidFill>
                <a:latin typeface="Meiryo"/>
                <a:ea typeface="Meiryo"/>
                <a:cs typeface="Meiryo"/>
              </a:rPr>
              <a:t>件数・合計・平均…まとめて計算する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50" b="1">
                <a:solidFill>
                  <a:srgbClr val="8A5CC7"/>
                </a:solidFill>
                <a:latin typeface="Meiryo"/>
                <a:ea typeface="Meiryo"/>
                <a:cs typeface="Meiryo"/>
              </a:rPr>
              <a:t>第3章　データを集計・加工しよう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sz="3100" b="1">
                <a:solidFill>
                  <a:srgbClr val="3A3550"/>
                </a:solidFill>
                <a:latin typeface="Meiryo"/>
                <a:ea typeface="Meiryo"/>
                <a:cs typeface="Meiryo"/>
              </a:rPr>
              <a:t>集計関数でまとめて計算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874519"/>
            <a:ext cx="2084831" cy="1417320"/>
          </a:xfrm>
          <a:prstGeom prst="roundRect">
            <a:avLst>
              <a:gd name="adj" fmla="val 12000"/>
            </a:avLst>
          </a:prstGeom>
          <a:solidFill>
            <a:srgbClr val="F4EEFB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2130552"/>
            <a:ext cx="2084831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900" b="1">
                <a:solidFill>
                  <a:srgbClr val="8A5CC7"/>
                </a:solidFill>
                <a:latin typeface="Meiryo"/>
                <a:ea typeface="Meiryo"/>
                <a:cs typeface="Meiryo"/>
              </a:rPr>
              <a:t>COUNT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715768"/>
            <a:ext cx="2084831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250" b="0">
                <a:solidFill>
                  <a:srgbClr val="3A3550"/>
                </a:solidFill>
                <a:latin typeface="Meiryo"/>
                <a:ea typeface="Meiryo"/>
                <a:cs typeface="Meiryo"/>
              </a:rPr>
              <a:t>件数を数える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71215" y="1874519"/>
            <a:ext cx="2084831" cy="1417320"/>
          </a:xfrm>
          <a:prstGeom prst="roundRect">
            <a:avLst>
              <a:gd name="adj" fmla="val 12000"/>
            </a:avLst>
          </a:prstGeom>
          <a:solidFill>
            <a:srgbClr val="F4EEFB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871215" y="2130552"/>
            <a:ext cx="2084831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900" b="1">
                <a:solidFill>
                  <a:srgbClr val="8A5CC7"/>
                </a:solidFill>
                <a:latin typeface="Meiryo"/>
                <a:ea typeface="Meiryo"/>
                <a:cs typeface="Meiryo"/>
              </a:rPr>
              <a:t>SUM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71215" y="2715768"/>
            <a:ext cx="2084831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250" b="0">
                <a:solidFill>
                  <a:srgbClr val="3A3550"/>
                </a:solidFill>
                <a:latin typeface="Meiryo"/>
                <a:ea typeface="Meiryo"/>
                <a:cs typeface="Meiryo"/>
              </a:rPr>
              <a:t>合計を出す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56631" y="1874519"/>
            <a:ext cx="2084831" cy="1417320"/>
          </a:xfrm>
          <a:prstGeom prst="roundRect">
            <a:avLst>
              <a:gd name="adj" fmla="val 12000"/>
            </a:avLst>
          </a:prstGeom>
          <a:solidFill>
            <a:srgbClr val="F4EEFB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056631" y="2130552"/>
            <a:ext cx="2084831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900" b="1">
                <a:solidFill>
                  <a:srgbClr val="8A5CC7"/>
                </a:solidFill>
                <a:latin typeface="Meiryo"/>
                <a:ea typeface="Meiryo"/>
                <a:cs typeface="Meiryo"/>
              </a:rPr>
              <a:t>AVG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56631" y="2715768"/>
            <a:ext cx="2084831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250" b="0">
                <a:solidFill>
                  <a:srgbClr val="3A3550"/>
                </a:solidFill>
                <a:latin typeface="Meiryo"/>
                <a:ea typeface="Meiryo"/>
                <a:cs typeface="Meiryo"/>
              </a:rPr>
              <a:t>平均を出す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42047" y="1874519"/>
            <a:ext cx="2084831" cy="1417320"/>
          </a:xfrm>
          <a:prstGeom prst="roundRect">
            <a:avLst>
              <a:gd name="adj" fmla="val 12000"/>
            </a:avLst>
          </a:prstGeom>
          <a:solidFill>
            <a:srgbClr val="F4EEFB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242047" y="2130552"/>
            <a:ext cx="2084831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900" b="1">
                <a:solidFill>
                  <a:srgbClr val="8A5CC7"/>
                </a:solidFill>
                <a:latin typeface="Meiryo"/>
                <a:ea typeface="Meiryo"/>
                <a:cs typeface="Meiryo"/>
              </a:rPr>
              <a:t>MIN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42047" y="2715768"/>
            <a:ext cx="2084831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250" b="0">
                <a:solidFill>
                  <a:srgbClr val="3A3550"/>
                </a:solidFill>
                <a:latin typeface="Meiryo"/>
                <a:ea typeface="Meiryo"/>
                <a:cs typeface="Meiryo"/>
              </a:rPr>
              <a:t>最小値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427463" y="1874519"/>
            <a:ext cx="2084831" cy="1417320"/>
          </a:xfrm>
          <a:prstGeom prst="roundRect">
            <a:avLst>
              <a:gd name="adj" fmla="val 12000"/>
            </a:avLst>
          </a:prstGeom>
          <a:solidFill>
            <a:srgbClr val="F4EEFB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427463" y="2130552"/>
            <a:ext cx="2084831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900" b="1">
                <a:solidFill>
                  <a:srgbClr val="8A5CC7"/>
                </a:solidFill>
                <a:latin typeface="Meiryo"/>
                <a:ea typeface="Meiryo"/>
                <a:cs typeface="Meiryo"/>
              </a:rPr>
              <a:t>MAX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27463" y="2715768"/>
            <a:ext cx="2084831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250" b="0">
                <a:solidFill>
                  <a:srgbClr val="3A3550"/>
                </a:solidFill>
                <a:latin typeface="Meiryo"/>
                <a:ea typeface="Meiryo"/>
                <a:cs typeface="Meiryo"/>
              </a:rPr>
              <a:t>最大値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3611880"/>
            <a:ext cx="6400800" cy="1828800"/>
          </a:xfrm>
          <a:prstGeom prst="roundRect">
            <a:avLst>
              <a:gd name="adj" fmla="val 6000"/>
            </a:avLst>
          </a:prstGeom>
          <a:solidFill>
            <a:srgbClr val="2B2937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86968" y="3813048"/>
            <a:ext cx="5998464" cy="15179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6000"/>
              </a:lnSpc>
              <a:spcAft>
                <a:spcPts val="200"/>
              </a:spcAft>
            </a:pPr>
            <a:r>
              <a:rPr sz="1350" b="1">
                <a:solidFill>
                  <a:srgbClr val="FFD98A"/>
                </a:solidFill>
                <a:latin typeface="Consolas"/>
                <a:ea typeface="Consolas"/>
                <a:cs typeface="Consolas"/>
              </a:rPr>
              <a:t>SELECT</a:t>
            </a:r>
            <a:r>
              <a:rPr sz="1350" b="0">
                <a:solidFill>
                  <a:srgbClr val="ECEA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350" b="1">
                <a:solidFill>
                  <a:srgbClr val="FFD98A"/>
                </a:solidFill>
                <a:latin typeface="Consolas"/>
                <a:ea typeface="Consolas"/>
                <a:cs typeface="Consolas"/>
              </a:rPr>
              <a:t>SUM</a:t>
            </a:r>
            <a:r>
              <a:rPr sz="1350" b="0">
                <a:solidFill>
                  <a:srgbClr val="ECEAF5"/>
                </a:solidFill>
                <a:latin typeface="Consolas"/>
                <a:ea typeface="Consolas"/>
                <a:cs typeface="Consolas"/>
              </a:rPr>
              <a:t>(price) </a:t>
            </a:r>
            <a:r>
              <a:rPr sz="1350" b="1">
                <a:solidFill>
                  <a:srgbClr val="FFD98A"/>
                </a:solidFill>
                <a:latin typeface="Consolas"/>
                <a:ea typeface="Consolas"/>
                <a:cs typeface="Consolas"/>
              </a:rPr>
              <a:t>FROM</a:t>
            </a:r>
            <a:r>
              <a:rPr sz="1350" b="0">
                <a:solidFill>
                  <a:srgbClr val="ECEAF5"/>
                </a:solidFill>
                <a:latin typeface="Consolas"/>
                <a:ea typeface="Consolas"/>
                <a:cs typeface="Consolas"/>
              </a:rPr>
              <a:t> sales;</a:t>
            </a:r>
          </a:p>
          <a:p>
            <a:pPr>
              <a:lnSpc>
                <a:spcPct val="116000"/>
              </a:lnSpc>
              <a:spcAft>
                <a:spcPts val="200"/>
              </a:spcAft>
            </a:pPr>
            <a:r>
              <a:rPr sz="1350" b="0">
                <a:solidFill>
                  <a:srgbClr val="ECEAF5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350" b="0">
                <a:solidFill>
                  <a:srgbClr val="8F88B3"/>
                </a:solidFill>
                <a:latin typeface="Consolas"/>
                <a:ea typeface="Consolas"/>
                <a:cs typeface="Consolas"/>
              </a:rPr>
              <a:t>-- 全部の代金を合計 → 4460</a:t>
            </a:r>
          </a:p>
          <a:p>
            <a:pPr>
              <a:lnSpc>
                <a:spcPct val="116000"/>
              </a:lnSpc>
              <a:spcAft>
                <a:spcPts val="200"/>
              </a:spcAft>
            </a:pPr>
            <a:r>
              <a:rPr sz="1350" b="1">
                <a:solidFill>
                  <a:srgbClr val="FFD98A"/>
                </a:solidFill>
                <a:latin typeface="Consolas"/>
                <a:ea typeface="Consolas"/>
                <a:cs typeface="Consolas"/>
              </a:rPr>
              <a:t>SELECT</a:t>
            </a:r>
            <a:r>
              <a:rPr sz="1350" b="0">
                <a:solidFill>
                  <a:srgbClr val="ECEA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350" b="1">
                <a:solidFill>
                  <a:srgbClr val="FFD98A"/>
                </a:solidFill>
                <a:latin typeface="Consolas"/>
                <a:ea typeface="Consolas"/>
                <a:cs typeface="Consolas"/>
              </a:rPr>
              <a:t>MIN</a:t>
            </a:r>
            <a:r>
              <a:rPr sz="1350" b="0">
                <a:solidFill>
                  <a:srgbClr val="ECEAF5"/>
                </a:solidFill>
                <a:latin typeface="Consolas"/>
                <a:ea typeface="Consolas"/>
                <a:cs typeface="Consolas"/>
              </a:rPr>
              <a:t>(price), </a:t>
            </a:r>
            <a:r>
              <a:rPr sz="1350" b="1">
                <a:solidFill>
                  <a:srgbClr val="FFD98A"/>
                </a:solidFill>
                <a:latin typeface="Consolas"/>
                <a:ea typeface="Consolas"/>
                <a:cs typeface="Consolas"/>
              </a:rPr>
              <a:t>MAX</a:t>
            </a:r>
            <a:r>
              <a:rPr sz="1350" b="0">
                <a:solidFill>
                  <a:srgbClr val="ECEAF5"/>
                </a:solidFill>
                <a:latin typeface="Consolas"/>
                <a:ea typeface="Consolas"/>
                <a:cs typeface="Consolas"/>
              </a:rPr>
              <a:t>(price) </a:t>
            </a:r>
            <a:r>
              <a:rPr sz="1350" b="1">
                <a:solidFill>
                  <a:srgbClr val="FFD98A"/>
                </a:solidFill>
                <a:latin typeface="Consolas"/>
                <a:ea typeface="Consolas"/>
                <a:cs typeface="Consolas"/>
              </a:rPr>
              <a:t>FROM</a:t>
            </a:r>
            <a:r>
              <a:rPr sz="1350" b="0">
                <a:solidFill>
                  <a:srgbClr val="ECEAF5"/>
                </a:solidFill>
                <a:latin typeface="Consolas"/>
                <a:ea typeface="Consolas"/>
                <a:cs typeface="Consolas"/>
              </a:rPr>
              <a:t> sales;</a:t>
            </a:r>
          </a:p>
          <a:p>
            <a:pPr>
              <a:lnSpc>
                <a:spcPct val="116000"/>
              </a:lnSpc>
              <a:spcAft>
                <a:spcPts val="200"/>
              </a:spcAft>
            </a:pPr>
            <a:r>
              <a:rPr sz="1350" b="0">
                <a:solidFill>
                  <a:srgbClr val="ECEAF5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350" b="0">
                <a:solidFill>
                  <a:srgbClr val="8F88B3"/>
                </a:solidFill>
                <a:latin typeface="Consolas"/>
                <a:ea typeface="Consolas"/>
                <a:cs typeface="Consolas"/>
              </a:rPr>
              <a:t>-- 一番安い値と高い値を同時に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60920" y="3611880"/>
            <a:ext cx="4160520" cy="1828800"/>
          </a:xfrm>
          <a:prstGeom prst="roundRect">
            <a:avLst>
              <a:gd name="adj" fmla="val 10000"/>
            </a:avLst>
          </a:prstGeom>
          <a:solidFill>
            <a:srgbClr val="F4EEFB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635240" y="3794760"/>
            <a:ext cx="365760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300" b="1">
                <a:solidFill>
                  <a:srgbClr val="8A5CC7"/>
                </a:solidFill>
                <a:latin typeface="Meiryo"/>
                <a:ea typeface="Meiryo"/>
                <a:cs typeface="Meiryo"/>
              </a:rPr>
              <a:t>関数って？</a:t>
            </a:r>
            <a:r>
              <a:rPr sz="1300" b="0">
                <a:solidFill>
                  <a:srgbClr val="3A3550"/>
                </a:solidFill>
                <a:latin typeface="Meiryo"/>
                <a:ea typeface="Meiryo"/>
                <a:cs typeface="Meiryo"/>
              </a:rPr>
              <a:t>カラムを渡すと、決まった計算をして1つの答えを返してくれる道具。</a:t>
            </a:r>
            <a:r>
              <a:rPr sz="1300" b="0">
                <a:solidFill>
                  <a:srgbClr val="6B6580"/>
                </a:solidFill>
                <a:latin typeface="Meiryo"/>
                <a:ea typeface="Meiryo"/>
                <a:cs typeface="Meiryo"/>
              </a:rPr>
              <a:t>「全部でいくつ？」に一発で答える。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50" b="1">
                <a:solidFill>
                  <a:srgbClr val="8A5CC7"/>
                </a:solidFill>
                <a:latin typeface="Meiryo"/>
                <a:ea typeface="Meiryo"/>
                <a:cs typeface="Meiryo"/>
              </a:rPr>
              <a:t>第3章　データを集計・加工しよう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sz="3100" b="1">
                <a:solidFill>
                  <a:srgbClr val="3A3550"/>
                </a:solidFill>
                <a:latin typeface="Meiryo"/>
                <a:ea typeface="Meiryo"/>
                <a:cs typeface="Meiryo"/>
              </a:rPr>
              <a:t>グループ化・絞り込み・並べ替え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783080"/>
            <a:ext cx="6309360" cy="1051560"/>
          </a:xfrm>
          <a:prstGeom prst="roundRect">
            <a:avLst>
              <a:gd name="adj" fmla="val 6000"/>
            </a:avLst>
          </a:prstGeom>
          <a:solidFill>
            <a:srgbClr val="2B2937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86968" y="1984248"/>
            <a:ext cx="5907024" cy="7406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6000"/>
              </a:lnSpc>
              <a:spcAft>
                <a:spcPts val="200"/>
              </a:spcAft>
            </a:pPr>
            <a:r>
              <a:rPr sz="1350" b="1">
                <a:solidFill>
                  <a:srgbClr val="FFD98A"/>
                </a:solidFill>
                <a:latin typeface="Consolas"/>
                <a:ea typeface="Consolas"/>
                <a:cs typeface="Consolas"/>
              </a:rPr>
              <a:t>SELECT</a:t>
            </a:r>
            <a:r>
              <a:rPr sz="1350" b="0">
                <a:solidFill>
                  <a:srgbClr val="ECEAF5"/>
                </a:solidFill>
                <a:latin typeface="Consolas"/>
                <a:ea typeface="Consolas"/>
                <a:cs typeface="Consolas"/>
              </a:rPr>
              <a:t> customer, </a:t>
            </a:r>
            <a:r>
              <a:rPr sz="1350" b="1">
                <a:solidFill>
                  <a:srgbClr val="FFD98A"/>
                </a:solidFill>
                <a:latin typeface="Consolas"/>
                <a:ea typeface="Consolas"/>
                <a:cs typeface="Consolas"/>
              </a:rPr>
              <a:t>COUNT</a:t>
            </a:r>
            <a:r>
              <a:rPr sz="1350" b="0">
                <a:solidFill>
                  <a:srgbClr val="ECEAF5"/>
                </a:solidFill>
                <a:latin typeface="Consolas"/>
                <a:ea typeface="Consolas"/>
                <a:cs typeface="Consolas"/>
              </a:rPr>
              <a:t>(*) </a:t>
            </a:r>
            <a:r>
              <a:rPr sz="1350" b="1">
                <a:solidFill>
                  <a:srgbClr val="FFD98A"/>
                </a:solidFill>
                <a:latin typeface="Consolas"/>
                <a:ea typeface="Consolas"/>
                <a:cs typeface="Consolas"/>
              </a:rPr>
              <a:t>FROM</a:t>
            </a:r>
            <a:r>
              <a:rPr sz="1350" b="0">
                <a:solidFill>
                  <a:srgbClr val="ECEAF5"/>
                </a:solidFill>
                <a:latin typeface="Consolas"/>
                <a:ea typeface="Consolas"/>
                <a:cs typeface="Consolas"/>
              </a:rPr>
              <a:t> sales</a:t>
            </a:r>
          </a:p>
          <a:p>
            <a:pPr>
              <a:lnSpc>
                <a:spcPct val="116000"/>
              </a:lnSpc>
              <a:spcAft>
                <a:spcPts val="200"/>
              </a:spcAft>
            </a:pPr>
            <a:r>
              <a:rPr sz="1350" b="1">
                <a:solidFill>
                  <a:srgbClr val="FFD98A"/>
                </a:solidFill>
                <a:latin typeface="Consolas"/>
                <a:ea typeface="Consolas"/>
                <a:cs typeface="Consolas"/>
              </a:rPr>
              <a:t>GROUP</a:t>
            </a:r>
            <a:r>
              <a:rPr sz="1350" b="0">
                <a:solidFill>
                  <a:srgbClr val="ECEA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350" b="1">
                <a:solidFill>
                  <a:srgbClr val="FFD98A"/>
                </a:solidFill>
                <a:latin typeface="Consolas"/>
                <a:ea typeface="Consolas"/>
                <a:cs typeface="Consolas"/>
              </a:rPr>
              <a:t>BY</a:t>
            </a:r>
            <a:r>
              <a:rPr sz="1350" b="0">
                <a:solidFill>
                  <a:srgbClr val="ECEAF5"/>
                </a:solidFill>
                <a:latin typeface="Consolas"/>
                <a:ea typeface="Consolas"/>
                <a:cs typeface="Consolas"/>
              </a:rPr>
              <a:t> customer;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3063240"/>
            <a:ext cx="6309360" cy="603504"/>
          </a:xfrm>
          <a:prstGeom prst="roundRect">
            <a:avLst>
              <a:gd name="adj" fmla="val 14000"/>
            </a:avLst>
          </a:prstGeom>
          <a:solidFill>
            <a:srgbClr val="F4EEFB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3063240"/>
            <a:ext cx="585216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30" b="1">
                <a:solidFill>
                  <a:srgbClr val="8A5CC7"/>
                </a:solidFill>
                <a:latin typeface="Meiryo"/>
                <a:ea typeface="Meiryo"/>
                <a:cs typeface="Meiryo"/>
              </a:rPr>
              <a:t>GROUP BY　</a:t>
            </a:r>
            <a:r>
              <a:rPr sz="1230" b="0">
                <a:solidFill>
                  <a:srgbClr val="3A3550"/>
                </a:solidFill>
                <a:latin typeface="Meiryo"/>
                <a:ea typeface="Meiryo"/>
                <a:cs typeface="Meiryo"/>
              </a:rPr>
              <a:t>同じ値ごとにまとめて集計（例：お客さんごとの来店回数）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3712464"/>
            <a:ext cx="6309360" cy="603504"/>
          </a:xfrm>
          <a:prstGeom prst="roundRect">
            <a:avLst>
              <a:gd name="adj" fmla="val 14000"/>
            </a:avLst>
          </a:prstGeom>
          <a:solidFill>
            <a:srgbClr val="F4EEFB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3712464"/>
            <a:ext cx="585216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30" b="1">
                <a:solidFill>
                  <a:srgbClr val="8A5CC7"/>
                </a:solidFill>
                <a:latin typeface="Meiryo"/>
                <a:ea typeface="Meiryo"/>
                <a:cs typeface="Meiryo"/>
              </a:rPr>
              <a:t>GROUP_CONCAT　</a:t>
            </a:r>
            <a:r>
              <a:rPr sz="1230" b="0">
                <a:solidFill>
                  <a:srgbClr val="3A3550"/>
                </a:solidFill>
                <a:latin typeface="Meiryo"/>
                <a:ea typeface="Meiryo"/>
                <a:cs typeface="Meiryo"/>
              </a:rPr>
              <a:t>グループ内の値を1つにつなげて表示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4361688"/>
            <a:ext cx="6309360" cy="603504"/>
          </a:xfrm>
          <a:prstGeom prst="roundRect">
            <a:avLst>
              <a:gd name="adj" fmla="val 14000"/>
            </a:avLst>
          </a:prstGeom>
          <a:solidFill>
            <a:srgbClr val="F4EEFB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14400" y="4361688"/>
            <a:ext cx="585216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30" b="1">
                <a:solidFill>
                  <a:srgbClr val="8A5CC7"/>
                </a:solidFill>
                <a:latin typeface="Meiryo"/>
                <a:ea typeface="Meiryo"/>
                <a:cs typeface="Meiryo"/>
              </a:rPr>
              <a:t>HAVING　</a:t>
            </a:r>
            <a:r>
              <a:rPr sz="1230" b="0">
                <a:solidFill>
                  <a:srgbClr val="3A3550"/>
                </a:solidFill>
                <a:latin typeface="Meiryo"/>
                <a:ea typeface="Meiryo"/>
                <a:cs typeface="Meiryo"/>
              </a:rPr>
              <a:t>グループへの条件（WHEREは行、HAVINGはグループ）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5010912"/>
            <a:ext cx="6309360" cy="603504"/>
          </a:xfrm>
          <a:prstGeom prst="roundRect">
            <a:avLst>
              <a:gd name="adj" fmla="val 14000"/>
            </a:avLst>
          </a:prstGeom>
          <a:solidFill>
            <a:srgbClr val="F4EEFB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14400" y="5010912"/>
            <a:ext cx="585216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30" b="1">
                <a:solidFill>
                  <a:srgbClr val="8A5CC7"/>
                </a:solidFill>
                <a:latin typeface="Meiryo"/>
                <a:ea typeface="Meiryo"/>
                <a:cs typeface="Meiryo"/>
              </a:rPr>
              <a:t>ORDER BY　</a:t>
            </a:r>
            <a:r>
              <a:rPr sz="1230" b="0">
                <a:solidFill>
                  <a:srgbClr val="3A3550"/>
                </a:solidFill>
                <a:latin typeface="Meiryo"/>
                <a:ea typeface="Meiryo"/>
                <a:cs typeface="Meiryo"/>
              </a:rPr>
              <a:t>並べ替え。ASC＝昇順／DESC＝降順、複数キーも可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96328" y="1938528"/>
            <a:ext cx="4352544" cy="139180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6" name="Picture 15" descr="LESSON12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9480" y="2011680"/>
            <a:ext cx="4206240" cy="1245502"/>
          </a:xfrm>
          <a:prstGeom prst="rect">
            <a:avLst/>
          </a:prstGeom>
          <a:ln w="12700">
            <a:solidFill>
              <a:srgbClr val="EFE9DF"/>
            </a:solidFill>
          </a:ln>
        </p:spPr>
      </p:pic>
      <p:sp>
        <p:nvSpPr>
          <p:cNvPr id="17" name="TextBox 16"/>
          <p:cNvSpPr txBox="1"/>
          <p:nvPr/>
        </p:nvSpPr>
        <p:spPr>
          <a:xfrm>
            <a:off x="7269480" y="3385198"/>
            <a:ext cx="4206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100" b="1">
                <a:solidFill>
                  <a:srgbClr val="8A5CC7"/>
                </a:solidFill>
                <a:latin typeface="Meiryo"/>
                <a:ea typeface="Meiryo"/>
                <a:cs typeface="Meiryo"/>
              </a:rPr>
              <a:t>▲ お客さんごとの来店回数を集計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50" b="1">
                <a:solidFill>
                  <a:srgbClr val="8A5CC7"/>
                </a:solidFill>
                <a:latin typeface="Meiryo"/>
                <a:ea typeface="Meiryo"/>
                <a:cs typeface="Meiryo"/>
              </a:rPr>
              <a:t>第3章　データを集計・加工しよう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sz="3100" b="1">
                <a:solidFill>
                  <a:srgbClr val="3A3550"/>
                </a:solidFill>
                <a:latin typeface="Meiryo"/>
                <a:ea typeface="Meiryo"/>
                <a:cs typeface="Meiryo"/>
              </a:rPr>
              <a:t>句を組み合わせる ― 書く順番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468880"/>
            <a:ext cx="1627632" cy="1234440"/>
          </a:xfrm>
          <a:prstGeom prst="roundRect">
            <a:avLst>
              <a:gd name="adj" fmla="val 14000"/>
            </a:avLst>
          </a:prstGeom>
          <a:solidFill>
            <a:srgbClr val="8A5CC7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2688336"/>
            <a:ext cx="1627632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SELECT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18688"/>
            <a:ext cx="1627632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100" b="0">
                <a:solidFill>
                  <a:srgbClr val="FFFFFF"/>
                </a:solidFill>
                <a:latin typeface="Meiryo"/>
                <a:ea typeface="Meiryo"/>
                <a:cs typeface="Meiryo"/>
              </a:rPr>
              <a:t>取り出す列</a:t>
            </a:r>
          </a:p>
        </p:txBody>
      </p:sp>
      <p:sp>
        <p:nvSpPr>
          <p:cNvPr id="8" name="Chevron 7"/>
          <p:cNvSpPr/>
          <p:nvPr/>
        </p:nvSpPr>
        <p:spPr>
          <a:xfrm>
            <a:off x="2339108" y="2939796"/>
            <a:ext cx="162616" cy="292608"/>
          </a:xfrm>
          <a:prstGeom prst="chevron">
            <a:avLst/>
          </a:prstGeom>
          <a:solidFill>
            <a:srgbClr val="D9CD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2527401" y="2468880"/>
            <a:ext cx="1627632" cy="1234440"/>
          </a:xfrm>
          <a:prstGeom prst="roundRect">
            <a:avLst>
              <a:gd name="adj" fmla="val 14000"/>
            </a:avLst>
          </a:prstGeom>
          <a:solidFill>
            <a:srgbClr val="F4EEFB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527401" y="2688336"/>
            <a:ext cx="1627632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350" b="1">
                <a:solidFill>
                  <a:srgbClr val="8A5CC7"/>
                </a:solidFill>
                <a:latin typeface="Meiryo"/>
                <a:ea typeface="Meiryo"/>
                <a:cs typeface="Meiryo"/>
              </a:rPr>
              <a:t>FROM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27401" y="3218688"/>
            <a:ext cx="1627632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100" b="0">
                <a:solidFill>
                  <a:srgbClr val="3A3550"/>
                </a:solidFill>
                <a:latin typeface="Meiryo"/>
                <a:ea typeface="Meiryo"/>
                <a:cs typeface="Meiryo"/>
              </a:rPr>
              <a:t>対象のテーブル</a:t>
            </a:r>
          </a:p>
        </p:txBody>
      </p:sp>
      <p:sp>
        <p:nvSpPr>
          <p:cNvPr id="12" name="Chevron 11"/>
          <p:cNvSpPr/>
          <p:nvPr/>
        </p:nvSpPr>
        <p:spPr>
          <a:xfrm>
            <a:off x="4180709" y="2939796"/>
            <a:ext cx="162616" cy="292608"/>
          </a:xfrm>
          <a:prstGeom prst="chevron">
            <a:avLst/>
          </a:prstGeom>
          <a:solidFill>
            <a:srgbClr val="D9CD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4369003" y="2468880"/>
            <a:ext cx="1627632" cy="1234440"/>
          </a:xfrm>
          <a:prstGeom prst="roundRect">
            <a:avLst>
              <a:gd name="adj" fmla="val 14000"/>
            </a:avLst>
          </a:prstGeom>
          <a:solidFill>
            <a:srgbClr val="F4EEFB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369003" y="2688336"/>
            <a:ext cx="1627632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350" b="1">
                <a:solidFill>
                  <a:srgbClr val="8A5CC7"/>
                </a:solidFill>
                <a:latin typeface="Meiryo"/>
                <a:ea typeface="Meiryo"/>
                <a:cs typeface="Meiryo"/>
              </a:rPr>
              <a:t>WHERE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69003" y="3218688"/>
            <a:ext cx="1627632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100" b="0">
                <a:solidFill>
                  <a:srgbClr val="3A3550"/>
                </a:solidFill>
                <a:latin typeface="Meiryo"/>
                <a:ea typeface="Meiryo"/>
                <a:cs typeface="Meiryo"/>
              </a:rPr>
              <a:t>行の条件</a:t>
            </a:r>
          </a:p>
        </p:txBody>
      </p:sp>
      <p:sp>
        <p:nvSpPr>
          <p:cNvPr id="16" name="Chevron 15"/>
          <p:cNvSpPr/>
          <p:nvPr/>
        </p:nvSpPr>
        <p:spPr>
          <a:xfrm>
            <a:off x="6022311" y="2939796"/>
            <a:ext cx="162616" cy="292608"/>
          </a:xfrm>
          <a:prstGeom prst="chevron">
            <a:avLst/>
          </a:prstGeom>
          <a:solidFill>
            <a:srgbClr val="D9CD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6210604" y="2468880"/>
            <a:ext cx="1627632" cy="1234440"/>
          </a:xfrm>
          <a:prstGeom prst="roundRect">
            <a:avLst>
              <a:gd name="adj" fmla="val 14000"/>
            </a:avLst>
          </a:prstGeom>
          <a:solidFill>
            <a:srgbClr val="F4EEFB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210604" y="2688336"/>
            <a:ext cx="1627632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350" b="1">
                <a:solidFill>
                  <a:srgbClr val="8A5CC7"/>
                </a:solidFill>
                <a:latin typeface="Meiryo"/>
                <a:ea typeface="Meiryo"/>
                <a:cs typeface="Meiryo"/>
              </a:rPr>
              <a:t>GROUP BY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0604" y="3218688"/>
            <a:ext cx="1627632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100" b="0">
                <a:solidFill>
                  <a:srgbClr val="3A3550"/>
                </a:solidFill>
                <a:latin typeface="Meiryo"/>
                <a:ea typeface="Meiryo"/>
                <a:cs typeface="Meiryo"/>
              </a:rPr>
              <a:t>グループ化</a:t>
            </a:r>
          </a:p>
        </p:txBody>
      </p:sp>
      <p:sp>
        <p:nvSpPr>
          <p:cNvPr id="20" name="Chevron 19"/>
          <p:cNvSpPr/>
          <p:nvPr/>
        </p:nvSpPr>
        <p:spPr>
          <a:xfrm>
            <a:off x="7863913" y="2939796"/>
            <a:ext cx="162616" cy="292608"/>
          </a:xfrm>
          <a:prstGeom prst="chevron">
            <a:avLst/>
          </a:prstGeom>
          <a:solidFill>
            <a:srgbClr val="D9CD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8052206" y="2468880"/>
            <a:ext cx="1627632" cy="1234440"/>
          </a:xfrm>
          <a:prstGeom prst="roundRect">
            <a:avLst>
              <a:gd name="adj" fmla="val 14000"/>
            </a:avLst>
          </a:prstGeom>
          <a:solidFill>
            <a:srgbClr val="F4EEFB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052206" y="2688336"/>
            <a:ext cx="1627632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350" b="1">
                <a:solidFill>
                  <a:srgbClr val="8A5CC7"/>
                </a:solidFill>
                <a:latin typeface="Meiryo"/>
                <a:ea typeface="Meiryo"/>
                <a:cs typeface="Meiryo"/>
              </a:rPr>
              <a:t>HAVING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52206" y="3218688"/>
            <a:ext cx="1627632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100" b="0">
                <a:solidFill>
                  <a:srgbClr val="3A3550"/>
                </a:solidFill>
                <a:latin typeface="Meiryo"/>
                <a:ea typeface="Meiryo"/>
                <a:cs typeface="Meiryo"/>
              </a:rPr>
              <a:t>グループの条件</a:t>
            </a:r>
          </a:p>
        </p:txBody>
      </p:sp>
      <p:sp>
        <p:nvSpPr>
          <p:cNvPr id="24" name="Chevron 23"/>
          <p:cNvSpPr/>
          <p:nvPr/>
        </p:nvSpPr>
        <p:spPr>
          <a:xfrm>
            <a:off x="9705514" y="2939796"/>
            <a:ext cx="162616" cy="292608"/>
          </a:xfrm>
          <a:prstGeom prst="chevron">
            <a:avLst/>
          </a:prstGeom>
          <a:solidFill>
            <a:srgbClr val="D9CD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9893808" y="2468880"/>
            <a:ext cx="1627632" cy="1234440"/>
          </a:xfrm>
          <a:prstGeom prst="roundRect">
            <a:avLst>
              <a:gd name="adj" fmla="val 14000"/>
            </a:avLst>
          </a:prstGeom>
          <a:solidFill>
            <a:srgbClr val="F4EEFB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893808" y="2688336"/>
            <a:ext cx="1627632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350" b="1">
                <a:solidFill>
                  <a:srgbClr val="8A5CC7"/>
                </a:solidFill>
                <a:latin typeface="Meiryo"/>
                <a:ea typeface="Meiryo"/>
                <a:cs typeface="Meiryo"/>
              </a:rPr>
              <a:t>ORDER BY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93808" y="3218688"/>
            <a:ext cx="1627632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100" b="0">
                <a:solidFill>
                  <a:srgbClr val="3A3550"/>
                </a:solidFill>
                <a:latin typeface="Meiryo"/>
                <a:ea typeface="Meiryo"/>
                <a:cs typeface="Meiryo"/>
              </a:rPr>
              <a:t>並べ替え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85800" y="4434840"/>
            <a:ext cx="10835640" cy="1005840"/>
          </a:xfrm>
          <a:prstGeom prst="roundRect">
            <a:avLst>
              <a:gd name="adj" fmla="val 9000"/>
            </a:avLst>
          </a:prstGeom>
          <a:solidFill>
            <a:srgbClr val="F4EEFB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005840" y="4434840"/>
            <a:ext cx="10241280" cy="1005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8A5CC7"/>
                </a:solidFill>
                <a:latin typeface="Meiryo"/>
                <a:ea typeface="Meiryo"/>
                <a:cs typeface="Meiryo"/>
              </a:rPr>
              <a:t>この順番で書くのがルール。</a:t>
            </a:r>
            <a:r>
              <a:rPr sz="1350" b="0">
                <a:solidFill>
                  <a:srgbClr val="3A3550"/>
                </a:solidFill>
                <a:latin typeface="Meiryo"/>
                <a:ea typeface="Meiryo"/>
                <a:cs typeface="Meiryo"/>
              </a:rPr>
              <a:t>必要な句だけを選んで組み合わせれば、「◯◯を、条件で絞って、グループ化して、多い順に」といった複雑な取り出しも1文で書けます。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040880" y="182880"/>
            <a:ext cx="4937760" cy="6583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30000" b="1">
                <a:solidFill>
                  <a:srgbClr val="F2A65D"/>
                </a:solidFill>
                <a:latin typeface="Meiryo"/>
                <a:ea typeface="Meiryo"/>
                <a:cs typeface="Meiryo"/>
              </a:rPr>
              <a:t>4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2286000"/>
            <a:ext cx="2103120" cy="60350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2286000"/>
            <a:ext cx="210312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EF8A2B"/>
                </a:solidFill>
                <a:latin typeface="Meiryo"/>
                <a:ea typeface="Meiryo"/>
                <a:cs typeface="Meiryo"/>
              </a:rPr>
              <a:t>第4章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063240"/>
            <a:ext cx="960120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sz="46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データを変更しよう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" y="4526280"/>
            <a:ext cx="96012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FFFFFF"/>
                </a:solidFill>
                <a:latin typeface="Meiryo"/>
                <a:ea typeface="Meiryo"/>
                <a:cs typeface="Meiryo"/>
              </a:rPr>
              <a:t>作る・更新する・消す ― CRUD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50" b="1">
                <a:solidFill>
                  <a:srgbClr val="EF8A2B"/>
                </a:solidFill>
                <a:latin typeface="Meiryo"/>
                <a:ea typeface="Meiryo"/>
                <a:cs typeface="Meiryo"/>
              </a:rPr>
              <a:t>第4章　データを変更しよう（CRUD）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sz="3100" b="1">
                <a:solidFill>
                  <a:srgbClr val="3A3550"/>
                </a:solidFill>
                <a:latin typeface="Meiryo"/>
                <a:ea typeface="Meiryo"/>
                <a:cs typeface="Meiryo"/>
              </a:rPr>
              <a:t>INSERT・UPDATE・DELETE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783080"/>
            <a:ext cx="6126480" cy="1051560"/>
          </a:xfrm>
          <a:prstGeom prst="roundRect">
            <a:avLst>
              <a:gd name="adj" fmla="val 9000"/>
            </a:avLst>
          </a:prstGeom>
          <a:solidFill>
            <a:srgbClr val="FDF1E6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41832" y="1984248"/>
            <a:ext cx="56692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50" b="1">
                <a:solidFill>
                  <a:srgbClr val="EF8A2B"/>
                </a:solidFill>
                <a:latin typeface="Meiryo"/>
                <a:ea typeface="Meiryo"/>
                <a:cs typeface="Meiryo"/>
              </a:rPr>
              <a:t>INSERT　追加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" y="2569464"/>
            <a:ext cx="5669280" cy="13715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280" b="1">
                <a:solidFill>
                  <a:srgbClr val="6B6580"/>
                </a:solidFill>
                <a:latin typeface="Meiryo"/>
                <a:ea typeface="Meiryo"/>
                <a:cs typeface="Meiryo"/>
              </a:rPr>
              <a:t>INSERT INTO sales VALUES ( … );</a:t>
            </a:r>
            <a:r>
              <a:rPr sz="1280" b="0">
                <a:solidFill>
                  <a:srgbClr val="3A3550"/>
                </a:solidFill>
                <a:latin typeface="Meiryo"/>
                <a:ea typeface="Meiryo"/>
                <a:cs typeface="Meiryo"/>
              </a:rPr>
              <a:t>カラム名は省略がおすすめ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953512"/>
            <a:ext cx="6126480" cy="1051560"/>
          </a:xfrm>
          <a:prstGeom prst="roundRect">
            <a:avLst>
              <a:gd name="adj" fmla="val 9000"/>
            </a:avLst>
          </a:prstGeom>
          <a:solidFill>
            <a:srgbClr val="FDF1E6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41832" y="3154680"/>
            <a:ext cx="56692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50" b="1">
                <a:solidFill>
                  <a:srgbClr val="EF8A2B"/>
                </a:solidFill>
                <a:latin typeface="Meiryo"/>
                <a:ea typeface="Meiryo"/>
                <a:cs typeface="Meiryo"/>
              </a:rPr>
              <a:t>UPDATE　更新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" y="3739896"/>
            <a:ext cx="5669280" cy="13715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280" b="1">
                <a:solidFill>
                  <a:srgbClr val="6B6580"/>
                </a:solidFill>
                <a:latin typeface="Meiryo"/>
                <a:ea typeface="Meiryo"/>
                <a:cs typeface="Meiryo"/>
              </a:rPr>
              <a:t>UPDATE sales SET price = 400 WHERE … ;</a:t>
            </a:r>
            <a:r>
              <a:rPr sz="1280" b="0">
                <a:solidFill>
                  <a:srgbClr val="3A3550"/>
                </a:solidFill>
                <a:latin typeface="Meiryo"/>
                <a:ea typeface="Meiryo"/>
                <a:cs typeface="Meiryo"/>
              </a:rPr>
              <a:t>SETで新しい値を指定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4123944"/>
            <a:ext cx="6126480" cy="1051560"/>
          </a:xfrm>
          <a:prstGeom prst="roundRect">
            <a:avLst>
              <a:gd name="adj" fmla="val 9000"/>
            </a:avLst>
          </a:prstGeom>
          <a:solidFill>
            <a:srgbClr val="FDF1E6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41832" y="4325112"/>
            <a:ext cx="56692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50" b="1">
                <a:solidFill>
                  <a:srgbClr val="EF8A2B"/>
                </a:solidFill>
                <a:latin typeface="Meiryo"/>
                <a:ea typeface="Meiryo"/>
                <a:cs typeface="Meiryo"/>
              </a:rPr>
              <a:t>DELETE　削除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" y="4910328"/>
            <a:ext cx="5669280" cy="13715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280" b="1">
                <a:solidFill>
                  <a:srgbClr val="6B6580"/>
                </a:solidFill>
                <a:latin typeface="Meiryo"/>
                <a:ea typeface="Meiryo"/>
                <a:cs typeface="Meiryo"/>
              </a:rPr>
              <a:t>DELETE FROM sales WHERE … ;</a:t>
            </a:r>
            <a:r>
              <a:rPr sz="1280" b="0">
                <a:solidFill>
                  <a:srgbClr val="3A3550"/>
                </a:solidFill>
                <a:latin typeface="Meiryo"/>
                <a:ea typeface="Meiryo"/>
                <a:cs typeface="Meiryo"/>
              </a:rPr>
              <a:t>テーブルごとは DROP TABLE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5303520"/>
            <a:ext cx="6126480" cy="960120"/>
          </a:xfrm>
          <a:prstGeom prst="roundRect">
            <a:avLst>
              <a:gd name="adj" fmla="val 10000"/>
            </a:avLst>
          </a:prstGeom>
          <a:solidFill>
            <a:srgbClr val="FFE9D6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60120" y="5303520"/>
            <a:ext cx="5623560" cy="9601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250" b="1">
                <a:solidFill>
                  <a:srgbClr val="FF6B6B"/>
                </a:solidFill>
                <a:latin typeface="Meiryo"/>
                <a:ea typeface="Meiryo"/>
                <a:cs typeface="Meiryo"/>
              </a:rPr>
              <a:t>⚠ WHERE を忘れると全件が変わる！　</a:t>
            </a:r>
            <a:r>
              <a:rPr sz="1250" b="0">
                <a:solidFill>
                  <a:srgbClr val="3A3550"/>
                </a:solidFill>
                <a:latin typeface="Meiryo"/>
                <a:ea typeface="Meiryo"/>
                <a:cs typeface="Meiryo"/>
              </a:rPr>
              <a:t>条件なしのUPDATE・DELETEは全行が対象。変更前は .backup でバックアップを。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013448" y="2029967"/>
            <a:ext cx="4581144" cy="18093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" name="Picture 16" descr="LESSON19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6600" y="2103120"/>
            <a:ext cx="4434840" cy="1663064"/>
          </a:xfrm>
          <a:prstGeom prst="rect">
            <a:avLst/>
          </a:prstGeom>
          <a:ln w="12700">
            <a:solidFill>
              <a:srgbClr val="EFE9DF"/>
            </a:solidFill>
          </a:ln>
        </p:spPr>
      </p:pic>
      <p:sp>
        <p:nvSpPr>
          <p:cNvPr id="18" name="TextBox 17"/>
          <p:cNvSpPr txBox="1"/>
          <p:nvPr/>
        </p:nvSpPr>
        <p:spPr>
          <a:xfrm>
            <a:off x="7086600" y="3894200"/>
            <a:ext cx="44348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100" b="1">
                <a:solidFill>
                  <a:srgbClr val="EF8A2B"/>
                </a:solidFill>
                <a:latin typeface="Meiryo"/>
                <a:ea typeface="Meiryo"/>
                <a:cs typeface="Meiryo"/>
              </a:rPr>
              <a:t>▲ UPDATE で日付を更新した結果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FA8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040880" y="182880"/>
            <a:ext cx="4937760" cy="6583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30000" b="1">
                <a:solidFill>
                  <a:srgbClr val="79BC7D"/>
                </a:solidFill>
                <a:latin typeface="Meiryo"/>
                <a:ea typeface="Meiryo"/>
                <a:cs typeface="Meiryo"/>
              </a:rPr>
              <a:t>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2286000"/>
            <a:ext cx="2103120" cy="60350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2286000"/>
            <a:ext cx="210312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4FA854"/>
                </a:solidFill>
                <a:latin typeface="Meiryo"/>
                <a:ea typeface="Meiryo"/>
                <a:cs typeface="Meiryo"/>
              </a:rPr>
              <a:t>第5章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063240"/>
            <a:ext cx="960120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sz="46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複数テーブルで管理しよう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" y="4526280"/>
            <a:ext cx="96012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FFFFFF"/>
                </a:solidFill>
                <a:latin typeface="Meiryo"/>
                <a:ea typeface="Meiryo"/>
                <a:cs typeface="Meiryo"/>
              </a:rPr>
              <a:t>テーブルを分けて、結合して使う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50" b="1">
                <a:solidFill>
                  <a:srgbClr val="4FA854"/>
                </a:solidFill>
                <a:latin typeface="Meiryo"/>
                <a:ea typeface="Meiryo"/>
                <a:cs typeface="Meiryo"/>
              </a:rPr>
              <a:t>第5章　複数テーブルで管理しよう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sz="3100" b="1">
                <a:solidFill>
                  <a:srgbClr val="3A3550"/>
                </a:solidFill>
                <a:latin typeface="Meiryo"/>
                <a:ea typeface="Meiryo"/>
                <a:cs typeface="Meiryo"/>
              </a:rPr>
              <a:t>テーブルの設計と作成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783080"/>
            <a:ext cx="5349240" cy="1417320"/>
          </a:xfrm>
          <a:prstGeom prst="roundRect">
            <a:avLst>
              <a:gd name="adj" fmla="val 9000"/>
            </a:avLst>
          </a:prstGeom>
          <a:solidFill>
            <a:srgbClr val="EEF7EF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41832" y="1984248"/>
            <a:ext cx="4892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50" b="1">
                <a:solidFill>
                  <a:srgbClr val="4FA854"/>
                </a:solidFill>
                <a:latin typeface="Meiryo"/>
                <a:ea typeface="Meiryo"/>
                <a:cs typeface="Meiryo"/>
              </a:rPr>
              <a:t>命名規則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1" y="2569464"/>
            <a:ext cx="4972407" cy="44909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280" b="0">
                <a:solidFill>
                  <a:srgbClr val="3A3550"/>
                </a:solidFill>
                <a:latin typeface="Meiryo"/>
                <a:ea typeface="Meiryo"/>
                <a:cs typeface="Meiryo"/>
              </a:rPr>
              <a:t>英小文字・数字・_（アンダースコア）で、アルファベット始まり。予約語は避ける。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3337560"/>
            <a:ext cx="5349240" cy="1371600"/>
          </a:xfrm>
          <a:prstGeom prst="roundRect">
            <a:avLst>
              <a:gd name="adj" fmla="val 9000"/>
            </a:avLst>
          </a:prstGeom>
          <a:solidFill>
            <a:srgbClr val="EEF7EF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41832" y="3538728"/>
            <a:ext cx="4892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50" b="1">
                <a:solidFill>
                  <a:srgbClr val="4FA854"/>
                </a:solidFill>
                <a:latin typeface="Meiryo"/>
                <a:ea typeface="Meiryo"/>
                <a:cs typeface="Meiryo"/>
              </a:rPr>
              <a:t>データ型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" y="4123944"/>
            <a:ext cx="4892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280" b="0">
                <a:solidFill>
                  <a:srgbClr val="3A3550"/>
                </a:solidFill>
                <a:latin typeface="Meiryo"/>
                <a:ea typeface="Meiryo"/>
                <a:cs typeface="Meiryo"/>
              </a:rPr>
              <a:t>TEXT＝文字列／INTEGER＝整数／REAL＝小数 など。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4846320"/>
            <a:ext cx="5349240" cy="1417320"/>
          </a:xfrm>
          <a:prstGeom prst="roundRect">
            <a:avLst>
              <a:gd name="adj" fmla="val 9000"/>
            </a:avLst>
          </a:prstGeom>
          <a:solidFill>
            <a:srgbClr val="EEF7EF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41832" y="5047488"/>
            <a:ext cx="4892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50" b="1">
                <a:solidFill>
                  <a:srgbClr val="4FA854"/>
                </a:solidFill>
                <a:latin typeface="Meiryo"/>
                <a:ea typeface="Meiryo"/>
                <a:cs typeface="Meiryo"/>
              </a:rPr>
              <a:t>制約（ルール）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" y="5632704"/>
            <a:ext cx="48920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280" b="0">
                <a:solidFill>
                  <a:srgbClr val="3A3550"/>
                </a:solidFill>
                <a:latin typeface="Meiryo"/>
                <a:ea typeface="Meiryo"/>
                <a:cs typeface="Meiryo"/>
              </a:rPr>
              <a:t>PRIMARY KEY＝主キー（重複・NULL禁止）NOT NULL＝必ず値を入れる（入れ忘れ防止）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1783080"/>
            <a:ext cx="5257800" cy="2651760"/>
          </a:xfrm>
          <a:prstGeom prst="roundRect">
            <a:avLst>
              <a:gd name="adj" fmla="val 6000"/>
            </a:avLst>
          </a:prstGeom>
          <a:solidFill>
            <a:srgbClr val="2B2937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64807" y="1892807"/>
            <a:ext cx="485546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>
                <a:solidFill>
                  <a:srgbClr val="9F97C0"/>
                </a:solidFill>
                <a:latin typeface="Consolas"/>
                <a:ea typeface="Consolas"/>
                <a:cs typeface="Consolas"/>
              </a:rPr>
              <a:t>CREATE TABLE でテーブルを作る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64807" y="2240280"/>
            <a:ext cx="4855464" cy="208483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6000"/>
              </a:lnSpc>
              <a:spcAft>
                <a:spcPts val="200"/>
              </a:spcAft>
            </a:pPr>
            <a:r>
              <a:rPr sz="1300" b="1">
                <a:solidFill>
                  <a:srgbClr val="FFD98A"/>
                </a:solidFill>
                <a:latin typeface="Consolas"/>
                <a:ea typeface="Consolas"/>
                <a:cs typeface="Consolas"/>
              </a:rPr>
              <a:t>CREATE</a:t>
            </a:r>
            <a:r>
              <a:rPr sz="1300" b="0">
                <a:solidFill>
                  <a:srgbClr val="ECEA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300" b="1">
                <a:solidFill>
                  <a:srgbClr val="FFD98A"/>
                </a:solidFill>
                <a:latin typeface="Consolas"/>
                <a:ea typeface="Consolas"/>
                <a:cs typeface="Consolas"/>
              </a:rPr>
              <a:t>TABLE</a:t>
            </a:r>
            <a:r>
              <a:rPr sz="1300" b="0">
                <a:solidFill>
                  <a:srgbClr val="ECEAF5"/>
                </a:solidFill>
                <a:latin typeface="Consolas"/>
                <a:ea typeface="Consolas"/>
                <a:cs typeface="Consolas"/>
              </a:rPr>
              <a:t> item (</a:t>
            </a:r>
          </a:p>
          <a:p>
            <a:pPr>
              <a:lnSpc>
                <a:spcPct val="116000"/>
              </a:lnSpc>
              <a:spcAft>
                <a:spcPts val="200"/>
              </a:spcAft>
            </a:pPr>
            <a:r>
              <a:rPr sz="1300" b="0">
                <a:solidFill>
                  <a:srgbClr val="ECEAF5"/>
                </a:solidFill>
                <a:latin typeface="Consolas"/>
                <a:ea typeface="Consolas"/>
                <a:cs typeface="Consolas"/>
              </a:rPr>
              <a:t>  item_id   </a:t>
            </a:r>
            <a:r>
              <a:rPr sz="1300" b="1">
                <a:solidFill>
                  <a:srgbClr val="FFD98A"/>
                </a:solidFill>
                <a:latin typeface="Consolas"/>
                <a:ea typeface="Consolas"/>
                <a:cs typeface="Consolas"/>
              </a:rPr>
              <a:t>INTEGER</a:t>
            </a:r>
            <a:r>
              <a:rPr sz="1300" b="0">
                <a:solidFill>
                  <a:srgbClr val="ECEA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300" b="1">
                <a:solidFill>
                  <a:srgbClr val="FFD98A"/>
                </a:solidFill>
                <a:latin typeface="Consolas"/>
                <a:ea typeface="Consolas"/>
                <a:cs typeface="Consolas"/>
              </a:rPr>
              <a:t>PRIMARY</a:t>
            </a:r>
            <a:r>
              <a:rPr sz="1300" b="0">
                <a:solidFill>
                  <a:srgbClr val="ECEA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300" b="1">
                <a:solidFill>
                  <a:srgbClr val="FFD98A"/>
                </a:solidFill>
                <a:latin typeface="Consolas"/>
                <a:ea typeface="Consolas"/>
                <a:cs typeface="Consolas"/>
              </a:rPr>
              <a:t>KEY</a:t>
            </a:r>
            <a:r>
              <a:rPr sz="1300" b="0">
                <a:solidFill>
                  <a:srgbClr val="ECEAF5"/>
                </a:solidFill>
                <a:latin typeface="Consolas"/>
                <a:ea typeface="Consolas"/>
                <a:cs typeface="Consolas"/>
              </a:rPr>
              <a:t>,</a:t>
            </a:r>
          </a:p>
          <a:p>
            <a:pPr>
              <a:lnSpc>
                <a:spcPct val="116000"/>
              </a:lnSpc>
              <a:spcAft>
                <a:spcPts val="200"/>
              </a:spcAft>
            </a:pPr>
            <a:r>
              <a:rPr sz="1300" b="0">
                <a:solidFill>
                  <a:srgbClr val="ECEAF5"/>
                </a:solidFill>
                <a:latin typeface="Consolas"/>
                <a:ea typeface="Consolas"/>
                <a:cs typeface="Consolas"/>
              </a:rPr>
              <a:t>  item_name </a:t>
            </a:r>
            <a:r>
              <a:rPr sz="1300" b="1">
                <a:solidFill>
                  <a:srgbClr val="FFD98A"/>
                </a:solidFill>
                <a:latin typeface="Consolas"/>
                <a:ea typeface="Consolas"/>
                <a:cs typeface="Consolas"/>
              </a:rPr>
              <a:t>TEXT</a:t>
            </a:r>
            <a:r>
              <a:rPr sz="1300" b="0">
                <a:solidFill>
                  <a:srgbClr val="ECEAF5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300" b="1">
                <a:solidFill>
                  <a:srgbClr val="FFD98A"/>
                </a:solidFill>
                <a:latin typeface="Consolas"/>
                <a:ea typeface="Consolas"/>
                <a:cs typeface="Consolas"/>
              </a:rPr>
              <a:t>NOT</a:t>
            </a:r>
            <a:r>
              <a:rPr sz="1300" b="0">
                <a:solidFill>
                  <a:srgbClr val="ECEA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300" b="1">
                <a:solidFill>
                  <a:srgbClr val="FFD98A"/>
                </a:solidFill>
                <a:latin typeface="Consolas"/>
                <a:ea typeface="Consolas"/>
                <a:cs typeface="Consolas"/>
              </a:rPr>
              <a:t>NULL</a:t>
            </a:r>
            <a:r>
              <a:rPr sz="1300" b="0">
                <a:solidFill>
                  <a:srgbClr val="ECEAF5"/>
                </a:solidFill>
                <a:latin typeface="Consolas"/>
                <a:ea typeface="Consolas"/>
                <a:cs typeface="Consolas"/>
              </a:rPr>
              <a:t>,</a:t>
            </a:r>
          </a:p>
          <a:p>
            <a:pPr>
              <a:lnSpc>
                <a:spcPct val="116000"/>
              </a:lnSpc>
              <a:spcAft>
                <a:spcPts val="200"/>
              </a:spcAft>
            </a:pPr>
            <a:r>
              <a:rPr sz="1300" b="0">
                <a:solidFill>
                  <a:srgbClr val="ECEAF5"/>
                </a:solidFill>
                <a:latin typeface="Consolas"/>
                <a:ea typeface="Consolas"/>
                <a:cs typeface="Consolas"/>
              </a:rPr>
              <a:t>  price     </a:t>
            </a:r>
            <a:r>
              <a:rPr sz="1300" b="1">
                <a:solidFill>
                  <a:srgbClr val="FFD98A"/>
                </a:solidFill>
                <a:latin typeface="Consolas"/>
                <a:ea typeface="Consolas"/>
                <a:cs typeface="Consolas"/>
              </a:rPr>
              <a:t>INTEGER</a:t>
            </a:r>
            <a:r>
              <a:rPr sz="1300" b="0">
                <a:solidFill>
                  <a:srgbClr val="ECEA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300" b="1">
                <a:solidFill>
                  <a:srgbClr val="FFD98A"/>
                </a:solidFill>
                <a:latin typeface="Consolas"/>
                <a:ea typeface="Consolas"/>
                <a:cs typeface="Consolas"/>
              </a:rPr>
              <a:t>NOT</a:t>
            </a:r>
            <a:r>
              <a:rPr sz="1300" b="0">
                <a:solidFill>
                  <a:srgbClr val="ECEA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300" b="1">
                <a:solidFill>
                  <a:srgbClr val="FFD98A"/>
                </a:solidFill>
                <a:latin typeface="Consolas"/>
                <a:ea typeface="Consolas"/>
                <a:cs typeface="Consolas"/>
              </a:rPr>
              <a:t>NULL</a:t>
            </a:r>
            <a:r>
              <a:rPr sz="1300" b="0">
                <a:solidFill>
                  <a:srgbClr val="ECEAF5"/>
                </a:solidFill>
                <a:latin typeface="Consolas"/>
                <a:ea typeface="Consolas"/>
                <a:cs typeface="Consolas"/>
              </a:rPr>
              <a:t>,</a:t>
            </a:r>
          </a:p>
          <a:p>
            <a:pPr>
              <a:lnSpc>
                <a:spcPct val="116000"/>
              </a:lnSpc>
              <a:spcAft>
                <a:spcPts val="200"/>
              </a:spcAft>
            </a:pPr>
            <a:r>
              <a:rPr sz="1300" b="0">
                <a:solidFill>
                  <a:srgbClr val="ECEAF5"/>
                </a:solidFill>
                <a:latin typeface="Consolas"/>
                <a:ea typeface="Consolas"/>
                <a:cs typeface="Consolas"/>
              </a:rPr>
              <a:t>  farm      </a:t>
            </a:r>
            <a:r>
              <a:rPr sz="1300" b="1">
                <a:solidFill>
                  <a:srgbClr val="FFD98A"/>
                </a:solidFill>
                <a:latin typeface="Consolas"/>
                <a:ea typeface="Consolas"/>
                <a:cs typeface="Consolas"/>
              </a:rPr>
              <a:t>TEXT</a:t>
            </a:r>
            <a:r>
              <a:rPr sz="1300" b="0">
                <a:solidFill>
                  <a:srgbClr val="ECEAF5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300" b="1">
                <a:solidFill>
                  <a:srgbClr val="FFD98A"/>
                </a:solidFill>
                <a:latin typeface="Consolas"/>
                <a:ea typeface="Consolas"/>
                <a:cs typeface="Consolas"/>
              </a:rPr>
              <a:t>NOT</a:t>
            </a:r>
            <a:r>
              <a:rPr sz="1300" b="0">
                <a:solidFill>
                  <a:srgbClr val="ECEA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300" b="1">
                <a:solidFill>
                  <a:srgbClr val="FFD98A"/>
                </a:solidFill>
                <a:latin typeface="Consolas"/>
                <a:ea typeface="Consolas"/>
                <a:cs typeface="Consolas"/>
              </a:rPr>
              <a:t>NULL</a:t>
            </a:r>
            <a:r>
              <a:rPr sz="1300" b="0">
                <a:solidFill>
                  <a:srgbClr val="ECEAF5"/>
                </a:solidFill>
                <a:latin typeface="Consolas"/>
                <a:ea typeface="Consolas"/>
                <a:cs typeface="Consolas"/>
              </a:rPr>
              <a:t>,</a:t>
            </a:r>
          </a:p>
          <a:p>
            <a:pPr>
              <a:lnSpc>
                <a:spcPct val="116000"/>
              </a:lnSpc>
              <a:spcAft>
                <a:spcPts val="200"/>
              </a:spcAft>
            </a:pPr>
            <a:r>
              <a:rPr sz="1300" b="0">
                <a:solidFill>
                  <a:srgbClr val="ECEAF5"/>
                </a:solidFill>
                <a:latin typeface="Consolas"/>
                <a:ea typeface="Consolas"/>
                <a:cs typeface="Consolas"/>
              </a:rPr>
              <a:t>  date      </a:t>
            </a:r>
            <a:r>
              <a:rPr sz="1300" b="1">
                <a:solidFill>
                  <a:srgbClr val="FFD98A"/>
                </a:solidFill>
                <a:latin typeface="Consolas"/>
                <a:ea typeface="Consolas"/>
                <a:cs typeface="Consolas"/>
              </a:rPr>
              <a:t>TEXT</a:t>
            </a:r>
            <a:r>
              <a:rPr sz="1300" b="0">
                <a:solidFill>
                  <a:srgbClr val="ECEAF5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300" b="1">
                <a:solidFill>
                  <a:srgbClr val="FFD98A"/>
                </a:solidFill>
                <a:latin typeface="Consolas"/>
                <a:ea typeface="Consolas"/>
                <a:cs typeface="Consolas"/>
              </a:rPr>
              <a:t>NOT</a:t>
            </a:r>
            <a:r>
              <a:rPr sz="1300" b="0">
                <a:solidFill>
                  <a:srgbClr val="ECEA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300" b="1">
                <a:solidFill>
                  <a:srgbClr val="FFD98A"/>
                </a:solidFill>
                <a:latin typeface="Consolas"/>
                <a:ea typeface="Consolas"/>
                <a:cs typeface="Consolas"/>
              </a:rPr>
              <a:t>NULL</a:t>
            </a:r>
          </a:p>
          <a:p>
            <a:pPr>
              <a:lnSpc>
                <a:spcPct val="116000"/>
              </a:lnSpc>
              <a:spcAft>
                <a:spcPts val="200"/>
              </a:spcAft>
            </a:pPr>
            <a:r>
              <a:rPr sz="1300" b="0">
                <a:solidFill>
                  <a:srgbClr val="ECEAF5"/>
                </a:solidFill>
                <a:latin typeface="Consolas"/>
                <a:ea typeface="Consolas"/>
                <a:cs typeface="Consolas"/>
              </a:rPr>
              <a:t>);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4617720"/>
            <a:ext cx="5257800" cy="1645920"/>
          </a:xfrm>
          <a:prstGeom prst="roundRect">
            <a:avLst>
              <a:gd name="adj" fmla="val 9000"/>
            </a:avLst>
          </a:prstGeom>
          <a:solidFill>
            <a:srgbClr val="EEF7EF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537960" y="4800600"/>
            <a:ext cx="475488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100"/>
              </a:spcAft>
            </a:pPr>
            <a:r>
              <a:rPr sz="1250" b="1">
                <a:solidFill>
                  <a:srgbClr val="4FA854"/>
                </a:solidFill>
                <a:latin typeface="Meiryo"/>
                <a:ea typeface="Meiryo"/>
                <a:cs typeface="Meiryo"/>
              </a:rPr>
              <a:t>なぜ分ける？</a:t>
            </a:r>
            <a:r>
              <a:rPr sz="1250" b="0">
                <a:solidFill>
                  <a:srgbClr val="3A3550"/>
                </a:solidFill>
                <a:latin typeface="Meiryo"/>
                <a:ea typeface="Meiryo"/>
                <a:cs typeface="Meiryo"/>
              </a:rPr>
              <a:t>売上（sales）と商品（item）を別の表にし、共通の item_id でつなぐ。商品情報の重複がなくなり、管理がすっきりする。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50" b="1">
                <a:solidFill>
                  <a:srgbClr val="4FA854"/>
                </a:solidFill>
                <a:latin typeface="Meiryo"/>
                <a:ea typeface="Meiryo"/>
                <a:cs typeface="Meiryo"/>
              </a:rPr>
              <a:t>第5章　複数テーブルで管理しよう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sz="3100" b="1">
                <a:solidFill>
                  <a:srgbClr val="3A3550"/>
                </a:solidFill>
                <a:latin typeface="Meiryo"/>
                <a:ea typeface="Meiryo"/>
                <a:cs typeface="Meiryo"/>
              </a:rPr>
              <a:t>テーブルの結合・計算・書き出し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783080"/>
            <a:ext cx="6309360" cy="1600200"/>
          </a:xfrm>
          <a:prstGeom prst="roundRect">
            <a:avLst>
              <a:gd name="adj" fmla="val 6000"/>
            </a:avLst>
          </a:prstGeom>
          <a:solidFill>
            <a:srgbClr val="2B2937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86968" y="1984248"/>
            <a:ext cx="5907024" cy="12893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6000"/>
              </a:lnSpc>
              <a:spcAft>
                <a:spcPts val="200"/>
              </a:spcAft>
            </a:pPr>
            <a:r>
              <a:rPr sz="1250" b="1">
                <a:solidFill>
                  <a:srgbClr val="FFD98A"/>
                </a:solidFill>
                <a:latin typeface="Consolas"/>
                <a:ea typeface="Consolas"/>
                <a:cs typeface="Consolas"/>
              </a:rPr>
              <a:t>SELECT</a:t>
            </a:r>
            <a:r>
              <a:rPr sz="1250" b="0">
                <a:solidFill>
                  <a:srgbClr val="ECEAF5"/>
                </a:solidFill>
                <a:latin typeface="Consolas"/>
                <a:ea typeface="Consolas"/>
                <a:cs typeface="Consolas"/>
              </a:rPr>
              <a:t> sales</a:t>
            </a:r>
            <a:r>
              <a:rPr sz="1250" b="1">
                <a:solidFill>
                  <a:srgbClr val="8FD6FF"/>
                </a:solidFill>
                <a:latin typeface="Consolas"/>
                <a:ea typeface="Consolas"/>
                <a:cs typeface="Consolas"/>
              </a:rPr>
              <a:t>.date</a:t>
            </a:r>
            <a:r>
              <a:rPr sz="1250" b="0">
                <a:solidFill>
                  <a:srgbClr val="ECEAF5"/>
                </a:solidFill>
                <a:latin typeface="Consolas"/>
                <a:ea typeface="Consolas"/>
                <a:cs typeface="Consolas"/>
              </a:rPr>
              <a:t>, item_name, item_count, customer</a:t>
            </a:r>
          </a:p>
          <a:p>
            <a:pPr>
              <a:lnSpc>
                <a:spcPct val="116000"/>
              </a:lnSpc>
              <a:spcAft>
                <a:spcPts val="200"/>
              </a:spcAft>
            </a:pPr>
            <a:r>
              <a:rPr sz="1250" b="1">
                <a:solidFill>
                  <a:srgbClr val="FFD98A"/>
                </a:solidFill>
                <a:latin typeface="Consolas"/>
                <a:ea typeface="Consolas"/>
                <a:cs typeface="Consolas"/>
              </a:rPr>
              <a:t>FROM</a:t>
            </a:r>
            <a:r>
              <a:rPr sz="1250" b="0">
                <a:solidFill>
                  <a:srgbClr val="ECEAF5"/>
                </a:solidFill>
                <a:latin typeface="Consolas"/>
                <a:ea typeface="Consolas"/>
                <a:cs typeface="Consolas"/>
              </a:rPr>
              <a:t> sales</a:t>
            </a:r>
          </a:p>
          <a:p>
            <a:pPr>
              <a:lnSpc>
                <a:spcPct val="116000"/>
              </a:lnSpc>
              <a:spcAft>
                <a:spcPts val="200"/>
              </a:spcAft>
            </a:pPr>
            <a:r>
              <a:rPr sz="1250" b="1">
                <a:solidFill>
                  <a:srgbClr val="FFD98A"/>
                </a:solidFill>
                <a:latin typeface="Consolas"/>
                <a:ea typeface="Consolas"/>
                <a:cs typeface="Consolas"/>
              </a:rPr>
              <a:t>INNER</a:t>
            </a:r>
            <a:r>
              <a:rPr sz="1250" b="0">
                <a:solidFill>
                  <a:srgbClr val="ECEA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250" b="1">
                <a:solidFill>
                  <a:srgbClr val="FFD98A"/>
                </a:solidFill>
                <a:latin typeface="Consolas"/>
                <a:ea typeface="Consolas"/>
                <a:cs typeface="Consolas"/>
              </a:rPr>
              <a:t>JOIN</a:t>
            </a:r>
            <a:r>
              <a:rPr sz="1250" b="0">
                <a:solidFill>
                  <a:srgbClr val="ECEAF5"/>
                </a:solidFill>
                <a:latin typeface="Consolas"/>
                <a:ea typeface="Consolas"/>
                <a:cs typeface="Consolas"/>
              </a:rPr>
              <a:t> item </a:t>
            </a:r>
            <a:r>
              <a:rPr sz="1250" b="1">
                <a:solidFill>
                  <a:srgbClr val="FFD98A"/>
                </a:solidFill>
                <a:latin typeface="Consolas"/>
                <a:ea typeface="Consolas"/>
                <a:cs typeface="Consolas"/>
              </a:rPr>
              <a:t>ON</a:t>
            </a:r>
            <a:r>
              <a:rPr sz="1250" b="0">
                <a:solidFill>
                  <a:srgbClr val="ECEAF5"/>
                </a:solidFill>
                <a:latin typeface="Consolas"/>
                <a:ea typeface="Consolas"/>
                <a:cs typeface="Consolas"/>
              </a:rPr>
              <a:t> sales</a:t>
            </a:r>
            <a:r>
              <a:rPr sz="1250" b="1">
                <a:solidFill>
                  <a:srgbClr val="8FD6FF"/>
                </a:solidFill>
                <a:latin typeface="Consolas"/>
                <a:ea typeface="Consolas"/>
                <a:cs typeface="Consolas"/>
              </a:rPr>
              <a:t>.item</a:t>
            </a:r>
            <a:r>
              <a:rPr sz="1250" b="0">
                <a:solidFill>
                  <a:srgbClr val="ECEAF5"/>
                </a:solidFill>
                <a:latin typeface="Consolas"/>
                <a:ea typeface="Consolas"/>
                <a:cs typeface="Consolas"/>
              </a:rPr>
              <a:t>_id = item</a:t>
            </a:r>
            <a:r>
              <a:rPr sz="1250" b="1">
                <a:solidFill>
                  <a:srgbClr val="8FD6FF"/>
                </a:solidFill>
                <a:latin typeface="Consolas"/>
                <a:ea typeface="Consolas"/>
                <a:cs typeface="Consolas"/>
              </a:rPr>
              <a:t>.item</a:t>
            </a:r>
            <a:r>
              <a:rPr sz="1250" b="0">
                <a:solidFill>
                  <a:srgbClr val="ECEAF5"/>
                </a:solidFill>
                <a:latin typeface="Consolas"/>
                <a:ea typeface="Consolas"/>
                <a:cs typeface="Consolas"/>
              </a:rPr>
              <a:t>_id;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3611880"/>
            <a:ext cx="6309360" cy="566928"/>
          </a:xfrm>
          <a:prstGeom prst="roundRect">
            <a:avLst>
              <a:gd name="adj" fmla="val 14000"/>
            </a:avLst>
          </a:prstGeom>
          <a:solidFill>
            <a:srgbClr val="EEF7EF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3611880"/>
            <a:ext cx="585216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180" b="1">
                <a:solidFill>
                  <a:srgbClr val="4FA854"/>
                </a:solidFill>
                <a:latin typeface="Meiryo"/>
                <a:ea typeface="Meiryo"/>
                <a:cs typeface="Meiryo"/>
              </a:rPr>
              <a:t>INNER JOIN … ON　</a:t>
            </a:r>
            <a:r>
              <a:rPr sz="1180" b="0">
                <a:solidFill>
                  <a:srgbClr val="3A3550"/>
                </a:solidFill>
                <a:latin typeface="Meiryo"/>
                <a:ea typeface="Meiryo"/>
                <a:cs typeface="Meiryo"/>
              </a:rPr>
              <a:t>共通の列（item_id）で2つの表を合体させる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4224528"/>
            <a:ext cx="6309360" cy="566928"/>
          </a:xfrm>
          <a:prstGeom prst="roundRect">
            <a:avLst>
              <a:gd name="adj" fmla="val 14000"/>
            </a:avLst>
          </a:prstGeom>
          <a:solidFill>
            <a:srgbClr val="EEF7EF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4224528"/>
            <a:ext cx="585216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180" b="1">
                <a:solidFill>
                  <a:srgbClr val="4FA854"/>
                </a:solidFill>
                <a:latin typeface="Meiryo"/>
                <a:ea typeface="Meiryo"/>
                <a:cs typeface="Meiryo"/>
              </a:rPr>
              <a:t>計算する　</a:t>
            </a:r>
            <a:r>
              <a:rPr sz="1180" b="0">
                <a:solidFill>
                  <a:srgbClr val="3A3550"/>
                </a:solidFill>
                <a:latin typeface="Meiryo"/>
                <a:ea typeface="Meiryo"/>
                <a:cs typeface="Meiryo"/>
              </a:rPr>
              <a:t>item_count * price（＋ − ＊ ／ ％）、ASで別名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4837176"/>
            <a:ext cx="6309360" cy="566928"/>
          </a:xfrm>
          <a:prstGeom prst="roundRect">
            <a:avLst>
              <a:gd name="adj" fmla="val 14000"/>
            </a:avLst>
          </a:prstGeom>
          <a:solidFill>
            <a:srgbClr val="EEF7EF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14400" y="4837176"/>
            <a:ext cx="585216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180" b="1">
                <a:solidFill>
                  <a:srgbClr val="4FA854"/>
                </a:solidFill>
                <a:latin typeface="Meiryo"/>
                <a:ea typeface="Meiryo"/>
                <a:cs typeface="Meiryo"/>
              </a:rPr>
              <a:t>集計と併用　</a:t>
            </a:r>
            <a:r>
              <a:rPr sz="1180" b="0">
                <a:solidFill>
                  <a:srgbClr val="3A3550"/>
                </a:solidFill>
                <a:latin typeface="Meiryo"/>
                <a:ea typeface="Meiryo"/>
                <a:cs typeface="Meiryo"/>
              </a:rPr>
              <a:t>SUM(item_count * price) で合計金額も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5449824"/>
            <a:ext cx="6309360" cy="566928"/>
          </a:xfrm>
          <a:prstGeom prst="roundRect">
            <a:avLst>
              <a:gd name="adj" fmla="val 14000"/>
            </a:avLst>
          </a:prstGeom>
          <a:solidFill>
            <a:srgbClr val="EEF7EF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14400" y="5449824"/>
            <a:ext cx="585216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180" b="1">
                <a:solidFill>
                  <a:srgbClr val="4FA854"/>
                </a:solidFill>
                <a:latin typeface="Meiryo"/>
                <a:ea typeface="Meiryo"/>
                <a:cs typeface="Meiryo"/>
              </a:rPr>
              <a:t>.mode csv / .once　</a:t>
            </a:r>
            <a:r>
              <a:rPr sz="1180" b="0">
                <a:solidFill>
                  <a:srgbClr val="3A3550"/>
                </a:solidFill>
                <a:latin typeface="Meiryo"/>
                <a:ea typeface="Meiryo"/>
                <a:cs typeface="Meiryo"/>
              </a:rPr>
              <a:t>結果をCSVに書き出し、Excelで開ける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96328" y="1892807"/>
            <a:ext cx="4352544" cy="1698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6" name="Picture 15" descr="LESSON24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9480" y="1965960"/>
            <a:ext cx="4206240" cy="1551936"/>
          </a:xfrm>
          <a:prstGeom prst="rect">
            <a:avLst/>
          </a:prstGeom>
          <a:ln w="12700">
            <a:solidFill>
              <a:srgbClr val="EFE9DF"/>
            </a:solidFill>
          </a:ln>
        </p:spPr>
      </p:pic>
      <p:sp>
        <p:nvSpPr>
          <p:cNvPr id="17" name="TextBox 16"/>
          <p:cNvSpPr txBox="1"/>
          <p:nvPr/>
        </p:nvSpPr>
        <p:spPr>
          <a:xfrm>
            <a:off x="7269480" y="3645912"/>
            <a:ext cx="4206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100" b="1">
                <a:solidFill>
                  <a:srgbClr val="4FA854"/>
                </a:solidFill>
                <a:latin typeface="Meiryo"/>
                <a:ea typeface="Meiryo"/>
                <a:cs typeface="Meiryo"/>
              </a:rPr>
              <a:t>▲ sales と item を結合した結果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107899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sz="3100" b="1">
                <a:solidFill>
                  <a:srgbClr val="3A3550"/>
                </a:solidFill>
                <a:latin typeface="Meiryo"/>
                <a:ea typeface="Meiryo"/>
                <a:cs typeface="Meiryo"/>
              </a:rPr>
              <a:t>まとめ ― そして次のステップへ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54480"/>
            <a:ext cx="5760720" cy="29302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700" b="1" dirty="0" err="1">
                <a:solidFill>
                  <a:srgbClr val="3A3550"/>
                </a:solidFill>
                <a:latin typeface="Meiryo"/>
                <a:ea typeface="Meiryo"/>
                <a:cs typeface="Meiryo"/>
              </a:rPr>
              <a:t>身についたSQL</a:t>
            </a:r>
            <a:endParaRPr sz="1700" b="1" dirty="0">
              <a:solidFill>
                <a:srgbClr val="3A3550"/>
              </a:solidFill>
              <a:latin typeface="Meiryo"/>
              <a:ea typeface="Meiryo"/>
              <a:cs typeface="Meiryo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685800" y="2148840"/>
            <a:ext cx="1197864" cy="530352"/>
          </a:xfrm>
          <a:prstGeom prst="roundRect">
            <a:avLst>
              <a:gd name="adj" fmla="val 50000"/>
            </a:avLst>
          </a:prstGeom>
          <a:solidFill>
            <a:srgbClr val="F06F9C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2148840"/>
            <a:ext cx="1197864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25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SELECT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66543" y="2148840"/>
            <a:ext cx="1074420" cy="530352"/>
          </a:xfrm>
          <a:prstGeom prst="roundRect">
            <a:avLst>
              <a:gd name="adj" fmla="val 50000"/>
            </a:avLst>
          </a:prstGeom>
          <a:solidFill>
            <a:srgbClr val="F06F9C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066543" y="2148840"/>
            <a:ext cx="107442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25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WHERE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23844" y="2148840"/>
            <a:ext cx="1316736" cy="530352"/>
          </a:xfrm>
          <a:prstGeom prst="roundRect">
            <a:avLst>
              <a:gd name="adj" fmla="val 50000"/>
            </a:avLst>
          </a:prstGeom>
          <a:solidFill>
            <a:srgbClr val="8A5CC7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323844" y="2148840"/>
            <a:ext cx="1316736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25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集計関数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807208"/>
            <a:ext cx="2555748" cy="530352"/>
          </a:xfrm>
          <a:prstGeom prst="roundRect">
            <a:avLst>
              <a:gd name="adj" fmla="val 50000"/>
            </a:avLst>
          </a:prstGeom>
          <a:solidFill>
            <a:srgbClr val="8A5CC7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85800" y="2807208"/>
            <a:ext cx="2555748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25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GROUP BY / HAVING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24428" y="2807208"/>
            <a:ext cx="1444752" cy="530352"/>
          </a:xfrm>
          <a:prstGeom prst="roundRect">
            <a:avLst>
              <a:gd name="adj" fmla="val 50000"/>
            </a:avLst>
          </a:prstGeom>
          <a:solidFill>
            <a:srgbClr val="8A5CC7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424428" y="2807208"/>
            <a:ext cx="1444752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25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ORDER BY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3465576"/>
            <a:ext cx="3419856" cy="530352"/>
          </a:xfrm>
          <a:prstGeom prst="roundRect">
            <a:avLst>
              <a:gd name="adj" fmla="val 50000"/>
            </a:avLst>
          </a:prstGeom>
          <a:solidFill>
            <a:srgbClr val="EF8A2B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85800" y="3465576"/>
            <a:ext cx="3419856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25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INSERT / UPDATE / DELETE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88536" y="3465576"/>
            <a:ext cx="1938528" cy="530352"/>
          </a:xfrm>
          <a:prstGeom prst="roundRect">
            <a:avLst>
              <a:gd name="adj" fmla="val 50000"/>
            </a:avLst>
          </a:prstGeom>
          <a:solidFill>
            <a:srgbClr val="4FA854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288536" y="3465576"/>
            <a:ext cx="1938528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25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CREATE TABLE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4123944"/>
            <a:ext cx="1691640" cy="530352"/>
          </a:xfrm>
          <a:prstGeom prst="roundRect">
            <a:avLst>
              <a:gd name="adj" fmla="val 50000"/>
            </a:avLst>
          </a:prstGeom>
          <a:solidFill>
            <a:srgbClr val="4FA854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85800" y="4123944"/>
            <a:ext cx="169164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25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INNER JOIN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720840" y="1783080"/>
            <a:ext cx="4800600" cy="3200400"/>
          </a:xfrm>
          <a:prstGeom prst="roundRect">
            <a:avLst>
              <a:gd name="adj" fmla="val 9000"/>
            </a:avLst>
          </a:prstGeom>
          <a:solidFill>
            <a:srgbClr val="FFEFEF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976872" y="1984248"/>
            <a:ext cx="4343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50" b="1">
                <a:solidFill>
                  <a:srgbClr val="FF6B6B"/>
                </a:solidFill>
                <a:latin typeface="Meiryo"/>
                <a:ea typeface="Meiryo"/>
                <a:cs typeface="Meiryo"/>
              </a:rPr>
              <a:t>次に学ぶと広がること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76872" y="2569464"/>
            <a:ext cx="4343400" cy="2286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280" b="0">
                <a:solidFill>
                  <a:srgbClr val="3A3550"/>
                </a:solidFill>
                <a:latin typeface="Meiryo"/>
                <a:ea typeface="Meiryo"/>
                <a:cs typeface="Meiryo"/>
              </a:rPr>
              <a:t>・サブクエリ（SQL文の中に SQL文を入れる）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280" b="0">
                <a:solidFill>
                  <a:srgbClr val="3A3550"/>
                </a:solidFill>
                <a:latin typeface="Meiryo"/>
                <a:ea typeface="Meiryo"/>
                <a:cs typeface="Meiryo"/>
              </a:rPr>
              <a:t>・3つ以上のテーブルの結合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280" b="0">
                <a:solidFill>
                  <a:srgbClr val="3A3550"/>
                </a:solidFill>
                <a:latin typeface="Meiryo"/>
                <a:ea typeface="Meiryo"/>
                <a:cs typeface="Meiryo"/>
              </a:rPr>
              <a:t>・他の RDBMS（MySQL・PostgreSQL など）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280" b="0">
                <a:solidFill>
                  <a:srgbClr val="3A3550"/>
                </a:solidFill>
                <a:latin typeface="Meiryo"/>
                <a:ea typeface="Meiryo"/>
                <a:cs typeface="Meiryo"/>
              </a:rPr>
              <a:t>・日付関数・算術関数など、便利な関数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" y="5349240"/>
            <a:ext cx="10835640" cy="914400"/>
          </a:xfrm>
          <a:prstGeom prst="roundRect">
            <a:avLst>
              <a:gd name="adj" fmla="val 20000"/>
            </a:avLst>
          </a:prstGeom>
          <a:solidFill>
            <a:srgbClr val="F06F9C"/>
          </a:solidFill>
          <a:ln>
            <a:noFill/>
          </a:ln>
          <a:effectLst>
            <a:outerShdw blurRad="90000" dist="32000" dir="5400000" rotWithShape="0">
              <a:srgbClr val="9A8F7A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85800" y="5349240"/>
            <a:ext cx="1083564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おつかれさまでした！　まずは自分の手で SELECT を打つところから始めましょう。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63</TotalTime>
  <Words>1589</Words>
  <Application>Microsoft Office PowerPoint</Application>
  <PresentationFormat>ワイド画面</PresentationFormat>
  <Paragraphs>219</Paragraphs>
  <Slides>18</Slides>
  <Notes>18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18</vt:i4>
      </vt:variant>
    </vt:vector>
  </HeadingPairs>
  <TitlesOfParts>
    <vt:vector size="23" baseType="lpstr">
      <vt:lpstr>Meiryo</vt:lpstr>
      <vt:lpstr>Arial</vt:lpstr>
      <vt:lpstr>Calibri</vt:lpstr>
      <vt:lpstr>Consolas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精工 パーツ</cp:lastModifiedBy>
  <cp:revision>3</cp:revision>
  <dcterms:created xsi:type="dcterms:W3CDTF">2013-01-27T09:14:16Z</dcterms:created>
  <dcterms:modified xsi:type="dcterms:W3CDTF">2026-08-05T06:09:23Z</dcterms:modified>
  <cp:category/>
</cp:coreProperties>
</file>