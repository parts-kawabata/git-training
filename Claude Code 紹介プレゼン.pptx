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70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83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653061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altLang="en-US" dirty="0"/>
              <a:t>「ストーリーで覚える</a:t>
            </a:r>
            <a:r>
              <a:rPr lang="en-US" altLang="ja-JP" dirty="0"/>
              <a:t>Claude Code</a:t>
            </a:r>
            <a:r>
              <a:rPr lang="ja-JP" altLang="en-US" dirty="0"/>
              <a:t>開発ガイド」の書籍をまとめた</a:t>
            </a:r>
            <a:r>
              <a:rPr lang="en-US" altLang="ja-JP" dirty="0"/>
              <a:t>PowerPoint</a:t>
            </a:r>
            <a:r>
              <a:rPr lang="ja-JP" altLang="en-US" dirty="0"/>
              <a:t>を発表させていただきます。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全体の流れです。物語は8章構成</a:t>
            </a:r>
            <a:r>
              <a:rPr lang="ja-JP" altLang="en-US" dirty="0"/>
              <a:t>です</a:t>
            </a:r>
            <a:r>
              <a:rPr dirty="0"/>
              <a:t>。第1章から3章は“個人として使いこなす”段階、第4章から6章は“大規模なコードとチームの品質”に踏み込む段階、第7</a:t>
            </a:r>
            <a:r>
              <a:rPr lang="ja-JP" altLang="en-US" dirty="0"/>
              <a:t>章</a:t>
            </a:r>
            <a:r>
              <a:rPr dirty="0"/>
              <a:t>・8章は“チームへの広げ方と、これからのエンジニア像”を扱います。各章『どんな壁にぶつかり』『Claude Code </a:t>
            </a:r>
            <a:r>
              <a:rPr dirty="0" err="1"/>
              <a:t>でどう越え</a:t>
            </a:r>
            <a:r>
              <a:rPr dirty="0"/>
              <a:t>』『</a:t>
            </a:r>
            <a:r>
              <a:rPr dirty="0" err="1"/>
              <a:t>どれだけ短縮できたか』の順でご紹介します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まず</a:t>
            </a:r>
            <a:r>
              <a:rPr dirty="0"/>
              <a:t> Claude Code </a:t>
            </a:r>
            <a:r>
              <a:rPr dirty="0" err="1"/>
              <a:t>とは何か。よくある“コード補完”との違いがポイントです。補完ツールは次の一行を提案してくれますが、組み立てるのは人間</a:t>
            </a:r>
            <a:r>
              <a:rPr lang="ja-JP" altLang="en-US" dirty="0"/>
              <a:t>です</a:t>
            </a:r>
            <a:r>
              <a:rPr dirty="0"/>
              <a:t>。</a:t>
            </a:r>
            <a:r>
              <a:rPr dirty="0" err="1"/>
              <a:t>一方</a:t>
            </a:r>
            <a:r>
              <a:rPr dirty="0"/>
              <a:t> Claude Code </a:t>
            </a:r>
            <a:r>
              <a:rPr dirty="0" err="1"/>
              <a:t>は“エージェント</a:t>
            </a:r>
            <a:r>
              <a:rPr dirty="0"/>
              <a:t>”</a:t>
            </a:r>
            <a:r>
              <a:rPr lang="ja-JP" altLang="en-US" dirty="0"/>
              <a:t>で、</a:t>
            </a:r>
            <a:r>
              <a:rPr dirty="0"/>
              <a:t>やりたいことを日本語で伝えると、複数のファイルをまたいで、設計から実装・テスト・修正までを自分で進めます。人間は手を動かす係から、“判断する係”に変わる</a:t>
            </a:r>
            <a:r>
              <a:rPr lang="ja-JP" altLang="en-US" dirty="0"/>
              <a:t>というところが、</a:t>
            </a:r>
            <a:r>
              <a:rPr dirty="0" err="1"/>
              <a:t>この物語全体のテーマです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第1章。田中さんは部長から『2週間でデモを』と無茶な</a:t>
            </a:r>
            <a:r>
              <a:rPr lang="ja-JP" altLang="en-US" dirty="0"/>
              <a:t>依頼</a:t>
            </a:r>
            <a:r>
              <a:rPr dirty="0" err="1"/>
              <a:t>を受けます。設計の入口で固まっていたところに、先輩の佐藤さんがClaude</a:t>
            </a:r>
            <a:r>
              <a:rPr dirty="0"/>
              <a:t> Code</a:t>
            </a:r>
            <a:r>
              <a:rPr lang="ja-JP" altLang="en-US" dirty="0"/>
              <a:t>という存在を教えて</a:t>
            </a:r>
            <a:r>
              <a:rPr lang="ja-JP" altLang="en-US"/>
              <a:t>くれます。</a:t>
            </a:r>
            <a:r>
              <a:t>使い方はこの</a:t>
            </a:r>
            <a:r>
              <a:rPr dirty="0"/>
              <a:t>4ステップ</a:t>
            </a:r>
            <a:r>
              <a:rPr lang="ja-JP" altLang="en-US" dirty="0"/>
              <a:t>です</a:t>
            </a:r>
            <a:r>
              <a:rPr dirty="0"/>
              <a:t>。</a:t>
            </a:r>
            <a:r>
              <a:rPr dirty="0" err="1"/>
              <a:t>雛形を作り、項目を足し、検証を入れ、形を整える。すべて日本語の対話で進み、提案を見て一箇所だけ直す、というキャッチボール</a:t>
            </a:r>
            <a:r>
              <a:rPr lang="ja-JP" altLang="en-US" dirty="0"/>
              <a:t>です</a:t>
            </a:r>
            <a:r>
              <a:rPr dirty="0"/>
              <a:t>。結果、2週間の見積もりが半日で動くプロトタイプに</a:t>
            </a:r>
            <a:r>
              <a:rPr lang="ja-JP" altLang="en-US" dirty="0"/>
              <a:t>なりました</a:t>
            </a:r>
            <a:r>
              <a:rPr dirty="0"/>
              <a:t>。これが最初の衝撃です。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第1章で</a:t>
            </a:r>
            <a:r>
              <a:rPr lang="ja-JP" altLang="en-US" dirty="0"/>
              <a:t>田中さんが</a:t>
            </a:r>
            <a:r>
              <a:rPr dirty="0" err="1"/>
              <a:t>自信満々に出したコードに、レビューは“規約に沿っていない”の</a:t>
            </a:r>
            <a:r>
              <a:rPr lang="ja-JP" altLang="en-US" dirty="0"/>
              <a:t>コメントが多数つきます</a:t>
            </a:r>
            <a:r>
              <a:rPr dirty="0"/>
              <a:t>。</a:t>
            </a:r>
            <a:r>
              <a:rPr dirty="0" err="1"/>
              <a:t>そこで登場するのが</a:t>
            </a:r>
            <a:r>
              <a:rPr dirty="0"/>
              <a:t> CLAUDE.md</a:t>
            </a:r>
            <a:r>
              <a:rPr lang="ja-JP" altLang="en-US" dirty="0"/>
              <a:t>です</a:t>
            </a:r>
            <a:r>
              <a:rPr dirty="0"/>
              <a:t>。</a:t>
            </a:r>
            <a:r>
              <a:rPr dirty="0" err="1"/>
              <a:t>命名や例外処理、層構成といったチームの約束を一枚にまとめて置いておくと、Claude</a:t>
            </a:r>
            <a:r>
              <a:rPr dirty="0"/>
              <a:t> Code </a:t>
            </a:r>
            <a:r>
              <a:rPr dirty="0" err="1"/>
              <a:t>が起動時に自動で読み込み、最初からルール通りに書いてくれます。さらに</a:t>
            </a:r>
            <a:r>
              <a:rPr dirty="0"/>
              <a:t> Skills </a:t>
            </a:r>
            <a:r>
              <a:rPr dirty="0" err="1"/>
              <a:t>を使えば</a:t>
            </a:r>
            <a:r>
              <a:rPr dirty="0"/>
              <a:t>、/review や /test </a:t>
            </a:r>
            <a:r>
              <a:rPr dirty="0" err="1"/>
              <a:t>の一言で定型作業が完了</a:t>
            </a:r>
            <a:r>
              <a:rPr lang="ja-JP" altLang="en-US" dirty="0"/>
              <a:t>します</a:t>
            </a:r>
            <a:r>
              <a:rPr dirty="0"/>
              <a:t>。</a:t>
            </a:r>
            <a:r>
              <a:rPr dirty="0" err="1"/>
              <a:t>一度の準備で、その後ずっと品質が揃う</a:t>
            </a:r>
            <a:r>
              <a:rPr dirty="0"/>
              <a:t>――これが第2章です。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第3章のテーマは“段取り”</a:t>
            </a:r>
            <a:r>
              <a:rPr lang="ja-JP" altLang="en-US" dirty="0"/>
              <a:t>です</a:t>
            </a:r>
            <a:r>
              <a:rPr dirty="0"/>
              <a:t>。</a:t>
            </a:r>
            <a:r>
              <a:rPr dirty="0" err="1"/>
              <a:t>プロトタイプを本番品質にするには大量のテストが要</a:t>
            </a:r>
            <a:r>
              <a:rPr lang="ja-JP" altLang="en-US" dirty="0"/>
              <a:t>ります</a:t>
            </a:r>
            <a:r>
              <a:rPr dirty="0"/>
              <a:t>。</a:t>
            </a:r>
            <a:r>
              <a:rPr dirty="0" err="1"/>
              <a:t>ここで</a:t>
            </a:r>
            <a:r>
              <a:rPr dirty="0"/>
              <a:t> Plan mode </a:t>
            </a:r>
            <a:r>
              <a:rPr dirty="0" err="1"/>
              <a:t>の出番です。Shift+Tab</a:t>
            </a:r>
            <a:r>
              <a:rPr dirty="0"/>
              <a:t> </a:t>
            </a:r>
            <a:r>
              <a:rPr dirty="0" err="1"/>
              <a:t>で切り替えると、AIはいきなり書かず、まず計画と優先順位を提案します。そしてテストを量産</a:t>
            </a:r>
            <a:r>
              <a:rPr lang="ja-JP" altLang="en-US" dirty="0"/>
              <a:t>します</a:t>
            </a:r>
            <a:r>
              <a:rPr dirty="0"/>
              <a:t>。面白いのが8割2割の法則で、生成テストの8割はそのまま使え、残り2割だけ業務知識で人が直</a:t>
            </a:r>
            <a:r>
              <a:rPr lang="ja-JP" altLang="en-US" dirty="0"/>
              <a:t>します</a:t>
            </a:r>
            <a:r>
              <a:rPr dirty="0"/>
              <a:t>。AIが量、人が質。この分担で、数週間の作業が1週間に縮みました。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第4章は“他人の巨大コード”との格闘</a:t>
            </a:r>
            <a:r>
              <a:rPr lang="ja-JP" altLang="en-US" dirty="0"/>
              <a:t>です</a:t>
            </a:r>
            <a:r>
              <a:rPr dirty="0"/>
              <a:t>。前任者が辞め、800ファイル</a:t>
            </a:r>
            <a:r>
              <a:rPr lang="ja-JP" altLang="en-US" dirty="0"/>
              <a:t>以上、</a:t>
            </a:r>
            <a:r>
              <a:rPr dirty="0"/>
              <a:t>10万行を引き継ぐことに</a:t>
            </a:r>
            <a:r>
              <a:rPr lang="ja-JP" altLang="en-US" dirty="0"/>
              <a:t>なりました</a:t>
            </a:r>
            <a:r>
              <a:rPr dirty="0"/>
              <a:t>。2時間読んでも全体像はつかめ</a:t>
            </a:r>
            <a:r>
              <a:rPr lang="ja-JP" altLang="en-US" dirty="0"/>
              <a:t>ず、</a:t>
            </a:r>
            <a:r>
              <a:rPr dirty="0" err="1"/>
              <a:t>そこで『全体構造を説明して</a:t>
            </a:r>
            <a:r>
              <a:rPr dirty="0"/>
              <a:t>』</a:t>
            </a:r>
            <a:r>
              <a:rPr lang="ja-JP" altLang="en-US" dirty="0"/>
              <a:t>と依頼しました</a:t>
            </a:r>
            <a:r>
              <a:rPr dirty="0"/>
              <a:t>。するとパッケージ構成やAPI一覧が地図のように描かれ、15分で頭に入りました。さらに本番のタイムアウト障害も、スタックトレースを貼るだけで“N+1クエリ”と即特定</a:t>
            </a:r>
            <a:r>
              <a:rPr lang="ja-JP" altLang="en-US" dirty="0"/>
              <a:t>されました</a:t>
            </a:r>
            <a:r>
              <a:rPr dirty="0"/>
              <a:t>。1リクエストが裏で大量のクエリを呼ぶ典型バグを、AIが1分で見抜</a:t>
            </a:r>
            <a:r>
              <a:rPr lang="ja-JP" altLang="en-US" dirty="0"/>
              <a:t>きました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第5章は“速さ”の章であり、“落とし穴”の章でもあります。Subagent </a:t>
            </a:r>
            <a:r>
              <a:rPr dirty="0" err="1"/>
              <a:t>で複数タスクを手分けし、git</a:t>
            </a:r>
            <a:r>
              <a:rPr dirty="0"/>
              <a:t> </a:t>
            </a:r>
            <a:r>
              <a:rPr dirty="0" err="1"/>
              <a:t>worktree</a:t>
            </a:r>
            <a:r>
              <a:rPr dirty="0"/>
              <a:t> で作業場を分ければ、大規模リファクタの最中に緊急修正が来ても、別の作業場で15分で対応して戻れ</a:t>
            </a:r>
            <a:r>
              <a:rPr lang="ja-JP" altLang="en-US" dirty="0"/>
              <a:t>ます</a:t>
            </a:r>
            <a:r>
              <a:rPr dirty="0"/>
              <a:t>。</a:t>
            </a:r>
            <a:r>
              <a:rPr dirty="0" err="1"/>
              <a:t>ところが、AIが良かれと思って“統一的に”直しすぎ、想定外の型崩れを生んでい</a:t>
            </a:r>
            <a:r>
              <a:rPr lang="ja-JP" altLang="en-US" dirty="0"/>
              <a:t>ました</a:t>
            </a:r>
            <a:r>
              <a:rPr dirty="0"/>
              <a:t>。</a:t>
            </a:r>
            <a:r>
              <a:rPr dirty="0" err="1"/>
              <a:t>だからこそ最後は人が</a:t>
            </a:r>
            <a:r>
              <a:rPr dirty="0"/>
              <a:t> diff </a:t>
            </a:r>
            <a:r>
              <a:rPr dirty="0" err="1"/>
              <a:t>を見て判断する。この“レビューの儀式”が品質を守ります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第6章。便利さが評判になり、チーム中からAI生成コードのPRが押し寄せ</a:t>
            </a:r>
            <a:r>
              <a:rPr lang="ja-JP" altLang="en-US" dirty="0"/>
              <a:t>、</a:t>
            </a:r>
            <a:r>
              <a:rPr dirty="0" err="1"/>
              <a:t>レビューが溶けてい</a:t>
            </a:r>
            <a:r>
              <a:rPr lang="ja-JP" altLang="en-US" dirty="0"/>
              <a:t>きます</a:t>
            </a:r>
            <a:r>
              <a:rPr dirty="0"/>
              <a:t>。</a:t>
            </a:r>
            <a:r>
              <a:rPr dirty="0" err="1"/>
              <a:t>佐藤さんの答えは『AIのコードは、AIにレビューさせればいい</a:t>
            </a:r>
            <a:r>
              <a:rPr dirty="0"/>
              <a:t>』</a:t>
            </a:r>
            <a:r>
              <a:rPr lang="ja-JP" altLang="en-US" dirty="0"/>
              <a:t>ということでした</a:t>
            </a:r>
            <a:r>
              <a:rPr dirty="0"/>
              <a:t>。</a:t>
            </a:r>
            <a:r>
              <a:rPr dirty="0" err="1"/>
              <a:t>セキュリティや作り込み過ぎを自動で指摘させ、hooks</a:t>
            </a:r>
            <a:r>
              <a:rPr dirty="0"/>
              <a:t> </a:t>
            </a:r>
            <a:r>
              <a:rPr dirty="0" err="1"/>
              <a:t>で実行の前後に品質チェックを“関所”として挟み、MCP</a:t>
            </a:r>
            <a:r>
              <a:rPr dirty="0"/>
              <a:t> で Jira ともつなぐ。CLAUDE.md から始まった7つのpiecesが噛み合った瞬間、個人技が“チームの開発プロセス”へと昇華します。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第7章は“人”の章</a:t>
            </a:r>
            <a:r>
              <a:rPr lang="ja-JP" altLang="en-US" dirty="0"/>
              <a:t>です</a:t>
            </a:r>
            <a:r>
              <a:rPr dirty="0"/>
              <a:t>。</a:t>
            </a:r>
            <a:r>
              <a:rPr dirty="0" err="1"/>
              <a:t>部長から『チーム全体で推進せよ』と号令が下りますが、正面から勧めると押しつけに見えて空回り</a:t>
            </a:r>
            <a:r>
              <a:rPr lang="ja-JP" altLang="en-US" dirty="0"/>
              <a:t>してしまいました</a:t>
            </a:r>
            <a:r>
              <a:rPr dirty="0"/>
              <a:t>。</a:t>
            </a:r>
            <a:r>
              <a:rPr dirty="0" err="1"/>
              <a:t>そこで田中さんは作戦を変え</a:t>
            </a:r>
            <a:r>
              <a:rPr lang="ja-JP" altLang="en-US" dirty="0"/>
              <a:t>、</a:t>
            </a:r>
            <a:r>
              <a:rPr dirty="0" err="1"/>
              <a:t>Slackの開発ログに、成果をただ淡々と投稿し続け</a:t>
            </a:r>
            <a:r>
              <a:rPr lang="ja-JP" altLang="en-US" dirty="0"/>
              <a:t>ました</a:t>
            </a:r>
            <a:r>
              <a:rPr dirty="0"/>
              <a:t>。『バグ修正が2時間から30分』といった数字は雄弁です。最初の3日は無反応でも、3週間でチームの半数が自分から使い始め</a:t>
            </a:r>
            <a:r>
              <a:rPr lang="ja-JP" altLang="en-US" dirty="0"/>
              <a:t>ることに成功しました</a:t>
            </a:r>
            <a:r>
              <a:rPr dirty="0"/>
              <a:t>。</a:t>
            </a:r>
            <a:r>
              <a:rPr dirty="0" err="1"/>
              <a:t>人を動かすのは号令ではなく</a:t>
            </a:r>
            <a:r>
              <a:rPr dirty="0"/>
              <a:t>、</a:t>
            </a:r>
            <a:r>
              <a:rPr lang="ja-JP" altLang="en-US" dirty="0"/>
              <a:t>数字で表される</a:t>
            </a:r>
            <a:r>
              <a:rPr dirty="0" err="1"/>
              <a:t>結果</a:t>
            </a:r>
            <a:r>
              <a:rPr lang="ja-JP" altLang="en-US" dirty="0"/>
              <a:t>でした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最終章</a:t>
            </a:r>
            <a:r>
              <a:rPr lang="ja-JP" altLang="en-US" dirty="0"/>
              <a:t>の</a:t>
            </a:r>
            <a:r>
              <a:rPr dirty="0"/>
              <a:t>第8章</a:t>
            </a:r>
            <a:r>
              <a:rPr lang="ja-JP" altLang="en-US" dirty="0"/>
              <a:t>では、</a:t>
            </a:r>
            <a:r>
              <a:rPr dirty="0"/>
              <a:t>『マルチエージェントでプロジェクトを丸ごと自動化』というニュースに、田中さんは『半年の努力が無価値になるのでは』と揺れます。佐藤さんの答えはこうで</a:t>
            </a:r>
            <a:r>
              <a:rPr lang="ja-JP" altLang="en-US" dirty="0"/>
              <a:t>した</a:t>
            </a:r>
            <a:r>
              <a:rPr dirty="0"/>
              <a:t>。手で書く価値も、読む価値さえも下がるかもしれない。けれど“システム全体を立体的に組み立て、これは正しいかと判断する力”は人に残る。手を動かす力とAIを使う力の掛け算こそ、これからのエンジニアの価値なんだ、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altLang="en-US" dirty="0"/>
              <a:t>田中さんの</a:t>
            </a:r>
            <a:r>
              <a:rPr dirty="0"/>
              <a:t>ここまでの効果を数字で振り返ります。プロトタイプは2週間が半日、10万行の把握は2時間超が15分、バグ原因特定は1分、テスト整備は1週間、日々のバグ修正は30分、そしてチーム普及は3週間で半数。どれも“ちょっと速くなった”ではなく、桁が変わっています。これが、Claude Code </a:t>
            </a:r>
            <a:r>
              <a:rPr dirty="0" err="1"/>
              <a:t>を一度使うと手放せなくなる理由です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“</a:t>
            </a:r>
            <a:r>
              <a:rPr dirty="0" err="1"/>
              <a:t>じゃあ何を使えばいいの</a:t>
            </a:r>
            <a:r>
              <a:rPr lang="ja-JP" altLang="en-US" dirty="0"/>
              <a:t>か</a:t>
            </a:r>
            <a:r>
              <a:rPr dirty="0"/>
              <a:t>”</a:t>
            </a:r>
            <a:r>
              <a:rPr dirty="0" err="1"/>
              <a:t>への答えがこちら</a:t>
            </a:r>
            <a:r>
              <a:rPr lang="ja-JP" altLang="en-US" dirty="0"/>
              <a:t>です</a:t>
            </a:r>
            <a:r>
              <a:rPr dirty="0"/>
              <a:t>。</a:t>
            </a:r>
            <a:r>
              <a:rPr dirty="0" err="1"/>
              <a:t>道具は適材適所です。日常の補完は</a:t>
            </a:r>
            <a:r>
              <a:rPr dirty="0"/>
              <a:t> </a:t>
            </a:r>
            <a:r>
              <a:rPr dirty="0" err="1"/>
              <a:t>Copilot、エディタ上の対話は</a:t>
            </a:r>
            <a:r>
              <a:rPr dirty="0"/>
              <a:t> </a:t>
            </a:r>
            <a:r>
              <a:rPr dirty="0" err="1"/>
              <a:t>Cursor、Web版は調べものに便利。そして設計相談や大規模な変更、自動化といった“深い仕事”の主役が</a:t>
            </a:r>
            <a:r>
              <a:rPr dirty="0"/>
              <a:t> Claude Code</a:t>
            </a:r>
            <a:r>
              <a:rPr lang="ja-JP" altLang="en-US" dirty="0"/>
              <a:t>です</a:t>
            </a:r>
            <a:r>
              <a:rPr dirty="0"/>
              <a:t>。</a:t>
            </a:r>
            <a:r>
              <a:rPr dirty="0" err="1"/>
              <a:t>今日お話しした物語は、すべてこの</a:t>
            </a:r>
            <a:r>
              <a:rPr dirty="0"/>
              <a:t> Claude Code </a:t>
            </a:r>
            <a:r>
              <a:rPr dirty="0" err="1"/>
              <a:t>が舞台でした。全部を使い分けてもいいし、まずは主役から触ってみるのもおすすめです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最後に。Claude</a:t>
            </a:r>
            <a:r>
              <a:rPr dirty="0"/>
              <a:t> Code </a:t>
            </a:r>
            <a:r>
              <a:rPr dirty="0" err="1"/>
              <a:t>を始めるのに、難しい準備は要りません。まずインストールして、やりたいことを日本語で話しかけてみる。慣れてきたらチームの約束を</a:t>
            </a:r>
            <a:r>
              <a:rPr dirty="0"/>
              <a:t> CLAUDE.md </a:t>
            </a:r>
            <a:r>
              <a:rPr dirty="0" err="1"/>
              <a:t>に置き</a:t>
            </a:r>
            <a:r>
              <a:rPr dirty="0"/>
              <a:t>、/plan </a:t>
            </a:r>
            <a:r>
              <a:rPr dirty="0" err="1"/>
              <a:t>で段取りから始める</a:t>
            </a:r>
            <a:r>
              <a:rPr dirty="0"/>
              <a:t>。</a:t>
            </a:r>
            <a:r>
              <a:rPr lang="ja-JP" altLang="en-US" dirty="0"/>
              <a:t>田中さんが一つずつ慣れていったように、どんなことでもいいので、一度、</a:t>
            </a:r>
            <a:r>
              <a:rPr lang="en-US" altLang="ja-JP" dirty="0"/>
              <a:t>Claude Code</a:t>
            </a:r>
            <a:r>
              <a:rPr lang="ja-JP" altLang="en-US" dirty="0"/>
              <a:t>に依頼してみるというのが、うまく使っていくうえで大切なことだと感じました。以上で発表の方を終わります。</a:t>
            </a:r>
            <a:endParaRPr lang="en-US" altLang="ja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6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4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openxmlformats.org/officeDocument/2006/relationships/image" Target="../media/image8.png"/><Relationship Id="rId4" Type="http://schemas.openxmlformats.org/officeDocument/2006/relationships/image" Target="../media/image5.png"/><Relationship Id="rId9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4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23.png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23.png"/><Relationship Id="rId4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tit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he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8040" y="1371600"/>
            <a:ext cx="4617720" cy="4248302"/>
          </a:xfrm>
          <a:prstGeom prst="rect">
            <a:avLst/>
          </a:prstGeom>
        </p:spPr>
      </p:pic>
      <p:pic>
        <p:nvPicPr>
          <p:cNvPr id="4" name="Picture 3" descr="title_ma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691640"/>
            <a:ext cx="5989320" cy="179014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" y="114300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54D6C4"/>
                </a:solidFill>
                <a:latin typeface="Yu Gothic"/>
                <a:ea typeface="Yu Gothic"/>
                <a:cs typeface="Yu Gothic"/>
              </a:rPr>
              <a:t>S T O R Y   D R I V E N   G U I D 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46120"/>
            <a:ext cx="6035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900" b="1" i="0">
                <a:solidFill>
                  <a:srgbClr val="E9E9F2"/>
                </a:solidFill>
                <a:latin typeface="Yu Mincho"/>
                <a:ea typeface="Yu Mincho"/>
                <a:cs typeface="Yu Mincho"/>
              </a:rPr>
              <a:t>AIと歩む、エンジニアの半年間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886200"/>
            <a:ext cx="603504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新人エンジニア・田中優太が、AI開発パートナー “Claude Code” と出会い、</a:t>
            </a:r>
          </a:p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35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半年でチームを変えていく――全8章の物語をダイジェストで。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5257800"/>
            <a:ext cx="201168" cy="201168"/>
          </a:xfrm>
          <a:prstGeom prst="ellipse">
            <a:avLst/>
          </a:prstGeom>
          <a:solidFill>
            <a:srgbClr val="E77D47"/>
          </a:solidFill>
          <a:ln w="15240">
            <a:solidFill>
              <a:srgbClr val="F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161288" y="5257800"/>
            <a:ext cx="201168" cy="201168"/>
          </a:xfrm>
          <a:prstGeom prst="ellipse">
            <a:avLst/>
          </a:prstGeom>
          <a:solidFill>
            <a:srgbClr val="E7567F"/>
          </a:solidFill>
          <a:ln w="15240">
            <a:solidFill>
              <a:srgbClr val="FF5E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545336" y="5257800"/>
            <a:ext cx="201168" cy="201168"/>
          </a:xfrm>
          <a:prstGeom prst="ellipse">
            <a:avLst/>
          </a:prstGeom>
          <a:solidFill>
            <a:srgbClr val="8C70E8"/>
          </a:solidFill>
          <a:ln w="15240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929384" y="5257800"/>
            <a:ext cx="201168" cy="201168"/>
          </a:xfrm>
          <a:prstGeom prst="ellipse">
            <a:avLst/>
          </a:prstGeom>
          <a:solidFill>
            <a:srgbClr val="4DC2B3"/>
          </a:solidFill>
          <a:ln w="15240">
            <a:solidFill>
              <a:srgbClr val="54D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2313432" y="5257800"/>
            <a:ext cx="201168" cy="201168"/>
          </a:xfrm>
          <a:prstGeom prst="ellipse">
            <a:avLst/>
          </a:prstGeom>
          <a:solidFill>
            <a:srgbClr val="E7C070"/>
          </a:solidFill>
          <a:ln w="15240">
            <a:solidFill>
              <a:srgbClr val="FFD4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2697480" y="5257800"/>
            <a:ext cx="201168" cy="201168"/>
          </a:xfrm>
          <a:prstGeom prst="ellipse">
            <a:avLst/>
          </a:prstGeom>
          <a:solidFill>
            <a:srgbClr val="E77D47"/>
          </a:solidFill>
          <a:ln w="15240">
            <a:solidFill>
              <a:srgbClr val="F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3081528" y="5257800"/>
            <a:ext cx="201168" cy="201168"/>
          </a:xfrm>
          <a:prstGeom prst="ellipse">
            <a:avLst/>
          </a:prstGeom>
          <a:solidFill>
            <a:srgbClr val="E7567F"/>
          </a:solidFill>
          <a:ln w="15240">
            <a:solidFill>
              <a:srgbClr val="FF5E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3465576" y="5257800"/>
            <a:ext cx="201168" cy="201168"/>
          </a:xfrm>
          <a:prstGeom prst="ellipse">
            <a:avLst/>
          </a:prstGeom>
          <a:solidFill>
            <a:srgbClr val="8C70E8"/>
          </a:solidFill>
          <a:ln w="15240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31520" y="562356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0" i="0">
                <a:solidFill>
                  <a:srgbClr val="8688A8"/>
                </a:solidFill>
                <a:latin typeface="Yu Gothic"/>
                <a:ea typeface="Yu Gothic"/>
                <a:cs typeface="Yu Gothic"/>
              </a:rPr>
              <a:t>第1章 〜 第8章  /  10分で巡るダイジェスト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 i="0">
                <a:solidFill>
                  <a:srgbClr val="54D6C4"/>
                </a:solidFill>
                <a:latin typeface="Yu Gothic"/>
                <a:ea typeface="Yu Gothic"/>
                <a:cs typeface="Yu Gothic"/>
              </a:rPr>
              <a:t>AGENDA / 本日の流れ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100297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70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目次</a:t>
            </a:r>
            <a:r>
              <a:rPr sz="2700" b="1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　― 半年間の物語を、8つの章で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5440680" cy="1078992"/>
          </a:xfrm>
          <a:prstGeom prst="roundRect">
            <a:avLst>
              <a:gd name="adj" fmla="val 9000"/>
            </a:avLst>
          </a:prstGeom>
          <a:solidFill>
            <a:srgbClr val="1B1E36"/>
          </a:solidFill>
          <a:ln w="12700">
            <a:solidFill>
              <a:srgbClr val="2C2F50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77824" y="1929384"/>
            <a:ext cx="603504" cy="603504"/>
          </a:xfrm>
          <a:prstGeom prst="ellipse">
            <a:avLst/>
          </a:prstGeom>
          <a:solidFill>
            <a:srgbClr val="432A29"/>
          </a:solidFill>
          <a:ln w="19050">
            <a:solidFill>
              <a:srgbClr val="F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e_rock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8524" y="2050084"/>
            <a:ext cx="362102" cy="3621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664208" y="1847088"/>
            <a:ext cx="4251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8A4C"/>
                </a:solidFill>
                <a:latin typeface="Yu Gothic"/>
                <a:ea typeface="Yu Gothic"/>
                <a:cs typeface="Yu Gothic"/>
              </a:rPr>
              <a:t>第1章  </a:t>
            </a:r>
            <a:r>
              <a:rPr sz="155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半日でプロトタイプ</a:t>
            </a:r>
          </a:p>
          <a:p>
            <a:pPr algn="l">
              <a:spcBef>
                <a:spcPts val="0"/>
              </a:spcBef>
            </a:pPr>
            <a:r>
              <a:rPr sz="115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対話でコードが形になる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691640"/>
            <a:ext cx="5440680" cy="1078992"/>
          </a:xfrm>
          <a:prstGeom prst="roundRect">
            <a:avLst>
              <a:gd name="adj" fmla="val 9000"/>
            </a:avLst>
          </a:prstGeom>
          <a:solidFill>
            <a:srgbClr val="1B1E36"/>
          </a:solidFill>
          <a:ln w="12700">
            <a:solidFill>
              <a:srgbClr val="2C2F50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638544" y="1929384"/>
            <a:ext cx="603504" cy="603504"/>
          </a:xfrm>
          <a:prstGeom prst="ellipse">
            <a:avLst/>
          </a:prstGeom>
          <a:solidFill>
            <a:srgbClr val="433B33"/>
          </a:solidFill>
          <a:ln w="19050">
            <a:solidFill>
              <a:srgbClr val="FFD4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e_mem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9244" y="2050084"/>
            <a:ext cx="362102" cy="36210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424928" y="1847088"/>
            <a:ext cx="4251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D479"/>
                </a:solidFill>
                <a:latin typeface="Yu Gothic"/>
                <a:ea typeface="Yu Gothic"/>
                <a:cs typeface="Yu Gothic"/>
              </a:rPr>
              <a:t>第2章  </a:t>
            </a:r>
            <a:r>
              <a:rPr sz="155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チームの作法を覚える</a:t>
            </a:r>
          </a:p>
          <a:p>
            <a:pPr algn="l">
              <a:spcBef>
                <a:spcPts val="0"/>
              </a:spcBef>
            </a:pPr>
            <a:r>
              <a:rPr sz="115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CLAUDE.md と Skills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971800"/>
            <a:ext cx="5440680" cy="1078992"/>
          </a:xfrm>
          <a:prstGeom prst="roundRect">
            <a:avLst>
              <a:gd name="adj" fmla="val 9000"/>
            </a:avLst>
          </a:prstGeom>
          <a:solidFill>
            <a:srgbClr val="1B1E36"/>
          </a:solidFill>
          <a:ln w="12700">
            <a:solidFill>
              <a:srgbClr val="2C2F50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77824" y="3209544"/>
            <a:ext cx="603504" cy="603504"/>
          </a:xfrm>
          <a:prstGeom prst="ellipse">
            <a:avLst/>
          </a:prstGeom>
          <a:solidFill>
            <a:srgbClr val="2D2751"/>
          </a:solidFill>
          <a:ln w="19050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e_compas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8524" y="3330244"/>
            <a:ext cx="362102" cy="36210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664208" y="3127248"/>
            <a:ext cx="4251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9A7BFF"/>
                </a:solidFill>
                <a:latin typeface="Yu Gothic"/>
                <a:ea typeface="Yu Gothic"/>
                <a:cs typeface="Yu Gothic"/>
              </a:rPr>
              <a:t>第3章  </a:t>
            </a:r>
            <a:r>
              <a:rPr sz="155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計画してから走る</a:t>
            </a:r>
          </a:p>
          <a:p>
            <a:pPr algn="l">
              <a:spcBef>
                <a:spcPts val="0"/>
              </a:spcBef>
            </a:pPr>
            <a:r>
              <a:rPr sz="115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Plan mode と TDD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2971800"/>
            <a:ext cx="5440680" cy="1078992"/>
          </a:xfrm>
          <a:prstGeom prst="roundRect">
            <a:avLst>
              <a:gd name="adj" fmla="val 9000"/>
            </a:avLst>
          </a:prstGeom>
          <a:solidFill>
            <a:srgbClr val="1B1E36"/>
          </a:solidFill>
          <a:ln w="12700">
            <a:solidFill>
              <a:srgbClr val="2C2F50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6638544" y="3209544"/>
            <a:ext cx="603504" cy="603504"/>
          </a:xfrm>
          <a:prstGeom prst="ellipse">
            <a:avLst/>
          </a:prstGeom>
          <a:solidFill>
            <a:srgbClr val="1E3B44"/>
          </a:solidFill>
          <a:ln w="19050">
            <a:solidFill>
              <a:srgbClr val="54D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e_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59244" y="3330244"/>
            <a:ext cx="362102" cy="36210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424928" y="3127248"/>
            <a:ext cx="4251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4D6C4"/>
                </a:solidFill>
                <a:latin typeface="Yu Gothic"/>
                <a:ea typeface="Yu Gothic"/>
                <a:cs typeface="Yu Gothic"/>
              </a:rPr>
              <a:t>第4章  </a:t>
            </a:r>
            <a:r>
              <a:rPr sz="155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15分で10万行を把握</a:t>
            </a:r>
          </a:p>
          <a:p>
            <a:pPr algn="l">
              <a:spcBef>
                <a:spcPts val="0"/>
              </a:spcBef>
            </a:pPr>
            <a:r>
              <a:rPr sz="115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巨大コードの読解とバグ特定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251960"/>
            <a:ext cx="5440680" cy="1078992"/>
          </a:xfrm>
          <a:prstGeom prst="roundRect">
            <a:avLst>
              <a:gd name="adj" fmla="val 9000"/>
            </a:avLst>
          </a:prstGeom>
          <a:solidFill>
            <a:srgbClr val="1B1E36"/>
          </a:solidFill>
          <a:ln w="12700">
            <a:solidFill>
              <a:srgbClr val="2C2F50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877824" y="4489704"/>
            <a:ext cx="603504" cy="603504"/>
          </a:xfrm>
          <a:prstGeom prst="ellipse">
            <a:avLst/>
          </a:prstGeom>
          <a:solidFill>
            <a:srgbClr val="432137"/>
          </a:solidFill>
          <a:ln w="19050">
            <a:solidFill>
              <a:srgbClr val="FF5E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e_bran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8524" y="4610404"/>
            <a:ext cx="362102" cy="362102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664208" y="4407408"/>
            <a:ext cx="4251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5E8A"/>
                </a:solidFill>
                <a:latin typeface="Yu Gothic"/>
                <a:ea typeface="Yu Gothic"/>
                <a:cs typeface="Yu Gothic"/>
              </a:rPr>
              <a:t>第5章  </a:t>
            </a:r>
            <a:r>
              <a:rPr sz="155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並列開発と人の目</a:t>
            </a:r>
          </a:p>
          <a:p>
            <a:pPr algn="l">
              <a:spcBef>
                <a:spcPts val="0"/>
              </a:spcBef>
            </a:pPr>
            <a:r>
              <a:rPr sz="115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Subagent / git worktree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0" y="4251960"/>
            <a:ext cx="5440680" cy="1078992"/>
          </a:xfrm>
          <a:prstGeom prst="roundRect">
            <a:avLst>
              <a:gd name="adj" fmla="val 9000"/>
            </a:avLst>
          </a:prstGeom>
          <a:solidFill>
            <a:srgbClr val="1B1E36"/>
          </a:solidFill>
          <a:ln w="12700">
            <a:solidFill>
              <a:srgbClr val="2C2F50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6638544" y="4489704"/>
            <a:ext cx="603504" cy="603504"/>
          </a:xfrm>
          <a:prstGeom prst="ellipse">
            <a:avLst/>
          </a:prstGeom>
          <a:solidFill>
            <a:srgbClr val="432A29"/>
          </a:solidFill>
          <a:ln w="19050">
            <a:solidFill>
              <a:srgbClr val="F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e_robo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59244" y="4610404"/>
            <a:ext cx="362102" cy="362102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424928" y="4407408"/>
            <a:ext cx="4251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8A4C"/>
                </a:solidFill>
                <a:latin typeface="Yu Gothic"/>
                <a:ea typeface="Yu Gothic"/>
                <a:cs typeface="Yu Gothic"/>
              </a:rPr>
              <a:t>第6章  </a:t>
            </a:r>
            <a:r>
              <a:rPr sz="155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AIのコードをAIが review</a:t>
            </a:r>
          </a:p>
          <a:p>
            <a:pPr algn="l">
              <a:spcBef>
                <a:spcPts val="0"/>
              </a:spcBef>
            </a:pPr>
            <a:r>
              <a:rPr sz="115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hooks と MCP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5532119"/>
            <a:ext cx="5440680" cy="1078992"/>
          </a:xfrm>
          <a:prstGeom prst="roundRect">
            <a:avLst>
              <a:gd name="adj" fmla="val 9000"/>
            </a:avLst>
          </a:prstGeom>
          <a:solidFill>
            <a:srgbClr val="1B1E36"/>
          </a:solidFill>
          <a:ln w="12700">
            <a:solidFill>
              <a:srgbClr val="2C2F50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877824" y="5769863"/>
            <a:ext cx="603504" cy="603504"/>
          </a:xfrm>
          <a:prstGeom prst="ellipse">
            <a:avLst/>
          </a:prstGeom>
          <a:solidFill>
            <a:srgbClr val="2D2751"/>
          </a:solidFill>
          <a:ln w="19050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e_peopl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98524" y="5890564"/>
            <a:ext cx="362102" cy="362102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664208" y="5687567"/>
            <a:ext cx="4251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9A7BFF"/>
                </a:solidFill>
                <a:latin typeface="Yu Gothic"/>
                <a:ea typeface="Yu Gothic"/>
                <a:cs typeface="Yu Gothic"/>
              </a:rPr>
              <a:t>第7章  </a:t>
            </a:r>
            <a:r>
              <a:rPr sz="155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見える化でチームへ</a:t>
            </a:r>
          </a:p>
          <a:p>
            <a:pPr algn="l">
              <a:spcBef>
                <a:spcPts val="0"/>
              </a:spcBef>
            </a:pPr>
            <a:r>
              <a:rPr sz="115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押しつけない普及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0" y="5532119"/>
            <a:ext cx="5440680" cy="1078992"/>
          </a:xfrm>
          <a:prstGeom prst="roundRect">
            <a:avLst>
              <a:gd name="adj" fmla="val 9000"/>
            </a:avLst>
          </a:prstGeom>
          <a:solidFill>
            <a:srgbClr val="1B1E36"/>
          </a:solidFill>
          <a:ln w="12700">
            <a:solidFill>
              <a:srgbClr val="2C2F50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6638544" y="5769863"/>
            <a:ext cx="603504" cy="603504"/>
          </a:xfrm>
          <a:prstGeom prst="ellipse">
            <a:avLst/>
          </a:prstGeom>
          <a:solidFill>
            <a:srgbClr val="433B33"/>
          </a:solidFill>
          <a:ln w="19050">
            <a:solidFill>
              <a:srgbClr val="FFD4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5" name="Picture 34" descr="e_gradua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59244" y="5890564"/>
            <a:ext cx="362102" cy="36210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7424928" y="5687567"/>
            <a:ext cx="4251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D479"/>
                </a:solidFill>
                <a:latin typeface="Yu Gothic"/>
                <a:ea typeface="Yu Gothic"/>
                <a:cs typeface="Yu Gothic"/>
              </a:rPr>
              <a:t>第8章  </a:t>
            </a:r>
            <a:r>
              <a:rPr sz="155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AIと歩む未来</a:t>
            </a:r>
          </a:p>
          <a:p>
            <a:pPr algn="l">
              <a:spcBef>
                <a:spcPts val="0"/>
              </a:spcBef>
            </a:pPr>
            <a:r>
              <a:rPr sz="115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人に残る“判断する力”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37215" y="640080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1050" b="0" i="0">
                <a:solidFill>
                  <a:srgbClr val="8688A8"/>
                </a:solidFill>
                <a:latin typeface="Consolas"/>
                <a:ea typeface="Consolas"/>
                <a:cs typeface="Consolas"/>
              </a:rPr>
              <a:t>02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 i="0">
                <a:solidFill>
                  <a:srgbClr val="FF8A4C"/>
                </a:solidFill>
                <a:latin typeface="Yu Gothic"/>
                <a:ea typeface="Yu Gothic"/>
                <a:cs typeface="Yu Gothic"/>
              </a:rPr>
              <a:t>INTRO / Claude Code とは？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100297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70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“補完”ではなく、</a:t>
            </a:r>
            <a:r>
              <a:rPr sz="2700" b="1" i="0">
                <a:solidFill>
                  <a:srgbClr val="9A7BFF"/>
                </a:solidFill>
                <a:latin typeface="Yu Gothic"/>
                <a:ea typeface="Yu Gothic"/>
                <a:cs typeface="Yu Gothic"/>
              </a:rPr>
              <a:t>“エージェント”</a:t>
            </a:r>
            <a:r>
              <a:rPr sz="270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40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日本語で指示すると、複数ファイルをまたいで設計・実装・修正まで自分で進めてくれる、ターミナルで動く開発パートナーです。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77440"/>
            <a:ext cx="5349240" cy="3246120"/>
          </a:xfrm>
          <a:prstGeom prst="roundRect">
            <a:avLst>
              <a:gd name="adj" fmla="val 6000"/>
            </a:avLst>
          </a:prstGeom>
          <a:solidFill>
            <a:srgbClr val="182B36"/>
          </a:solidFill>
          <a:ln w="12700">
            <a:solidFill>
              <a:srgbClr val="317372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14400" y="2670048"/>
            <a:ext cx="640080" cy="640080"/>
          </a:xfrm>
          <a:prstGeom prst="ellipse">
            <a:avLst/>
          </a:prstGeom>
          <a:solidFill>
            <a:srgbClr val="1E3B44"/>
          </a:solidFill>
          <a:ln w="19050">
            <a:solidFill>
              <a:srgbClr val="54D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e_mem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2415" y="2798064"/>
            <a:ext cx="384048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743200"/>
            <a:ext cx="4160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800" b="1" i="0">
                <a:solidFill>
                  <a:srgbClr val="54D6C4"/>
                </a:solidFill>
                <a:latin typeface="Yu Gothic"/>
                <a:ea typeface="Yu Gothic"/>
                <a:cs typeface="Yu Gothic"/>
              </a:rPr>
              <a:t>従来の補完ツール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520440"/>
            <a:ext cx="480060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836" b="0" i="0">
                <a:solidFill>
                  <a:srgbClr val="54D6C4"/>
                </a:solidFill>
                <a:latin typeface="Yu Gothic"/>
                <a:ea typeface="Yu Gothic"/>
                <a:cs typeface="Yu Gothic"/>
              </a:rPr>
              <a:t>● </a:t>
            </a:r>
            <a:r>
              <a:rPr sz="1350" b="0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次の「1行」を予測して提案する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836" b="0" i="0">
                <a:solidFill>
                  <a:srgbClr val="54D6C4"/>
                </a:solidFill>
                <a:latin typeface="Yu Gothic"/>
                <a:ea typeface="Yu Gothic"/>
                <a:cs typeface="Yu Gothic"/>
              </a:rPr>
              <a:t>● </a:t>
            </a:r>
            <a:r>
              <a:rPr sz="1350" b="0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今開いているファイルの中が主戦場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836" b="0" i="0">
                <a:solidFill>
                  <a:srgbClr val="54D6C4"/>
                </a:solidFill>
                <a:latin typeface="Yu Gothic"/>
                <a:ea typeface="Yu Gothic"/>
                <a:cs typeface="Yu Gothic"/>
              </a:rPr>
              <a:t>● </a:t>
            </a:r>
            <a:r>
              <a:rPr sz="1350" b="0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判断と組み立ては、すべて人間の仕事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836" b="0" i="0">
                <a:solidFill>
                  <a:srgbClr val="54D6C4"/>
                </a:solidFill>
                <a:latin typeface="Yu Gothic"/>
                <a:ea typeface="Yu Gothic"/>
                <a:cs typeface="Yu Gothic"/>
              </a:rPr>
              <a:t>● </a:t>
            </a:r>
            <a:r>
              <a:rPr sz="1350" b="0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便利だが、作業は人が回し続ける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82512" y="2377440"/>
            <a:ext cx="5349240" cy="3246120"/>
          </a:xfrm>
          <a:prstGeom prst="roundRect">
            <a:avLst>
              <a:gd name="adj" fmla="val 6000"/>
            </a:avLst>
          </a:prstGeom>
          <a:solidFill>
            <a:srgbClr val="252143"/>
          </a:solidFill>
          <a:ln w="12700">
            <a:solidFill>
              <a:srgbClr val="5B4A9A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656831" y="2670048"/>
            <a:ext cx="640080" cy="640080"/>
          </a:xfrm>
          <a:prstGeom prst="ellipse">
            <a:avLst/>
          </a:prstGeom>
          <a:solidFill>
            <a:srgbClr val="2D2751"/>
          </a:solidFill>
          <a:ln w="19050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e_robo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4847" y="2798064"/>
            <a:ext cx="384048" cy="3840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434071" y="2743200"/>
            <a:ext cx="4160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800" b="1" i="0">
                <a:solidFill>
                  <a:srgbClr val="9A7BFF"/>
                </a:solidFill>
                <a:latin typeface="Yu Gothic"/>
                <a:ea typeface="Yu Gothic"/>
                <a:cs typeface="Yu Gothic"/>
              </a:rPr>
              <a:t>エージェント（Claude Code）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56831" y="3520440"/>
            <a:ext cx="480060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836" b="0" i="0">
                <a:solidFill>
                  <a:srgbClr val="9A7BFF"/>
                </a:solidFill>
                <a:latin typeface="Yu Gothic"/>
                <a:ea typeface="Yu Gothic"/>
                <a:cs typeface="Yu Gothic"/>
              </a:rPr>
              <a:t>● </a:t>
            </a:r>
            <a:r>
              <a:rPr sz="1350" b="0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「何をしたいか」を日本語で伝えるだけ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836" b="0" i="0">
                <a:solidFill>
                  <a:srgbClr val="9A7BFF"/>
                </a:solidFill>
                <a:latin typeface="Yu Gothic"/>
                <a:ea typeface="Yu Gothic"/>
                <a:cs typeface="Yu Gothic"/>
              </a:rPr>
              <a:t>● </a:t>
            </a:r>
            <a:r>
              <a:rPr sz="1350" b="0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複数ファイルを横断して自律的に作業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836" b="0" i="0">
                <a:solidFill>
                  <a:srgbClr val="9A7BFF"/>
                </a:solidFill>
                <a:latin typeface="Yu Gothic"/>
                <a:ea typeface="Yu Gothic"/>
                <a:cs typeface="Yu Gothic"/>
              </a:rPr>
              <a:t>● </a:t>
            </a:r>
            <a:r>
              <a:rPr sz="1350" b="0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計画・実装・テスト・修正まで一気通貫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836" b="0" i="0">
                <a:solidFill>
                  <a:srgbClr val="9A7BFF"/>
                </a:solidFill>
                <a:latin typeface="Yu Gothic"/>
                <a:ea typeface="Yu Gothic"/>
                <a:cs typeface="Yu Gothic"/>
              </a:rPr>
              <a:t>● </a:t>
            </a:r>
            <a:r>
              <a:rPr sz="1350" b="0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人は“判断”に集中できる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37215" y="640080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1050" b="0" i="0">
                <a:solidFill>
                  <a:srgbClr val="8688A8"/>
                </a:solidFill>
                <a:latin typeface="Consolas"/>
                <a:ea typeface="Consolas"/>
                <a:cs typeface="Consolas"/>
              </a:rPr>
              <a:t>03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 i="0">
                <a:solidFill>
                  <a:srgbClr val="FF8A4C"/>
                </a:solidFill>
                <a:latin typeface="Yu Gothic"/>
                <a:ea typeface="Yu Gothic"/>
                <a:cs typeface="Yu Gothic"/>
              </a:rPr>
              <a:t>第1章 / 二週間の宿題と、先輩の一言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100297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70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半日で、プロトタイプが動いた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35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「2週間でデモを」。途方に暮れる田中さんに、先輩が一言。対話でREST APIを組み立てると――その日のうちに動いた。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31720"/>
            <a:ext cx="2542032" cy="2148840"/>
          </a:xfrm>
          <a:prstGeom prst="roundRect">
            <a:avLst>
              <a:gd name="adj" fmla="val 8000"/>
            </a:avLst>
          </a:prstGeom>
          <a:solidFill>
            <a:srgbClr val="1B1E36"/>
          </a:solidFill>
          <a:ln w="12700">
            <a:solidFill>
              <a:srgbClr val="2C2F50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581912" y="2587752"/>
            <a:ext cx="658368" cy="658368"/>
          </a:xfrm>
          <a:prstGeom prst="ellipse">
            <a:avLst/>
          </a:prstGeom>
          <a:solidFill>
            <a:srgbClr val="CF7143"/>
          </a:solidFill>
          <a:ln w="19050">
            <a:solidFill>
              <a:srgbClr val="F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581912" y="2587752"/>
            <a:ext cx="658368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3000" b="1" i="0">
                <a:solidFill>
                  <a:srgbClr val="FF8A4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355848"/>
            <a:ext cx="226771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50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雛形を作る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3749039"/>
            <a:ext cx="232257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5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Spring Boot 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4041648"/>
            <a:ext cx="232257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5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プロジェクト構成を提案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399" y="2788920"/>
            <a:ext cx="5486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2600" b="1" i="0">
                <a:solidFill>
                  <a:srgbClr val="FC935C"/>
                </a:solidFill>
                <a:latin typeface="Yu Gothic"/>
                <a:ea typeface="Yu Gothic"/>
                <a:cs typeface="Yu Gothic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83863" y="2331720"/>
            <a:ext cx="2542032" cy="2148840"/>
          </a:xfrm>
          <a:prstGeom prst="roundRect">
            <a:avLst>
              <a:gd name="adj" fmla="val 8000"/>
            </a:avLst>
          </a:prstGeom>
          <a:solidFill>
            <a:srgbClr val="1B1E36"/>
          </a:solidFill>
          <a:ln w="12700">
            <a:solidFill>
              <a:srgbClr val="2C2F50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4425695" y="2587752"/>
            <a:ext cx="658368" cy="658368"/>
          </a:xfrm>
          <a:prstGeom prst="ellipse">
            <a:avLst/>
          </a:prstGeom>
          <a:solidFill>
            <a:srgbClr val="CF4E74"/>
          </a:solidFill>
          <a:ln w="19050">
            <a:solidFill>
              <a:srgbClr val="FF5E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25695" y="2587752"/>
            <a:ext cx="658368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3000" b="1" i="0">
                <a:solidFill>
                  <a:srgbClr val="FF5E8A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21023" y="3355848"/>
            <a:ext cx="226771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50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項目を足す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93591" y="3749039"/>
            <a:ext cx="232257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5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「項目を追加して」で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93591" y="4041648"/>
            <a:ext cx="232257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5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関連ファイルを一括生成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44183" y="2788920"/>
            <a:ext cx="5486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2600" b="1" i="0">
                <a:solidFill>
                  <a:srgbClr val="FC935C"/>
                </a:solidFill>
                <a:latin typeface="Yu Gothic"/>
                <a:ea typeface="Yu Gothic"/>
                <a:cs typeface="Yu Gothic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27648" y="2331720"/>
            <a:ext cx="2542032" cy="2148840"/>
          </a:xfrm>
          <a:prstGeom prst="roundRect">
            <a:avLst>
              <a:gd name="adj" fmla="val 8000"/>
            </a:avLst>
          </a:prstGeom>
          <a:solidFill>
            <a:srgbClr val="1B1E36"/>
          </a:solidFill>
          <a:ln w="12700">
            <a:solidFill>
              <a:srgbClr val="2C2F50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7269480" y="2587752"/>
            <a:ext cx="658368" cy="658368"/>
          </a:xfrm>
          <a:prstGeom prst="ellipse">
            <a:avLst/>
          </a:prstGeom>
          <a:solidFill>
            <a:srgbClr val="7E65D2"/>
          </a:solidFill>
          <a:ln w="19050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269480" y="2587752"/>
            <a:ext cx="658368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3000" b="1" i="0">
                <a:solidFill>
                  <a:srgbClr val="9A7B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64808" y="3355848"/>
            <a:ext cx="226771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50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検証を入れる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37376" y="3749039"/>
            <a:ext cx="232257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5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バリデーションと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041648"/>
            <a:ext cx="232257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5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テストを自動で追加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87967" y="2788920"/>
            <a:ext cx="5486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2600" b="1" i="0">
                <a:solidFill>
                  <a:srgbClr val="FC935C"/>
                </a:solidFill>
                <a:latin typeface="Yu Gothic"/>
                <a:ea typeface="Yu Gothic"/>
                <a:cs typeface="Yu Gothic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71432" y="2331720"/>
            <a:ext cx="2542032" cy="2148840"/>
          </a:xfrm>
          <a:prstGeom prst="roundRect">
            <a:avLst>
              <a:gd name="adj" fmla="val 8000"/>
            </a:avLst>
          </a:prstGeom>
          <a:solidFill>
            <a:srgbClr val="1B1E36"/>
          </a:solidFill>
          <a:ln w="12700">
            <a:solidFill>
              <a:srgbClr val="2C2F50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10113264" y="2587752"/>
            <a:ext cx="658368" cy="658368"/>
          </a:xfrm>
          <a:prstGeom prst="ellipse">
            <a:avLst/>
          </a:prstGeom>
          <a:solidFill>
            <a:srgbClr val="46AEA3"/>
          </a:solidFill>
          <a:ln w="19050">
            <a:solidFill>
              <a:srgbClr val="54D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113264" y="2587752"/>
            <a:ext cx="658368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3000" b="1" i="0">
                <a:solidFill>
                  <a:srgbClr val="54D6C4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08592" y="3355848"/>
            <a:ext cx="226771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50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形を整える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81159" y="3749039"/>
            <a:ext cx="232257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5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レスポンス形式を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81159" y="4041648"/>
            <a:ext cx="232257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5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全体で統一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4892040"/>
            <a:ext cx="10927080" cy="841248"/>
          </a:xfrm>
          <a:prstGeom prst="roundRect">
            <a:avLst>
              <a:gd name="adj" fmla="val 16000"/>
            </a:avLst>
          </a:prstGeom>
          <a:solidFill>
            <a:srgbClr val="352F2E"/>
          </a:solidFill>
          <a:ln w="15240">
            <a:solidFill>
              <a:srgbClr val="937B50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Picture 33" descr="e_z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24" y="5084064"/>
            <a:ext cx="457200" cy="4572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508760" y="4892040"/>
            <a:ext cx="992124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FFD479"/>
                </a:solidFill>
                <a:latin typeface="Yu Gothic"/>
                <a:ea typeface="Yu Gothic"/>
                <a:cs typeface="Yu Gothic"/>
              </a:rPr>
              <a:t>効果   </a:t>
            </a:r>
            <a:r>
              <a:rPr sz="1600" b="1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見積もり 2週間</a:t>
            </a:r>
            <a:r>
              <a:rPr sz="1800" b="1" i="0">
                <a:solidFill>
                  <a:srgbClr val="FF8A4C"/>
                </a:solidFill>
                <a:latin typeface="Yu Gothic"/>
                <a:ea typeface="Yu Gothic"/>
                <a:cs typeface="Yu Gothic"/>
              </a:rPr>
              <a:t>  →  </a:t>
            </a:r>
            <a:r>
              <a:rPr sz="2000" b="1" i="0">
                <a:solidFill>
                  <a:srgbClr val="FFD479"/>
                </a:solidFill>
                <a:latin typeface="Yu Gothic"/>
                <a:ea typeface="Yu Gothic"/>
                <a:cs typeface="Yu Gothic"/>
              </a:rPr>
              <a:t>実働 半日でプロトタイプ完成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37215" y="640080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1050" b="0" i="0">
                <a:solidFill>
                  <a:srgbClr val="8688A8"/>
                </a:solidFill>
                <a:latin typeface="Consolas"/>
                <a:ea typeface="Consolas"/>
                <a:cs typeface="Consolas"/>
              </a:rPr>
              <a:t>04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 i="0">
                <a:solidFill>
                  <a:srgbClr val="FFD479"/>
                </a:solidFill>
                <a:latin typeface="Yu Gothic"/>
                <a:ea typeface="Yu Gothic"/>
                <a:cs typeface="Yu Gothic"/>
              </a:rPr>
              <a:t>第2章 / 返ってきたレビューと、チームの作法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100297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70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ルールは一度書けば、</a:t>
            </a:r>
            <a:r>
              <a:rPr sz="2700" b="1" i="0">
                <a:solidFill>
                  <a:srgbClr val="FFD479"/>
                </a:solidFill>
                <a:latin typeface="Yu Gothic"/>
                <a:ea typeface="Yu Gothic"/>
                <a:cs typeface="Yu Gothic"/>
              </a:rPr>
              <a:t>勝手に守ってくれる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35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「動く。けれど“チームのコード”ではない」。規約違反だらけの指摘…。答えは、ルールを一枚にまとめた CLAUDE.md でした。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6035040" cy="2788920"/>
          </a:xfrm>
          <a:prstGeom prst="roundRect">
            <a:avLst>
              <a:gd name="adj" fmla="val 5000"/>
            </a:avLst>
          </a:prstGeom>
          <a:solidFill>
            <a:srgbClr val="13152A"/>
          </a:solidFill>
          <a:ln w="12700">
            <a:solidFill>
              <a:srgbClr val="87724C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19" y="2487168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FFD479"/>
                </a:solidFill>
                <a:latin typeface="Consolas"/>
                <a:ea typeface="Consolas"/>
                <a:cs typeface="Consolas"/>
              </a:rPr>
              <a:t>📄 CLAUDE.md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944368"/>
            <a:ext cx="539495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0" i="0">
                <a:solidFill>
                  <a:srgbClr val="8688A8"/>
                </a:solidFill>
                <a:latin typeface="Consolas"/>
                <a:ea typeface="Consolas"/>
                <a:cs typeface="Consolas"/>
              </a:rPr>
              <a:t>## コーディング規約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282696"/>
            <a:ext cx="539495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0" i="0">
                <a:solidFill>
                  <a:srgbClr val="54D6C4"/>
                </a:solidFill>
                <a:latin typeface="Consolas"/>
                <a:ea typeface="Consolas"/>
                <a:cs typeface="Consolas"/>
              </a:rPr>
              <a:t>  命名 : lowerCamelCase / UpperCamelCase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621024"/>
            <a:ext cx="539495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0" i="0">
                <a:solidFill>
                  <a:srgbClr val="FF5E8A"/>
                </a:solidFill>
                <a:latin typeface="Consolas"/>
                <a:ea typeface="Consolas"/>
                <a:cs typeface="Consolas"/>
              </a:rPr>
              <a:t>  例外 : 素の RuntimeException は禁止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959352"/>
            <a:ext cx="539495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0" i="0">
                <a:solidFill>
                  <a:srgbClr val="9A7BFF"/>
                </a:solidFill>
                <a:latin typeface="Consolas"/>
                <a:ea typeface="Consolas"/>
                <a:cs typeface="Consolas"/>
              </a:rPr>
              <a:t>  層構成 : Controller → Service → Repository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297679"/>
            <a:ext cx="539495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0" i="0">
                <a:solidFill>
                  <a:srgbClr val="E9E9F2"/>
                </a:solidFill>
                <a:latin typeface="Consolas"/>
                <a:ea typeface="Consolas"/>
                <a:cs typeface="Consolas"/>
              </a:rPr>
              <a:t>  DTOとEntityを分離（Entityを直接返さない）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636008"/>
            <a:ext cx="539495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0" i="0">
                <a:solidFill>
                  <a:srgbClr val="FFD479"/>
                </a:solidFill>
                <a:latin typeface="Consolas"/>
                <a:ea typeface="Consolas"/>
                <a:cs typeface="Consolas"/>
              </a:rPr>
              <a:t>  ログ : println禁止 → SLF4J を使う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40880" y="2286000"/>
            <a:ext cx="4602175" cy="2788920"/>
          </a:xfrm>
          <a:prstGeom prst="roundRect">
            <a:avLst>
              <a:gd name="adj" fmla="val 6000"/>
            </a:avLst>
          </a:prstGeom>
          <a:solidFill>
            <a:srgbClr val="1B1E36"/>
          </a:solidFill>
          <a:ln w="12700">
            <a:solidFill>
              <a:srgbClr val="2C2F50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7315200" y="2542032"/>
            <a:ext cx="603504" cy="603504"/>
          </a:xfrm>
          <a:prstGeom prst="ellipse">
            <a:avLst/>
          </a:prstGeom>
          <a:solidFill>
            <a:srgbClr val="432A29"/>
          </a:solidFill>
          <a:ln w="19050">
            <a:solidFill>
              <a:srgbClr val="F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e_wren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35900" y="2662732"/>
            <a:ext cx="362102" cy="36210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046720" y="2615184"/>
            <a:ext cx="341345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Skills（カスタムコマンド）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33488" y="3383280"/>
            <a:ext cx="4053535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793" b="0" i="0">
                <a:solidFill>
                  <a:srgbClr val="FF8A4C"/>
                </a:solidFill>
                <a:latin typeface="Yu Gothic"/>
                <a:ea typeface="Yu Gothic"/>
                <a:cs typeface="Yu Gothic"/>
              </a:rPr>
              <a:t>● </a:t>
            </a:r>
            <a:r>
              <a:rPr sz="1280" b="0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/review … 規約・安全性を自動チェック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793" b="0" i="0">
                <a:solidFill>
                  <a:srgbClr val="FF8A4C"/>
                </a:solidFill>
                <a:latin typeface="Yu Gothic"/>
                <a:ea typeface="Yu Gothic"/>
                <a:cs typeface="Yu Gothic"/>
              </a:rPr>
              <a:t>● </a:t>
            </a:r>
            <a:r>
              <a:rPr sz="1280" b="0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/test … 正常・異常・境界値を自動生成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793" b="0" i="0">
                <a:solidFill>
                  <a:srgbClr val="FF8A4C"/>
                </a:solidFill>
                <a:latin typeface="Yu Gothic"/>
                <a:ea typeface="Yu Gothic"/>
                <a:cs typeface="Yu Gothic"/>
              </a:rPr>
              <a:t>● </a:t>
            </a:r>
            <a:r>
              <a:rPr sz="1280" b="0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よく使う指示を“技”として登録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793" b="0" i="0">
                <a:solidFill>
                  <a:srgbClr val="FF8A4C"/>
                </a:solidFill>
                <a:latin typeface="Yu Gothic"/>
                <a:ea typeface="Yu Gothic"/>
                <a:cs typeface="Yu Gothic"/>
              </a:rPr>
              <a:t>● </a:t>
            </a:r>
            <a:r>
              <a:rPr sz="1280" b="0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チーム全員が同じ品質で書ける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349240"/>
            <a:ext cx="10927080" cy="841248"/>
          </a:xfrm>
          <a:prstGeom prst="roundRect">
            <a:avLst>
              <a:gd name="adj" fmla="val 16000"/>
            </a:avLst>
          </a:prstGeom>
          <a:solidFill>
            <a:srgbClr val="352F2E"/>
          </a:solidFill>
          <a:ln w="15240">
            <a:solidFill>
              <a:srgbClr val="937B50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e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" y="5541264"/>
            <a:ext cx="457200" cy="4572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508760" y="5349240"/>
            <a:ext cx="992124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FFD479"/>
                </a:solidFill>
                <a:latin typeface="Yu Gothic"/>
                <a:ea typeface="Yu Gothic"/>
                <a:cs typeface="Yu Gothic"/>
              </a:rPr>
              <a:t>効果   </a:t>
            </a:r>
            <a:r>
              <a:rPr sz="1600" b="1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毎回ルールを説明</a:t>
            </a:r>
            <a:r>
              <a:rPr sz="1800" b="1" i="0">
                <a:solidFill>
                  <a:srgbClr val="FF8A4C"/>
                </a:solidFill>
                <a:latin typeface="Yu Gothic"/>
                <a:ea typeface="Yu Gothic"/>
                <a:cs typeface="Yu Gothic"/>
              </a:rPr>
              <a:t>  →  </a:t>
            </a:r>
            <a:r>
              <a:rPr sz="2000" b="1" i="0">
                <a:solidFill>
                  <a:srgbClr val="FFD479"/>
                </a:solidFill>
                <a:latin typeface="Yu Gothic"/>
                <a:ea typeface="Yu Gothic"/>
                <a:cs typeface="Yu Gothic"/>
              </a:rPr>
              <a:t>規約違反ゼロ・レビュー指摘が激減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37215" y="640080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1050" b="0" i="0">
                <a:solidFill>
                  <a:srgbClr val="8688A8"/>
                </a:solidFill>
                <a:latin typeface="Consolas"/>
                <a:ea typeface="Consolas"/>
                <a:cs typeface="Consolas"/>
              </a:rPr>
              <a:t>05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 i="0">
                <a:solidFill>
                  <a:srgbClr val="9A7BFF"/>
                </a:solidFill>
                <a:latin typeface="Yu Gothic"/>
                <a:ea typeface="Yu Gothic"/>
                <a:cs typeface="Yu Gothic"/>
              </a:rPr>
              <a:t>第3章 / いきなり書かせない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100297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70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まず“計画”、それから走る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35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本番品質へ引き上げたい。でもテストはほぼゼロ。Shift+Tab の Plan mode で計画を立ててから、テストを量産する。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5349240" cy="2788920"/>
          </a:xfrm>
          <a:prstGeom prst="roundRect">
            <a:avLst>
              <a:gd name="adj" fmla="val 6000"/>
            </a:avLst>
          </a:prstGeom>
          <a:solidFill>
            <a:srgbClr val="1B1E36"/>
          </a:solidFill>
          <a:ln w="12700">
            <a:solidFill>
              <a:srgbClr val="2C2F50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14400" y="2542032"/>
            <a:ext cx="603504" cy="603504"/>
          </a:xfrm>
          <a:prstGeom prst="ellipse">
            <a:avLst/>
          </a:prstGeom>
          <a:solidFill>
            <a:srgbClr val="2D2751"/>
          </a:solidFill>
          <a:ln w="19050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e_compa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5100" y="2662732"/>
            <a:ext cx="362102" cy="36210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615184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600" b="1" i="0">
                <a:solidFill>
                  <a:srgbClr val="9A7BFF"/>
                </a:solidFill>
                <a:latin typeface="Yu Gothic"/>
                <a:ea typeface="Yu Gothic"/>
                <a:cs typeface="Yu Gothic"/>
              </a:rPr>
              <a:t>Plan mode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3337560"/>
            <a:ext cx="475488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いきなりコードを書かず、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分析と段取りだけを先に作る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AIが“優先順位”まで提案：</a:t>
            </a:r>
          </a:p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200" b="0" i="0">
                <a:solidFill>
                  <a:srgbClr val="9A7BFF"/>
                </a:solidFill>
                <a:latin typeface="Yu Gothic"/>
                <a:ea typeface="Yu Gothic"/>
                <a:cs typeface="Yu Gothic"/>
              </a:rPr>
              <a:t>① 中核ロジックのテスト → ② 検証追加 → ③ 例外処理の統一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2286000"/>
            <a:ext cx="5287975" cy="2788920"/>
          </a:xfrm>
          <a:prstGeom prst="roundRect">
            <a:avLst>
              <a:gd name="adj" fmla="val 6000"/>
            </a:avLst>
          </a:prstGeom>
          <a:solidFill>
            <a:srgbClr val="2B272A"/>
          </a:solidFill>
          <a:ln w="12700">
            <a:solidFill>
              <a:srgbClr val="87724C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2560320"/>
            <a:ext cx="473933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 i="0">
                <a:solidFill>
                  <a:srgbClr val="FFD479"/>
                </a:solidFill>
                <a:latin typeface="Yu Gothic"/>
                <a:ea typeface="Yu Gothic"/>
                <a:cs typeface="Yu Gothic"/>
              </a:rPr>
              <a:t>AI生成テストの「8割／2割」法則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20840" y="3246120"/>
            <a:ext cx="3645164" cy="457200"/>
          </a:xfrm>
          <a:prstGeom prst="roundRect">
            <a:avLst>
              <a:gd name="adj" fmla="val 30000"/>
            </a:avLst>
          </a:prstGeom>
          <a:solidFill>
            <a:srgbClr val="54D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0411724" y="3246120"/>
            <a:ext cx="865571" cy="457200"/>
          </a:xfrm>
          <a:prstGeom prst="roundRect">
            <a:avLst>
              <a:gd name="adj" fmla="val 40000"/>
            </a:avLst>
          </a:prstGeom>
          <a:solidFill>
            <a:srgbClr val="FF8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720840" y="3246120"/>
            <a:ext cx="364516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600" b="1" i="0">
                <a:solidFill>
                  <a:srgbClr val="0F1020"/>
                </a:solidFill>
                <a:latin typeface="Yu Gothic"/>
                <a:ea typeface="Yu Gothic"/>
                <a:cs typeface="Yu Gothic"/>
              </a:rPr>
              <a:t>80%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11724" y="3246120"/>
            <a:ext cx="865571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300" b="1" i="0">
                <a:solidFill>
                  <a:srgbClr val="0F1020"/>
                </a:solidFill>
                <a:latin typeface="Yu Gothic"/>
                <a:ea typeface="Yu Gothic"/>
                <a:cs typeface="Yu Gothic"/>
              </a:rPr>
              <a:t>20%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3886200"/>
            <a:ext cx="4556455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4D6C4"/>
                </a:solidFill>
                <a:latin typeface="Yu Gothic"/>
                <a:ea typeface="Yu Gothic"/>
                <a:cs typeface="Yu Gothic"/>
              </a:rPr>
              <a:t>● </a:t>
            </a:r>
            <a:r>
              <a:rPr sz="1250" b="0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8割：そのまま使える（AIが量を担当）</a:t>
            </a:r>
          </a:p>
          <a:p>
            <a:pPr algn="l">
              <a:spcBef>
                <a:spcPts val="0"/>
              </a:spcBef>
            </a:pPr>
            <a:r>
              <a:rPr sz="900" b="0" i="0">
                <a:solidFill>
                  <a:srgbClr val="FF8A4C"/>
                </a:solidFill>
                <a:latin typeface="Yu Gothic"/>
                <a:ea typeface="Yu Gothic"/>
                <a:cs typeface="Yu Gothic"/>
              </a:rPr>
              <a:t>● </a:t>
            </a:r>
            <a:r>
              <a:rPr sz="1250" b="0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2割：業務ロジックを人が判断して直す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349240"/>
            <a:ext cx="10927080" cy="841248"/>
          </a:xfrm>
          <a:prstGeom prst="roundRect">
            <a:avLst>
              <a:gd name="adj" fmla="val 16000"/>
            </a:avLst>
          </a:prstGeom>
          <a:solidFill>
            <a:srgbClr val="352F2E"/>
          </a:solidFill>
          <a:ln w="15240">
            <a:solidFill>
              <a:srgbClr val="937B50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e_tes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" y="5541264"/>
            <a:ext cx="457200" cy="4572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508760" y="5349240"/>
            <a:ext cx="992124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FFD479"/>
                </a:solidFill>
                <a:latin typeface="Yu Gothic"/>
                <a:ea typeface="Yu Gothic"/>
                <a:cs typeface="Yu Gothic"/>
              </a:rPr>
              <a:t>効果   </a:t>
            </a:r>
            <a:r>
              <a:rPr sz="1600" b="1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テスト整備に数週間</a:t>
            </a:r>
            <a:r>
              <a:rPr sz="1800" b="1" i="0">
                <a:solidFill>
                  <a:srgbClr val="FF8A4C"/>
                </a:solidFill>
                <a:latin typeface="Yu Gothic"/>
                <a:ea typeface="Yu Gothic"/>
                <a:cs typeface="Yu Gothic"/>
              </a:rPr>
              <a:t>  →  </a:t>
            </a:r>
            <a:r>
              <a:rPr sz="2000" b="1" i="0">
                <a:solidFill>
                  <a:srgbClr val="FFD479"/>
                </a:solidFill>
                <a:latin typeface="Yu Gothic"/>
                <a:ea typeface="Yu Gothic"/>
                <a:cs typeface="Yu Gothic"/>
              </a:rPr>
              <a:t>1週間で本番品質へ引き上げ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37215" y="640080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1050" b="0" i="0">
                <a:solidFill>
                  <a:srgbClr val="8688A8"/>
                </a:solidFill>
                <a:latin typeface="Consolas"/>
                <a:ea typeface="Consolas"/>
                <a:cs typeface="Consolas"/>
              </a:rPr>
              <a:t>06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 i="0">
                <a:solidFill>
                  <a:srgbClr val="54D6C4"/>
                </a:solidFill>
                <a:latin typeface="Yu Gothic"/>
                <a:ea typeface="Yu Gothic"/>
                <a:cs typeface="Yu Gothic"/>
              </a:rPr>
              <a:t>第4章 / 十万行の地図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100297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70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15分で、</a:t>
            </a:r>
            <a:r>
              <a:rPr sz="2700" b="1" i="0">
                <a:solidFill>
                  <a:srgbClr val="54D6C4"/>
                </a:solidFill>
                <a:latin typeface="Yu Gothic"/>
                <a:ea typeface="Yu Gothic"/>
                <a:cs typeface="Yu Gothic"/>
              </a:rPr>
              <a:t>10万行</a:t>
            </a:r>
            <a:r>
              <a:rPr sz="270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の全体像をつかむ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10972800" cy="2435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35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前任者は、もういない。800ファイル以上・10万行の基幹システム。「全体構造を説明して」の一言で、地図が描かれた。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5486400" cy="1298448"/>
          </a:xfrm>
          <a:prstGeom prst="roundRect">
            <a:avLst>
              <a:gd name="adj" fmla="val 9000"/>
            </a:avLst>
          </a:prstGeom>
          <a:solidFill>
            <a:srgbClr val="1B1E36"/>
          </a:solidFill>
          <a:ln w="12700">
            <a:solidFill>
              <a:srgbClr val="2C2F50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896112" y="2633472"/>
            <a:ext cx="603504" cy="603504"/>
          </a:xfrm>
          <a:prstGeom prst="ellipse">
            <a:avLst/>
          </a:prstGeom>
          <a:solidFill>
            <a:srgbClr val="1E3B44"/>
          </a:solidFill>
          <a:ln w="19050">
            <a:solidFill>
              <a:srgbClr val="54D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e_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6812" y="2754172"/>
            <a:ext cx="362102" cy="36210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487168"/>
            <a:ext cx="429768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全体構造を可視化</a:t>
            </a:r>
          </a:p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120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パッケージ構成・API一覧・ドメイン関連図を自動生成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749039"/>
            <a:ext cx="5486400" cy="1298448"/>
          </a:xfrm>
          <a:prstGeom prst="roundRect">
            <a:avLst>
              <a:gd name="adj" fmla="val 9000"/>
            </a:avLst>
          </a:prstGeom>
          <a:solidFill>
            <a:srgbClr val="1B1E36"/>
          </a:solidFill>
          <a:ln w="12700">
            <a:solidFill>
              <a:srgbClr val="2C2F50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896112" y="4096512"/>
            <a:ext cx="603504" cy="603504"/>
          </a:xfrm>
          <a:prstGeom prst="ellipse">
            <a:avLst/>
          </a:prstGeom>
          <a:solidFill>
            <a:srgbClr val="432137"/>
          </a:solidFill>
          <a:ln w="19050">
            <a:solidFill>
              <a:srgbClr val="FF5E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e_ma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6812" y="4217212"/>
            <a:ext cx="362102" cy="36210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645920" y="3950208"/>
            <a:ext cx="429768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バグの原因を即特定</a:t>
            </a:r>
          </a:p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120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スタックトレースを貼るだけで N+1クエリを指摘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92240" y="2286000"/>
            <a:ext cx="5150815" cy="2761488"/>
          </a:xfrm>
          <a:prstGeom prst="roundRect">
            <a:avLst>
              <a:gd name="adj" fmla="val 6000"/>
            </a:avLst>
          </a:prstGeom>
          <a:solidFill>
            <a:srgbClr val="27172A"/>
          </a:solidFill>
          <a:ln w="12700">
            <a:solidFill>
              <a:srgbClr val="7B334F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766560" y="2487168"/>
            <a:ext cx="460217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FF5E8A"/>
                </a:solidFill>
                <a:latin typeface="Yu Gothic"/>
                <a:ea typeface="Yu Gothic"/>
                <a:cs typeface="Yu Gothic"/>
              </a:rPr>
              <a:t>N+1クエリ問題とは？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12280" y="3063240"/>
            <a:ext cx="1554480" cy="566928"/>
          </a:xfrm>
          <a:prstGeom prst="roundRect">
            <a:avLst>
              <a:gd name="adj" fmla="val 18000"/>
            </a:avLst>
          </a:prstGeom>
          <a:solidFill>
            <a:srgbClr val="46AEA3"/>
          </a:solidFill>
          <a:ln w="12700">
            <a:solidFill>
              <a:srgbClr val="54D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12280" y="3063240"/>
            <a:ext cx="15544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20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1リクエスト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0768" y="3108960"/>
            <a:ext cx="5486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2200" b="1" i="0">
                <a:solidFill>
                  <a:srgbClr val="FF5E8A"/>
                </a:solidFill>
                <a:latin typeface="Yu Gothic"/>
                <a:ea typeface="Yu Gothic"/>
                <a:cs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2999232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C36B41"/>
          </a:solidFill>
          <a:ln w="12700">
            <a:solidFill>
              <a:srgbClr val="F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9573768" y="2999232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C36B41"/>
          </a:solidFill>
          <a:ln w="12700">
            <a:solidFill>
              <a:srgbClr val="F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0140696" y="2999232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C36B41"/>
          </a:solidFill>
          <a:ln w="12700">
            <a:solidFill>
              <a:srgbClr val="F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9006840" y="3456432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C36B41"/>
          </a:solidFill>
          <a:ln w="12700">
            <a:solidFill>
              <a:srgbClr val="F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573768" y="3456432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C36B41"/>
          </a:solidFill>
          <a:ln w="12700">
            <a:solidFill>
              <a:srgbClr val="F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961120" y="3950208"/>
            <a:ext cx="249905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 i="0">
                <a:solidFill>
                  <a:srgbClr val="FF8A4C"/>
                </a:solidFill>
                <a:latin typeface="Yu Gothic"/>
                <a:ea typeface="Yu Gothic"/>
                <a:cs typeface="Yu Gothic"/>
              </a:rPr>
              <a:t>…クエリが件数ぶん爆発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12280" y="4434840"/>
            <a:ext cx="451073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1150" b="0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→ JOIN FETCH でまとめて1回に。原因特定はわずか1分。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349240"/>
            <a:ext cx="10927080" cy="841248"/>
          </a:xfrm>
          <a:prstGeom prst="roundRect">
            <a:avLst>
              <a:gd name="adj" fmla="val 16000"/>
            </a:avLst>
          </a:prstGeom>
          <a:solidFill>
            <a:srgbClr val="352F2E"/>
          </a:solidFill>
          <a:ln w="15240">
            <a:solidFill>
              <a:srgbClr val="937B50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e_clo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824" y="5541264"/>
            <a:ext cx="457200" cy="4572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508760" y="5349240"/>
            <a:ext cx="992124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FFD479"/>
                </a:solidFill>
                <a:latin typeface="Yu Gothic"/>
                <a:ea typeface="Yu Gothic"/>
                <a:cs typeface="Yu Gothic"/>
              </a:rPr>
              <a:t>効果   </a:t>
            </a:r>
            <a:r>
              <a:rPr sz="1600" b="1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全体把握に2時間以上＋原因調査</a:t>
            </a:r>
            <a:r>
              <a:rPr sz="1800" b="1" i="0">
                <a:solidFill>
                  <a:srgbClr val="FF8A4C"/>
                </a:solidFill>
                <a:latin typeface="Yu Gothic"/>
                <a:ea typeface="Yu Gothic"/>
                <a:cs typeface="Yu Gothic"/>
              </a:rPr>
              <a:t>  →  </a:t>
            </a:r>
            <a:r>
              <a:rPr sz="2000" b="1" i="0">
                <a:solidFill>
                  <a:srgbClr val="FFD479"/>
                </a:solidFill>
                <a:latin typeface="Yu Gothic"/>
                <a:ea typeface="Yu Gothic"/>
                <a:cs typeface="Yu Gothic"/>
              </a:rPr>
              <a:t>把握15分・原因特定1分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37215" y="640080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1050" b="0" i="0">
                <a:solidFill>
                  <a:srgbClr val="8688A8"/>
                </a:solidFill>
                <a:latin typeface="Consolas"/>
                <a:ea typeface="Consolas"/>
                <a:cs typeface="Consolas"/>
              </a:rPr>
              <a:t>07 / 14</a:t>
            </a:r>
          </a:p>
        </p:txBody>
      </p:sp>
    </p:spTree>
    <p:extLst>
      <p:ext uri="{BB962C8B-B14F-4D97-AF65-F5344CB8AC3E}">
        <p14:creationId xmlns:p14="http://schemas.microsoft.com/office/powerpoint/2010/main" val="18848271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 i="0">
                <a:solidFill>
                  <a:srgbClr val="FF5E8A"/>
                </a:solidFill>
                <a:latin typeface="Yu Gothic"/>
                <a:ea typeface="Yu Gothic"/>
                <a:cs typeface="Yu Gothic"/>
              </a:rPr>
              <a:t>第5章 / 並列で挑む、ひとつの過ち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100297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70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並列で進める。</a:t>
            </a:r>
            <a:r>
              <a:rPr sz="2700" b="1" i="0">
                <a:solidFill>
                  <a:srgbClr val="FF5E8A"/>
                </a:solidFill>
                <a:latin typeface="Yu Gothic"/>
                <a:ea typeface="Yu Gothic"/>
                <a:cs typeface="Yu Gothic"/>
              </a:rPr>
              <a:t>でも、最後は人が見る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35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Subagent で手分けし、git worktree で緊急対応も並行。ただしAIの“やりすぎ”が潜むことも――人のレビューは欠かせない。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5486400" cy="2788920"/>
          </a:xfrm>
          <a:prstGeom prst="roundRect">
            <a:avLst>
              <a:gd name="adj" fmla="val 6000"/>
            </a:avLst>
          </a:prstGeom>
          <a:solidFill>
            <a:srgbClr val="1B1E36"/>
          </a:solidFill>
          <a:ln w="12700">
            <a:solidFill>
              <a:srgbClr val="2C2F50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32688" y="2487168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9A7BFF"/>
                </a:solidFill>
                <a:latin typeface="Yu Gothic"/>
                <a:ea typeface="Yu Gothic"/>
                <a:cs typeface="Yu Gothic"/>
              </a:rPr>
              <a:t>git worktree ＝ 作業場を分ける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06039" y="2944368"/>
            <a:ext cx="1554480" cy="502920"/>
          </a:xfrm>
          <a:prstGeom prst="roundRect">
            <a:avLst>
              <a:gd name="adj" fmla="val 16000"/>
            </a:avLst>
          </a:prstGeom>
          <a:solidFill>
            <a:srgbClr val="7E65D2"/>
          </a:solidFill>
          <a:ln w="12700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606039" y="2944368"/>
            <a:ext cx="1554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5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1つのリポジトリ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0" y="3767328"/>
            <a:ext cx="2194560" cy="749808"/>
          </a:xfrm>
          <a:prstGeom prst="roundRect">
            <a:avLst>
              <a:gd name="adj" fmla="val 12000"/>
            </a:avLst>
          </a:prstGeom>
          <a:solidFill>
            <a:srgbClr val="48B6A9"/>
          </a:solidFill>
          <a:ln w="12700">
            <a:solidFill>
              <a:srgbClr val="54D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97280" y="3767328"/>
            <a:ext cx="219456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4D6C4"/>
                </a:solidFill>
                <a:latin typeface="Yu Gothic"/>
                <a:ea typeface="Yu Gothic"/>
                <a:cs typeface="Yu Gothic"/>
              </a:rPr>
              <a:t>作業場A</a:t>
            </a:r>
          </a:p>
          <a:p>
            <a:pPr algn="ctr">
              <a:spcBef>
                <a:spcPts val="0"/>
              </a:spcBef>
            </a:pPr>
            <a:r>
              <a:rPr sz="110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大規模リファクタ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0" y="3767328"/>
            <a:ext cx="2194560" cy="749808"/>
          </a:xfrm>
          <a:prstGeom prst="roundRect">
            <a:avLst>
              <a:gd name="adj" fmla="val 12000"/>
            </a:avLst>
          </a:prstGeom>
          <a:solidFill>
            <a:srgbClr val="D87644"/>
          </a:solidFill>
          <a:ln w="12700">
            <a:solidFill>
              <a:srgbClr val="F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474720" y="3767328"/>
            <a:ext cx="219456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8A4C"/>
                </a:solidFill>
                <a:latin typeface="Yu Gothic"/>
                <a:ea typeface="Yu Gothic"/>
                <a:cs typeface="Yu Gothic"/>
              </a:rPr>
              <a:t>作業場B</a:t>
            </a:r>
          </a:p>
          <a:p>
            <a:pPr algn="ctr">
              <a:spcBef>
                <a:spcPts val="0"/>
              </a:spcBef>
            </a:pPr>
            <a:r>
              <a:rPr sz="110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緊急hotfix（15分）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66344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 b="0" i="0">
                <a:solidFill>
                  <a:srgbClr val="8688A8"/>
                </a:solidFill>
                <a:latin typeface="Yu Gothic"/>
                <a:ea typeface="Yu Gothic"/>
                <a:cs typeface="Yu Gothic"/>
              </a:rPr>
              <a:t>切り替えで混乱しない。両方そのまま進む。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2286000"/>
            <a:ext cx="5150815" cy="2788920"/>
          </a:xfrm>
          <a:prstGeom prst="roundRect">
            <a:avLst>
              <a:gd name="adj" fmla="val 6000"/>
            </a:avLst>
          </a:prstGeom>
          <a:solidFill>
            <a:srgbClr val="27172A"/>
          </a:solidFill>
          <a:ln w="12700">
            <a:solidFill>
              <a:srgbClr val="873755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6766560" y="2542032"/>
            <a:ext cx="566928" cy="566928"/>
          </a:xfrm>
          <a:prstGeom prst="ellipse">
            <a:avLst/>
          </a:prstGeom>
          <a:solidFill>
            <a:srgbClr val="432137"/>
          </a:solidFill>
          <a:ln w="19050">
            <a:solidFill>
              <a:srgbClr val="FF5E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e_ha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9945" y="2655417"/>
            <a:ext cx="340156" cy="34015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452360" y="2615184"/>
            <a:ext cx="405353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 i="0">
                <a:solidFill>
                  <a:srgbClr val="FF5E8A"/>
                </a:solidFill>
                <a:latin typeface="Yu Gothic"/>
                <a:ea typeface="Yu Gothic"/>
                <a:cs typeface="Yu Gothic"/>
              </a:rPr>
              <a:t>AI出力レビューの“儀式”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4848" y="3337560"/>
            <a:ext cx="4602175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793" b="0" i="0">
                <a:solidFill>
                  <a:srgbClr val="FF5E8A"/>
                </a:solidFill>
                <a:latin typeface="Yu Gothic"/>
                <a:ea typeface="Yu Gothic"/>
                <a:cs typeface="Yu Gothic"/>
              </a:rPr>
              <a:t>● </a:t>
            </a:r>
            <a:r>
              <a:rPr sz="1280" b="0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git diff で変更を必ず目視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793" b="0" i="0">
                <a:solidFill>
                  <a:srgbClr val="FF5E8A"/>
                </a:solidFill>
                <a:latin typeface="Yu Gothic"/>
                <a:ea typeface="Yu Gothic"/>
                <a:cs typeface="Yu Gothic"/>
              </a:rPr>
              <a:t>● </a:t>
            </a:r>
            <a:r>
              <a:rPr sz="1280" b="0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「意図どおりか」を1点ずつ確認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793" b="0" i="0">
                <a:solidFill>
                  <a:srgbClr val="FF5E8A"/>
                </a:solidFill>
                <a:latin typeface="Yu Gothic"/>
                <a:ea typeface="Yu Gothic"/>
                <a:cs typeface="Yu Gothic"/>
              </a:rPr>
              <a:t>● </a:t>
            </a:r>
            <a:r>
              <a:rPr sz="1280" b="0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影響範囲を grep で洗い出す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793" b="0" i="0">
                <a:solidFill>
                  <a:srgbClr val="FF5E8A"/>
                </a:solidFill>
                <a:latin typeface="Yu Gothic"/>
                <a:ea typeface="Yu Gothic"/>
                <a:cs typeface="Yu Gothic"/>
              </a:rPr>
              <a:t>● </a:t>
            </a:r>
            <a:r>
              <a:rPr sz="1280" b="0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学びは CLAUDE.md に書き足す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5349240"/>
            <a:ext cx="10927080" cy="841248"/>
          </a:xfrm>
          <a:prstGeom prst="roundRect">
            <a:avLst>
              <a:gd name="adj" fmla="val 16000"/>
            </a:avLst>
          </a:prstGeom>
          <a:solidFill>
            <a:srgbClr val="352F2E"/>
          </a:solidFill>
          <a:ln w="15240">
            <a:solidFill>
              <a:srgbClr val="937B50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e_shie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" y="5541264"/>
            <a:ext cx="457200" cy="457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508760" y="5349240"/>
            <a:ext cx="992124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FFD479"/>
                </a:solidFill>
                <a:latin typeface="Yu Gothic"/>
                <a:ea typeface="Yu Gothic"/>
                <a:cs typeface="Yu Gothic"/>
              </a:rPr>
              <a:t>効果   </a:t>
            </a:r>
            <a:r>
              <a:rPr sz="1600" b="1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AIの過剰な“統一”で型崩れ</a:t>
            </a:r>
            <a:r>
              <a:rPr sz="1800" b="1" i="0">
                <a:solidFill>
                  <a:srgbClr val="FF8A4C"/>
                </a:solidFill>
                <a:latin typeface="Yu Gothic"/>
                <a:ea typeface="Yu Gothic"/>
                <a:cs typeface="Yu Gothic"/>
              </a:rPr>
              <a:t>  →  </a:t>
            </a:r>
            <a:r>
              <a:rPr sz="2000" b="1" i="0">
                <a:solidFill>
                  <a:srgbClr val="FFD479"/>
                </a:solidFill>
                <a:latin typeface="Yu Gothic"/>
                <a:ea typeface="Yu Gothic"/>
                <a:cs typeface="Yu Gothic"/>
              </a:rPr>
              <a:t>人のレビューで未然に防ぐ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37215" y="640080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1050" b="0" i="0">
                <a:solidFill>
                  <a:srgbClr val="8688A8"/>
                </a:solidFill>
                <a:latin typeface="Consolas"/>
                <a:ea typeface="Consolas"/>
                <a:cs typeface="Consolas"/>
              </a:rPr>
              <a:t>08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 i="0">
                <a:solidFill>
                  <a:srgbClr val="FF8A4C"/>
                </a:solidFill>
                <a:latin typeface="Yu Gothic"/>
                <a:ea typeface="Yu Gothic"/>
                <a:cs typeface="Yu Gothic"/>
              </a:rPr>
              <a:t>第6章 / AIのコードは、AIにレビューさせる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100297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70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仕組みで、品質を自動化する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35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チームに広がり、レビューが追いつかない。ならばAIにレビューさせ、品質チェックを“自動の関所”にする。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3502152" cy="1783080"/>
          </a:xfrm>
          <a:prstGeom prst="roundRect">
            <a:avLst>
              <a:gd name="adj" fmla="val 7000"/>
            </a:avLst>
          </a:prstGeom>
          <a:solidFill>
            <a:srgbClr val="1B1E36"/>
          </a:solidFill>
          <a:ln w="12700">
            <a:solidFill>
              <a:srgbClr val="2C2F50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896112" y="2542032"/>
            <a:ext cx="603504" cy="603504"/>
          </a:xfrm>
          <a:prstGeom prst="ellipse">
            <a:avLst/>
          </a:prstGeom>
          <a:solidFill>
            <a:srgbClr val="2D2751"/>
          </a:solidFill>
          <a:ln w="19050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e_rob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6812" y="2662732"/>
            <a:ext cx="362102" cy="36210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27632" y="2633472"/>
            <a:ext cx="24048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9A7BFF"/>
                </a:solidFill>
                <a:latin typeface="Yu Gothic"/>
                <a:ea typeface="Yu Gothic"/>
                <a:cs typeface="Yu Gothic"/>
              </a:rPr>
              <a:t>AIレビュー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310128"/>
            <a:ext cx="2953512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20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セキュリティ・作り込み過ぎ・テスト漏れを自動指摘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2544" y="2286000"/>
            <a:ext cx="3502152" cy="1783080"/>
          </a:xfrm>
          <a:prstGeom prst="roundRect">
            <a:avLst>
              <a:gd name="adj" fmla="val 7000"/>
            </a:avLst>
          </a:prstGeom>
          <a:solidFill>
            <a:srgbClr val="1B1E36"/>
          </a:solidFill>
          <a:ln w="12700">
            <a:solidFill>
              <a:srgbClr val="2C2F50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4608576" y="2542032"/>
            <a:ext cx="603504" cy="603504"/>
          </a:xfrm>
          <a:prstGeom prst="ellipse">
            <a:avLst/>
          </a:prstGeom>
          <a:solidFill>
            <a:srgbClr val="1E3B44"/>
          </a:solidFill>
          <a:ln w="19050">
            <a:solidFill>
              <a:srgbClr val="54D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e_ge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9276" y="2662732"/>
            <a:ext cx="362102" cy="36210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340096" y="2633472"/>
            <a:ext cx="24048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54D6C4"/>
                </a:solidFill>
                <a:latin typeface="Yu Gothic"/>
                <a:ea typeface="Yu Gothic"/>
                <a:cs typeface="Yu Gothic"/>
              </a:rPr>
              <a:t>hooks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3310128"/>
            <a:ext cx="2953512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20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実行の前後で自動チェック＆整形。通らなければ止める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5008" y="2286000"/>
            <a:ext cx="3502152" cy="1783080"/>
          </a:xfrm>
          <a:prstGeom prst="roundRect">
            <a:avLst>
              <a:gd name="adj" fmla="val 7000"/>
            </a:avLst>
          </a:prstGeom>
          <a:solidFill>
            <a:srgbClr val="1B1E36"/>
          </a:solidFill>
          <a:ln w="12700">
            <a:solidFill>
              <a:srgbClr val="2C2F50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8321040" y="2542032"/>
            <a:ext cx="603504" cy="603504"/>
          </a:xfrm>
          <a:prstGeom prst="ellipse">
            <a:avLst/>
          </a:prstGeom>
          <a:solidFill>
            <a:srgbClr val="433B33"/>
          </a:solidFill>
          <a:ln w="19050">
            <a:solidFill>
              <a:srgbClr val="FFD4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e_lin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41740" y="2662732"/>
            <a:ext cx="362102" cy="36210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052560" y="2633472"/>
            <a:ext cx="24048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FFD479"/>
                </a:solidFill>
                <a:latin typeface="Yu Gothic"/>
                <a:ea typeface="Yu Gothic"/>
                <a:cs typeface="Yu Gothic"/>
              </a:rPr>
              <a:t>MCP連携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7616" y="3310128"/>
            <a:ext cx="2953512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20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Jira等の外部ツールと接続し、PR説明まで自動生成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3434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8688A8"/>
                </a:solidFill>
                <a:latin typeface="Yu Gothic"/>
                <a:ea typeface="Yu Gothic"/>
                <a:cs typeface="Yu Gothic"/>
              </a:rPr>
              <a:t>7つのピースが噛み合うと…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727448"/>
            <a:ext cx="1078992" cy="457200"/>
          </a:xfrm>
          <a:prstGeom prst="roundRect">
            <a:avLst>
              <a:gd name="adj" fmla="val 25000"/>
            </a:avLst>
          </a:prstGeom>
          <a:solidFill>
            <a:srgbClr val="CFAC67"/>
          </a:solidFill>
          <a:ln w="12700">
            <a:solidFill>
              <a:srgbClr val="FFD4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0080" y="4727448"/>
            <a:ext cx="107899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1" i="0">
                <a:solidFill>
                  <a:srgbClr val="E9E9F2"/>
                </a:solidFill>
                <a:latin typeface="Consolas"/>
                <a:ea typeface="Consolas"/>
                <a:cs typeface="Consolas"/>
              </a:rPr>
              <a:t>CLAUDE.md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801368" y="4727448"/>
            <a:ext cx="1078992" cy="457200"/>
          </a:xfrm>
          <a:prstGeom prst="roundRect">
            <a:avLst>
              <a:gd name="adj" fmla="val 25000"/>
            </a:avLst>
          </a:prstGeom>
          <a:solidFill>
            <a:srgbClr val="CF7143"/>
          </a:solidFill>
          <a:ln w="12700">
            <a:solidFill>
              <a:srgbClr val="F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801368" y="4727448"/>
            <a:ext cx="107899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1" i="0">
                <a:solidFill>
                  <a:srgbClr val="E9E9F2"/>
                </a:solidFill>
                <a:latin typeface="Consolas"/>
                <a:ea typeface="Consolas"/>
                <a:cs typeface="Consolas"/>
              </a:rPr>
              <a:t>Skills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962656" y="4727448"/>
            <a:ext cx="1078992" cy="457200"/>
          </a:xfrm>
          <a:prstGeom prst="roundRect">
            <a:avLst>
              <a:gd name="adj" fmla="val 25000"/>
            </a:avLst>
          </a:prstGeom>
          <a:solidFill>
            <a:srgbClr val="7E65D2"/>
          </a:solidFill>
          <a:ln w="12700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962656" y="4727448"/>
            <a:ext cx="107899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1" i="0">
                <a:solidFill>
                  <a:srgbClr val="E9E9F2"/>
                </a:solidFill>
                <a:latin typeface="Consolas"/>
                <a:ea typeface="Consolas"/>
                <a:cs typeface="Consolas"/>
              </a:rPr>
              <a:t>Plan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23944" y="4727448"/>
            <a:ext cx="1078992" cy="457200"/>
          </a:xfrm>
          <a:prstGeom prst="roundRect">
            <a:avLst>
              <a:gd name="adj" fmla="val 25000"/>
            </a:avLst>
          </a:prstGeom>
          <a:solidFill>
            <a:srgbClr val="46AEA3"/>
          </a:solidFill>
          <a:ln w="12700">
            <a:solidFill>
              <a:srgbClr val="54D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123944" y="4727448"/>
            <a:ext cx="107899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1" i="0">
                <a:solidFill>
                  <a:srgbClr val="E9E9F2"/>
                </a:solidFill>
                <a:latin typeface="Consolas"/>
                <a:ea typeface="Consolas"/>
                <a:cs typeface="Consolas"/>
              </a:rPr>
              <a:t>Subagent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285231" y="4727448"/>
            <a:ext cx="1078992" cy="457200"/>
          </a:xfrm>
          <a:prstGeom prst="roundRect">
            <a:avLst>
              <a:gd name="adj" fmla="val 25000"/>
            </a:avLst>
          </a:prstGeom>
          <a:solidFill>
            <a:srgbClr val="CF4E74"/>
          </a:solidFill>
          <a:ln w="12700">
            <a:solidFill>
              <a:srgbClr val="FF5E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285231" y="4727448"/>
            <a:ext cx="107899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1" i="0">
                <a:solidFill>
                  <a:srgbClr val="E9E9F2"/>
                </a:solidFill>
                <a:latin typeface="Consolas"/>
                <a:ea typeface="Consolas"/>
                <a:cs typeface="Consolas"/>
              </a:rPr>
              <a:t>hooks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46519" y="4727448"/>
            <a:ext cx="1078992" cy="457200"/>
          </a:xfrm>
          <a:prstGeom prst="roundRect">
            <a:avLst>
              <a:gd name="adj" fmla="val 25000"/>
            </a:avLst>
          </a:prstGeom>
          <a:solidFill>
            <a:srgbClr val="CFAC67"/>
          </a:solidFill>
          <a:ln w="12700">
            <a:solidFill>
              <a:srgbClr val="FFD4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46519" y="4727448"/>
            <a:ext cx="107899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1" i="0">
                <a:solidFill>
                  <a:srgbClr val="E9E9F2"/>
                </a:solidFill>
                <a:latin typeface="Consolas"/>
                <a:ea typeface="Consolas"/>
                <a:cs typeface="Consolas"/>
              </a:rPr>
              <a:t>MCP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607807" y="4727448"/>
            <a:ext cx="1078992" cy="457200"/>
          </a:xfrm>
          <a:prstGeom prst="roundRect">
            <a:avLst>
              <a:gd name="adj" fmla="val 25000"/>
            </a:avLst>
          </a:prstGeom>
          <a:solidFill>
            <a:srgbClr val="46AEA3"/>
          </a:solidFill>
          <a:ln w="12700">
            <a:solidFill>
              <a:srgbClr val="54D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607807" y="4727448"/>
            <a:ext cx="107899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1" i="0">
                <a:solidFill>
                  <a:srgbClr val="E9E9F2"/>
                </a:solidFill>
                <a:latin typeface="Consolas"/>
                <a:ea typeface="Consolas"/>
                <a:cs typeface="Consolas"/>
              </a:rPr>
              <a:t>Docs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87383" y="4727448"/>
            <a:ext cx="5486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2200" b="1" i="0">
                <a:solidFill>
                  <a:srgbClr val="FF8A4C"/>
                </a:solidFill>
                <a:latin typeface="Yu Gothic"/>
                <a:ea typeface="Yu Gothic"/>
                <a:cs typeface="Yu Gothic"/>
              </a:rPr>
              <a:t>→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317735" y="4672584"/>
            <a:ext cx="2606040" cy="566928"/>
          </a:xfrm>
          <a:prstGeom prst="roundRect">
            <a:avLst>
              <a:gd name="adj" fmla="val 20000"/>
            </a:avLst>
          </a:prstGeom>
          <a:solidFill>
            <a:srgbClr val="6D58B7"/>
          </a:solidFill>
          <a:ln w="12700">
            <a:solidFill>
              <a:srgbClr val="9A7BFF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317735" y="4672584"/>
            <a:ext cx="260604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25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チームの開発プロセス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37215" y="640080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1050" b="0" i="0">
                <a:solidFill>
                  <a:srgbClr val="8688A8"/>
                </a:solidFill>
                <a:latin typeface="Consolas"/>
                <a:ea typeface="Consolas"/>
                <a:cs typeface="Consolas"/>
              </a:rPr>
              <a:t>09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 i="0">
                <a:solidFill>
                  <a:srgbClr val="9A7BFF"/>
                </a:solidFill>
                <a:latin typeface="Yu Gothic"/>
                <a:ea typeface="Yu Gothic"/>
                <a:cs typeface="Yu Gothic"/>
              </a:rPr>
              <a:t>第7章 / 号令ではなく、開発ログ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100297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70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“便利だから使って”では、人は動かない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35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正面からの号令は逆効果。田中さんは淡々と成果を共有し続けた。3週間で、チームの半数が自然に動き出す。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5486400" cy="2788920"/>
          </a:xfrm>
          <a:prstGeom prst="roundRect">
            <a:avLst>
              <a:gd name="adj" fmla="val 6000"/>
            </a:avLst>
          </a:prstGeom>
          <a:solidFill>
            <a:srgbClr val="1B1E36"/>
          </a:solidFill>
          <a:ln w="12700">
            <a:solidFill>
              <a:srgbClr val="2C2F50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14400" y="2542032"/>
            <a:ext cx="585216" cy="585216"/>
          </a:xfrm>
          <a:prstGeom prst="ellipse">
            <a:avLst/>
          </a:prstGeom>
          <a:solidFill>
            <a:srgbClr val="2D2751"/>
          </a:solidFill>
          <a:ln w="19050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e_spee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1443" y="2659075"/>
            <a:ext cx="351129" cy="35112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00200" y="2615184"/>
            <a:ext cx="4206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9A7BFF"/>
                </a:solidFill>
                <a:latin typeface="Yu Gothic"/>
                <a:ea typeface="Yu Gothic"/>
                <a:cs typeface="Yu Gothic"/>
              </a:rPr>
              <a:t>広げ方は“見える化”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337560"/>
            <a:ext cx="493776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806" b="0" i="0">
                <a:solidFill>
                  <a:srgbClr val="9A7BFF"/>
                </a:solidFill>
                <a:latin typeface="Yu Gothic"/>
                <a:ea typeface="Yu Gothic"/>
                <a:cs typeface="Yu Gothic"/>
              </a:rPr>
              <a:t>● </a:t>
            </a:r>
            <a:r>
              <a:rPr sz="1300" b="0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#ai-dev-log に成果を淡々と投稿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806" b="0" i="0">
                <a:solidFill>
                  <a:srgbClr val="9A7BFF"/>
                </a:solidFill>
                <a:latin typeface="Yu Gothic"/>
                <a:ea typeface="Yu Gothic"/>
                <a:cs typeface="Yu Gothic"/>
              </a:rPr>
              <a:t>● </a:t>
            </a:r>
            <a:r>
              <a:rPr sz="1300" b="0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「2時間→30分」と数字で示す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806" b="0" i="0">
                <a:solidFill>
                  <a:srgbClr val="9A7BFF"/>
                </a:solidFill>
                <a:latin typeface="Yu Gothic"/>
                <a:ea typeface="Yu Gothic"/>
                <a:cs typeface="Yu Gothic"/>
              </a:rPr>
              <a:t>● </a:t>
            </a:r>
            <a:r>
              <a:rPr sz="1300" b="0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セキュリティ指針もAIと作成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806" b="0" i="0">
                <a:solidFill>
                  <a:srgbClr val="9A7BFF"/>
                </a:solidFill>
                <a:latin typeface="Yu Gothic"/>
                <a:ea typeface="Yu Gothic"/>
                <a:cs typeface="Yu Gothic"/>
              </a:rPr>
              <a:t>● </a:t>
            </a:r>
            <a:r>
              <a:rPr sz="1300" b="0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押しつけないから、人が乗ってくる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2286000"/>
            <a:ext cx="5150815" cy="822960"/>
          </a:xfrm>
          <a:prstGeom prst="roundRect">
            <a:avLst>
              <a:gd name="adj" fmla="val 10000"/>
            </a:avLst>
          </a:prstGeom>
          <a:solidFill>
            <a:srgbClr val="2B192C"/>
          </a:solidFill>
          <a:ln w="12700">
            <a:solidFill>
              <a:srgbClr val="873755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12280" y="2286000"/>
            <a:ext cx="18288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35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バグ修正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2286000"/>
            <a:ext cx="2956255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Bef>
                <a:spcPts val="0"/>
              </a:spcBef>
            </a:pPr>
            <a:r>
              <a:rPr sz="1700" b="1" i="0">
                <a:solidFill>
                  <a:srgbClr val="FF5E8A"/>
                </a:solidFill>
                <a:latin typeface="Yu Gothic"/>
                <a:ea typeface="Yu Gothic"/>
                <a:cs typeface="Yu Gothic"/>
              </a:rPr>
              <a:t>2時間 → 30分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92240" y="3227832"/>
            <a:ext cx="5150815" cy="822960"/>
          </a:xfrm>
          <a:prstGeom prst="roundRect">
            <a:avLst>
              <a:gd name="adj" fmla="val 10000"/>
            </a:avLst>
          </a:prstGeom>
          <a:solidFill>
            <a:srgbClr val="172733"/>
          </a:solidFill>
          <a:ln w="12700">
            <a:solidFill>
              <a:srgbClr val="317372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12280" y="3227832"/>
            <a:ext cx="18288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35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テスト生成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227832"/>
            <a:ext cx="2956255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Bef>
                <a:spcPts val="0"/>
              </a:spcBef>
            </a:pPr>
            <a:r>
              <a:rPr sz="1700" b="1" i="0">
                <a:solidFill>
                  <a:srgbClr val="54D6C4"/>
                </a:solidFill>
                <a:latin typeface="Yu Gothic"/>
                <a:ea typeface="Yu Gothic"/>
                <a:cs typeface="Yu Gothic"/>
              </a:rPr>
              <a:t>1日 → 2時間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92240" y="4169664"/>
            <a:ext cx="5150815" cy="822960"/>
          </a:xfrm>
          <a:prstGeom prst="roundRect">
            <a:avLst>
              <a:gd name="adj" fmla="val 10000"/>
            </a:avLst>
          </a:prstGeom>
          <a:solidFill>
            <a:srgbClr val="2B1E25"/>
          </a:solidFill>
          <a:ln w="12700">
            <a:solidFill>
              <a:srgbClr val="874D36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12280" y="4169664"/>
            <a:ext cx="18288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35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リファクタ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4169664"/>
            <a:ext cx="2956255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Bef>
                <a:spcPts val="0"/>
              </a:spcBef>
            </a:pPr>
            <a:r>
              <a:rPr sz="1700" b="1" i="0">
                <a:solidFill>
                  <a:srgbClr val="FF8A4C"/>
                </a:solidFill>
                <a:latin typeface="Yu Gothic"/>
                <a:ea typeface="Yu Gothic"/>
                <a:cs typeface="Yu Gothic"/>
              </a:rPr>
              <a:t>4週間 → 2週間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5349240"/>
            <a:ext cx="10927080" cy="841248"/>
          </a:xfrm>
          <a:prstGeom prst="roundRect">
            <a:avLst>
              <a:gd name="adj" fmla="val 16000"/>
            </a:avLst>
          </a:prstGeom>
          <a:solidFill>
            <a:srgbClr val="352F2E"/>
          </a:solidFill>
          <a:ln w="15240">
            <a:solidFill>
              <a:srgbClr val="937B50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e_peop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" y="5541264"/>
            <a:ext cx="457200" cy="457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508760" y="5349240"/>
            <a:ext cx="992124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FFD479"/>
                </a:solidFill>
                <a:latin typeface="Yu Gothic"/>
                <a:ea typeface="Yu Gothic"/>
                <a:cs typeface="Yu Gothic"/>
              </a:rPr>
              <a:t>効果   </a:t>
            </a:r>
            <a:r>
              <a:rPr sz="1600" b="1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正面から「使って」→ 無反応</a:t>
            </a:r>
            <a:r>
              <a:rPr sz="1800" b="1" i="0">
                <a:solidFill>
                  <a:srgbClr val="FF8A4C"/>
                </a:solidFill>
                <a:latin typeface="Yu Gothic"/>
                <a:ea typeface="Yu Gothic"/>
                <a:cs typeface="Yu Gothic"/>
              </a:rPr>
              <a:t>  →  </a:t>
            </a:r>
            <a:r>
              <a:rPr sz="2000" b="1" i="0">
                <a:solidFill>
                  <a:srgbClr val="FFD479"/>
                </a:solidFill>
                <a:latin typeface="Yu Gothic"/>
                <a:ea typeface="Yu Gothic"/>
                <a:cs typeface="Yu Gothic"/>
              </a:rPr>
              <a:t>3週間でチーム半数が自走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37215" y="640080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1050" b="0" i="0">
                <a:solidFill>
                  <a:srgbClr val="8688A8"/>
                </a:solidFill>
                <a:latin typeface="Consolas"/>
                <a:ea typeface="Consolas"/>
                <a:cs typeface="Consolas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 i="0">
                <a:solidFill>
                  <a:srgbClr val="FFD479"/>
                </a:solidFill>
                <a:latin typeface="Yu Gothic"/>
                <a:ea typeface="Yu Gothic"/>
                <a:cs typeface="Yu Gothic"/>
              </a:rPr>
              <a:t>第8章 / AIと歩む、エンジニアの未来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100297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700" b="1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変わるもの。</a:t>
            </a:r>
            <a:r>
              <a:rPr sz="270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そして、人に残るもの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35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「全部AIがやる時代では？」――不安に、先輩は答える。手で書く価値は下がる。でも“構造を見て判断する力”は残る。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331720"/>
            <a:ext cx="3200400" cy="1600200"/>
          </a:xfrm>
          <a:prstGeom prst="roundRect">
            <a:avLst>
              <a:gd name="adj" fmla="val 8000"/>
            </a:avLst>
          </a:prstGeom>
          <a:solidFill>
            <a:srgbClr val="302126"/>
          </a:solidFill>
          <a:ln w="12700">
            <a:solidFill>
              <a:srgbClr val="FF8A4C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2587752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800" b="1" i="0">
                <a:solidFill>
                  <a:srgbClr val="FF8A4C"/>
                </a:solidFill>
                <a:latin typeface="Yu Gothic"/>
                <a:ea typeface="Yu Gothic"/>
                <a:cs typeface="Yu Gothic"/>
              </a:rPr>
              <a:t>↓ </a:t>
            </a:r>
            <a:r>
              <a:rPr sz="170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手で書く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46120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30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価値は下がる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14215" y="2834639"/>
            <a:ext cx="5486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2600" b="1" i="0">
                <a:solidFill>
                  <a:srgbClr val="A991FC"/>
                </a:solidFill>
                <a:latin typeface="Yu Gothic"/>
                <a:ea typeface="Yu Gothic"/>
                <a:cs typeface="Yu Gothic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59" y="2331720"/>
            <a:ext cx="3200400" cy="1600200"/>
          </a:xfrm>
          <a:prstGeom prst="roundRect">
            <a:avLst>
              <a:gd name="adj" fmla="val 8000"/>
            </a:avLst>
          </a:prstGeom>
          <a:solidFill>
            <a:srgbClr val="301A2E"/>
          </a:solidFill>
          <a:ln w="12700">
            <a:solidFill>
              <a:srgbClr val="FF5E8A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80559" y="2587752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800" b="1" i="0">
                <a:solidFill>
                  <a:srgbClr val="FF5E8A"/>
                </a:solidFill>
                <a:latin typeface="Yu Gothic"/>
                <a:ea typeface="Yu Gothic"/>
                <a:cs typeface="Yu Gothic"/>
              </a:rPr>
              <a:t>↓ </a:t>
            </a:r>
            <a:r>
              <a:rPr sz="170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コードを読む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59" y="3246120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30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価値は下がる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17535" y="2834639"/>
            <a:ext cx="5486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2600" b="1" i="0">
                <a:solidFill>
                  <a:srgbClr val="A991FC"/>
                </a:solidFill>
                <a:latin typeface="Yu Gothic"/>
                <a:ea typeface="Yu Gothic"/>
                <a:cs typeface="Yu Gothic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79" y="2331720"/>
            <a:ext cx="3200400" cy="1600200"/>
          </a:xfrm>
          <a:prstGeom prst="roundRect">
            <a:avLst>
              <a:gd name="adj" fmla="val 8000"/>
            </a:avLst>
          </a:prstGeom>
          <a:solidFill>
            <a:srgbClr val="46AEA3"/>
          </a:solidFill>
          <a:ln w="20320">
            <a:solidFill>
              <a:srgbClr val="54D6C4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183879" y="2587752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800" b="1" i="0">
                <a:solidFill>
                  <a:srgbClr val="54D6C4"/>
                </a:solidFill>
                <a:latin typeface="Yu Gothic"/>
                <a:ea typeface="Yu Gothic"/>
                <a:cs typeface="Yu Gothic"/>
              </a:rPr>
              <a:t>↑ </a:t>
            </a:r>
            <a:r>
              <a:rPr sz="170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構造を見る力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79" y="3246120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300" b="1" i="0">
                <a:solidFill>
                  <a:srgbClr val="FFD479"/>
                </a:solidFill>
                <a:latin typeface="Yu Gothic"/>
                <a:ea typeface="Yu Gothic"/>
                <a:cs typeface="Yu Gothic"/>
              </a:rPr>
              <a:t>最後まで残る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343400"/>
            <a:ext cx="10652760" cy="868680"/>
          </a:xfrm>
          <a:prstGeom prst="roundRect">
            <a:avLst>
              <a:gd name="adj" fmla="val 14000"/>
            </a:avLst>
          </a:prstGeom>
          <a:solidFill>
            <a:srgbClr val="252143"/>
          </a:solidFill>
          <a:ln w="12700">
            <a:solidFill>
              <a:srgbClr val="5B4A9A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4343400"/>
            <a:ext cx="1065276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700" b="1" i="0">
                <a:solidFill>
                  <a:srgbClr val="54D6C4"/>
                </a:solidFill>
                <a:latin typeface="Yu Gothic"/>
                <a:ea typeface="Yu Gothic"/>
                <a:cs typeface="Yu Gothic"/>
              </a:rPr>
              <a:t>「手を動かす力」</a:t>
            </a:r>
            <a:r>
              <a:rPr sz="190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  ×  </a:t>
            </a:r>
            <a:r>
              <a:rPr sz="1700" b="1" i="0">
                <a:solidFill>
                  <a:srgbClr val="9A7BFF"/>
                </a:solidFill>
                <a:latin typeface="Yu Gothic"/>
                <a:ea typeface="Yu Gothic"/>
                <a:cs typeface="Yu Gothic"/>
              </a:rPr>
              <a:t>「AIを使う力」</a:t>
            </a:r>
            <a:r>
              <a:rPr sz="190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  =  </a:t>
            </a:r>
            <a:r>
              <a:rPr sz="1700" b="1" i="0">
                <a:solidFill>
                  <a:srgbClr val="FFD479"/>
                </a:solidFill>
                <a:latin typeface="Yu Gothic"/>
                <a:ea typeface="Yu Gothic"/>
                <a:cs typeface="Yu Gothic"/>
              </a:rPr>
              <a:t>これからのエンジニアの価値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37215" y="640080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1050" b="0" i="0">
                <a:solidFill>
                  <a:srgbClr val="8688A8"/>
                </a:solidFill>
                <a:latin typeface="Consolas"/>
                <a:ea typeface="Consolas"/>
                <a:cs typeface="Consolas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 i="0">
                <a:solidFill>
                  <a:srgbClr val="FF8A4C"/>
                </a:solidFill>
                <a:latin typeface="Yu Gothic"/>
                <a:ea typeface="Yu Gothic"/>
                <a:cs typeface="Yu Gothic"/>
              </a:rPr>
              <a:t>IMPACT / 数字で見る半年間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100297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70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“使ってみたい”の、たしかな理由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3502152" cy="1481328"/>
          </a:xfrm>
          <a:prstGeom prst="roundRect">
            <a:avLst>
              <a:gd name="adj" fmla="val 7000"/>
            </a:avLst>
          </a:prstGeom>
          <a:solidFill>
            <a:srgbClr val="1B1E36"/>
          </a:solidFill>
          <a:ln w="12700">
            <a:solidFill>
              <a:srgbClr val="2C2F50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77824" y="1911095"/>
            <a:ext cx="548640" cy="548640"/>
          </a:xfrm>
          <a:prstGeom prst="ellipse">
            <a:avLst/>
          </a:prstGeom>
          <a:solidFill>
            <a:srgbClr val="432A29"/>
          </a:solidFill>
          <a:ln w="19050">
            <a:solidFill>
              <a:srgbClr val="F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e_rock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2020824"/>
            <a:ext cx="329184" cy="32918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36192" y="1929384"/>
            <a:ext cx="249631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50" b="1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プロトタイプ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78024"/>
            <a:ext cx="2953512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8688A8"/>
                </a:solidFill>
                <a:latin typeface="Yu Gothic"/>
                <a:ea typeface="Yu Gothic"/>
                <a:cs typeface="Yu Gothic"/>
              </a:rPr>
              <a:t>2週間</a:t>
            </a:r>
            <a:r>
              <a:rPr sz="1400" b="1" i="0">
                <a:solidFill>
                  <a:srgbClr val="FF8A4C"/>
                </a:solidFill>
                <a:latin typeface="Yu Gothic"/>
                <a:ea typeface="Yu Gothic"/>
                <a:cs typeface="Yu Gothic"/>
              </a:rPr>
              <a:t>  →  </a:t>
            </a:r>
            <a:r>
              <a:rPr sz="2100" b="1" i="0">
                <a:solidFill>
                  <a:srgbClr val="FF8A4C"/>
                </a:solidFill>
                <a:latin typeface="Yu Gothic"/>
                <a:ea typeface="Yu Gothic"/>
                <a:cs typeface="Yu Gothic"/>
              </a:rPr>
              <a:t>半日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52544" y="1691640"/>
            <a:ext cx="3502152" cy="1481328"/>
          </a:xfrm>
          <a:prstGeom prst="roundRect">
            <a:avLst>
              <a:gd name="adj" fmla="val 7000"/>
            </a:avLst>
          </a:prstGeom>
          <a:solidFill>
            <a:srgbClr val="1B1E36"/>
          </a:solidFill>
          <a:ln w="12700">
            <a:solidFill>
              <a:srgbClr val="2C2F50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4590288" y="1911095"/>
            <a:ext cx="548640" cy="548640"/>
          </a:xfrm>
          <a:prstGeom prst="ellipse">
            <a:avLst/>
          </a:prstGeom>
          <a:solidFill>
            <a:srgbClr val="1E3B44"/>
          </a:solidFill>
          <a:ln w="19050">
            <a:solidFill>
              <a:srgbClr val="54D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e_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0016" y="2020824"/>
            <a:ext cx="329184" cy="3291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248656" y="1929384"/>
            <a:ext cx="249631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50" b="1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10万行の把握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6864" y="2478024"/>
            <a:ext cx="2953512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8688A8"/>
                </a:solidFill>
                <a:latin typeface="Yu Gothic"/>
                <a:ea typeface="Yu Gothic"/>
                <a:cs typeface="Yu Gothic"/>
              </a:rPr>
              <a:t>2時間+</a:t>
            </a:r>
            <a:r>
              <a:rPr sz="1400" b="1" i="0">
                <a:solidFill>
                  <a:srgbClr val="54D6C4"/>
                </a:solidFill>
                <a:latin typeface="Yu Gothic"/>
                <a:ea typeface="Yu Gothic"/>
                <a:cs typeface="Yu Gothic"/>
              </a:rPr>
              <a:t>  →  </a:t>
            </a:r>
            <a:r>
              <a:rPr sz="2100" b="1" i="0">
                <a:solidFill>
                  <a:srgbClr val="54D6C4"/>
                </a:solidFill>
                <a:latin typeface="Yu Gothic"/>
                <a:ea typeface="Yu Gothic"/>
                <a:cs typeface="Yu Gothic"/>
              </a:rPr>
              <a:t>15分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5008" y="1691640"/>
            <a:ext cx="3502152" cy="1481328"/>
          </a:xfrm>
          <a:prstGeom prst="roundRect">
            <a:avLst>
              <a:gd name="adj" fmla="val 7000"/>
            </a:avLst>
          </a:prstGeom>
          <a:solidFill>
            <a:srgbClr val="1B1E36"/>
          </a:solidFill>
          <a:ln w="12700">
            <a:solidFill>
              <a:srgbClr val="2C2F50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8302752" y="1911095"/>
            <a:ext cx="548640" cy="548640"/>
          </a:xfrm>
          <a:prstGeom prst="ellipse">
            <a:avLst/>
          </a:prstGeom>
          <a:solidFill>
            <a:srgbClr val="432137"/>
          </a:solidFill>
          <a:ln w="19050">
            <a:solidFill>
              <a:srgbClr val="FF5E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e_ma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2480" y="2020824"/>
            <a:ext cx="329184" cy="32918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961120" y="1929384"/>
            <a:ext cx="249631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50" b="1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バグ原因特定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9328" y="2478024"/>
            <a:ext cx="2953512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8688A8"/>
                </a:solidFill>
                <a:latin typeface="Yu Gothic"/>
                <a:ea typeface="Yu Gothic"/>
                <a:cs typeface="Yu Gothic"/>
              </a:rPr>
              <a:t>数時間</a:t>
            </a:r>
            <a:r>
              <a:rPr sz="1400" b="1" i="0">
                <a:solidFill>
                  <a:srgbClr val="FF5E8A"/>
                </a:solidFill>
                <a:latin typeface="Yu Gothic"/>
                <a:ea typeface="Yu Gothic"/>
                <a:cs typeface="Yu Gothic"/>
              </a:rPr>
              <a:t>  →  </a:t>
            </a:r>
            <a:r>
              <a:rPr sz="2100" b="1" i="0">
                <a:solidFill>
                  <a:srgbClr val="FF5E8A"/>
                </a:solidFill>
                <a:latin typeface="Yu Gothic"/>
                <a:ea typeface="Yu Gothic"/>
                <a:cs typeface="Yu Gothic"/>
              </a:rPr>
              <a:t>1分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374136"/>
            <a:ext cx="3502152" cy="1481328"/>
          </a:xfrm>
          <a:prstGeom prst="roundRect">
            <a:avLst>
              <a:gd name="adj" fmla="val 7000"/>
            </a:avLst>
          </a:prstGeom>
          <a:solidFill>
            <a:srgbClr val="1B1E36"/>
          </a:solidFill>
          <a:ln w="12700">
            <a:solidFill>
              <a:srgbClr val="2C2F50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877824" y="3593592"/>
            <a:ext cx="548640" cy="548640"/>
          </a:xfrm>
          <a:prstGeom prst="ellipse">
            <a:avLst/>
          </a:prstGeom>
          <a:solidFill>
            <a:srgbClr val="2D2751"/>
          </a:solidFill>
          <a:ln w="19050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e_tes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552" y="3703320"/>
            <a:ext cx="329184" cy="32918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536192" y="3611880"/>
            <a:ext cx="249631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50" b="1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テスト整備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160520"/>
            <a:ext cx="2953512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8688A8"/>
                </a:solidFill>
                <a:latin typeface="Yu Gothic"/>
                <a:ea typeface="Yu Gothic"/>
                <a:cs typeface="Yu Gothic"/>
              </a:rPr>
              <a:t>数週間</a:t>
            </a:r>
            <a:r>
              <a:rPr sz="1400" b="1" i="0">
                <a:solidFill>
                  <a:srgbClr val="9A7BFF"/>
                </a:solidFill>
                <a:latin typeface="Yu Gothic"/>
                <a:ea typeface="Yu Gothic"/>
                <a:cs typeface="Yu Gothic"/>
              </a:rPr>
              <a:t>  →  </a:t>
            </a:r>
            <a:r>
              <a:rPr sz="2100" b="1" i="0">
                <a:solidFill>
                  <a:srgbClr val="9A7BFF"/>
                </a:solidFill>
                <a:latin typeface="Yu Gothic"/>
                <a:ea typeface="Yu Gothic"/>
                <a:cs typeface="Yu Gothic"/>
              </a:rPr>
              <a:t>1週間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52544" y="3374136"/>
            <a:ext cx="3502152" cy="1481328"/>
          </a:xfrm>
          <a:prstGeom prst="roundRect">
            <a:avLst>
              <a:gd name="adj" fmla="val 7000"/>
            </a:avLst>
          </a:prstGeom>
          <a:solidFill>
            <a:srgbClr val="1B1E36"/>
          </a:solidFill>
          <a:ln w="12700">
            <a:solidFill>
              <a:srgbClr val="2C2F50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4590288" y="3593592"/>
            <a:ext cx="548640" cy="548640"/>
          </a:xfrm>
          <a:prstGeom prst="ellipse">
            <a:avLst/>
          </a:prstGeom>
          <a:solidFill>
            <a:srgbClr val="433B33"/>
          </a:solidFill>
          <a:ln w="19050">
            <a:solidFill>
              <a:srgbClr val="FFD4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e_cloc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00016" y="3703320"/>
            <a:ext cx="329184" cy="32918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248656" y="3611880"/>
            <a:ext cx="249631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50" b="1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バグ修正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26864" y="4160520"/>
            <a:ext cx="2953512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8688A8"/>
                </a:solidFill>
                <a:latin typeface="Yu Gothic"/>
                <a:ea typeface="Yu Gothic"/>
                <a:cs typeface="Yu Gothic"/>
              </a:rPr>
              <a:t>2時間</a:t>
            </a:r>
            <a:r>
              <a:rPr sz="1400" b="1" i="0">
                <a:solidFill>
                  <a:srgbClr val="FFD479"/>
                </a:solidFill>
                <a:latin typeface="Yu Gothic"/>
                <a:ea typeface="Yu Gothic"/>
                <a:cs typeface="Yu Gothic"/>
              </a:rPr>
              <a:t>  →  </a:t>
            </a:r>
            <a:r>
              <a:rPr sz="2100" b="1" i="0">
                <a:solidFill>
                  <a:srgbClr val="FFD479"/>
                </a:solidFill>
                <a:latin typeface="Yu Gothic"/>
                <a:ea typeface="Yu Gothic"/>
                <a:cs typeface="Yu Gothic"/>
              </a:rPr>
              <a:t>30分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65008" y="3374136"/>
            <a:ext cx="3502152" cy="1481328"/>
          </a:xfrm>
          <a:prstGeom prst="roundRect">
            <a:avLst>
              <a:gd name="adj" fmla="val 7000"/>
            </a:avLst>
          </a:prstGeom>
          <a:solidFill>
            <a:srgbClr val="1B1E36"/>
          </a:solidFill>
          <a:ln w="12700">
            <a:solidFill>
              <a:srgbClr val="2C2F50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8302752" y="3593592"/>
            <a:ext cx="548640" cy="548640"/>
          </a:xfrm>
          <a:prstGeom prst="ellipse">
            <a:avLst/>
          </a:prstGeom>
          <a:solidFill>
            <a:srgbClr val="2D2751"/>
          </a:solidFill>
          <a:ln w="19050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e_peopl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12480" y="3703320"/>
            <a:ext cx="329184" cy="329184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8961120" y="3611880"/>
            <a:ext cx="249631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50" b="1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チーム普及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39328" y="4160520"/>
            <a:ext cx="2953512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8688A8"/>
                </a:solidFill>
                <a:latin typeface="Yu Gothic"/>
                <a:ea typeface="Yu Gothic"/>
                <a:cs typeface="Yu Gothic"/>
              </a:rPr>
              <a:t>号令×</a:t>
            </a:r>
            <a:r>
              <a:rPr sz="1400" b="1" i="0">
                <a:solidFill>
                  <a:srgbClr val="9A7BFF"/>
                </a:solidFill>
                <a:latin typeface="Yu Gothic"/>
                <a:ea typeface="Yu Gothic"/>
                <a:cs typeface="Yu Gothic"/>
              </a:rPr>
              <a:t>  →  </a:t>
            </a:r>
            <a:r>
              <a:rPr sz="2100" b="1" i="0">
                <a:solidFill>
                  <a:srgbClr val="9A7BFF"/>
                </a:solidFill>
                <a:latin typeface="Yu Gothic"/>
                <a:ea typeface="Yu Gothic"/>
                <a:cs typeface="Yu Gothic"/>
              </a:rPr>
              <a:t>3週で半数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37215" y="640080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1050" b="0" i="0">
                <a:solidFill>
                  <a:srgbClr val="8688A8"/>
                </a:solidFill>
                <a:latin typeface="Consolas"/>
                <a:ea typeface="Consolas"/>
                <a:cs typeface="Consolas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 i="0">
                <a:solidFill>
                  <a:srgbClr val="54D6C4"/>
                </a:solidFill>
                <a:latin typeface="Yu Gothic"/>
                <a:ea typeface="Yu Gothic"/>
                <a:cs typeface="Yu Gothic"/>
              </a:rPr>
              <a:t>GUIDE / 2026年のツール使い分け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100297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70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道具は、適材適所で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10927080" cy="960120"/>
          </a:xfrm>
          <a:prstGeom prst="roundRect">
            <a:avLst>
              <a:gd name="adj" fmla="val 7000"/>
            </a:avLst>
          </a:prstGeom>
          <a:solidFill>
            <a:srgbClr val="141F2D"/>
          </a:solidFill>
          <a:ln w="12700">
            <a:solidFill>
              <a:srgbClr val="2C2F50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68680" y="1897380"/>
            <a:ext cx="548640" cy="548640"/>
          </a:xfrm>
          <a:prstGeom prst="ellipse">
            <a:avLst/>
          </a:prstGeom>
          <a:solidFill>
            <a:srgbClr val="1E3B44"/>
          </a:solidFill>
          <a:ln w="19050">
            <a:solidFill>
              <a:srgbClr val="54D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e_mem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407" y="2007108"/>
            <a:ext cx="329184" cy="32918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600200" y="1691640"/>
            <a:ext cx="292608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GitHub Copilot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1691640"/>
            <a:ext cx="237744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54D6C4"/>
                </a:solidFill>
                <a:latin typeface="Yu Gothic"/>
                <a:ea typeface="Yu Gothic"/>
                <a:cs typeface="Yu Gothic"/>
              </a:rPr>
              <a:t>日常のコード補完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1691640"/>
            <a:ext cx="4343399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書きながら次の一行を提案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816352"/>
            <a:ext cx="10927080" cy="960120"/>
          </a:xfrm>
          <a:prstGeom prst="roundRect">
            <a:avLst>
              <a:gd name="adj" fmla="val 7000"/>
            </a:avLst>
          </a:prstGeom>
          <a:solidFill>
            <a:srgbClr val="221628"/>
          </a:solidFill>
          <a:ln w="12700">
            <a:solidFill>
              <a:srgbClr val="2C2F50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868680" y="3022092"/>
            <a:ext cx="548640" cy="548640"/>
          </a:xfrm>
          <a:prstGeom prst="ellipse">
            <a:avLst/>
          </a:prstGeom>
          <a:solidFill>
            <a:srgbClr val="432137"/>
          </a:solidFill>
          <a:ln w="19050">
            <a:solidFill>
              <a:srgbClr val="FF5E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e_speec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8407" y="3131820"/>
            <a:ext cx="329184" cy="3291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00200" y="2816352"/>
            <a:ext cx="292608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Cursor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2816352"/>
            <a:ext cx="237744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FF5E8A"/>
                </a:solidFill>
                <a:latin typeface="Yu Gothic"/>
                <a:ea typeface="Yu Gothic"/>
                <a:cs typeface="Yu Gothic"/>
              </a:rPr>
              <a:t>UIベースの対話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2816352"/>
            <a:ext cx="4343399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エディタ上で対話しながら編集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941064"/>
            <a:ext cx="10927080" cy="960120"/>
          </a:xfrm>
          <a:prstGeom prst="roundRect">
            <a:avLst>
              <a:gd name="adj" fmla="val 7000"/>
            </a:avLst>
          </a:prstGeom>
          <a:solidFill>
            <a:srgbClr val="282348"/>
          </a:solidFill>
          <a:ln w="22860">
            <a:solidFill>
              <a:srgbClr val="9A7BFF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868680" y="4146804"/>
            <a:ext cx="548640" cy="548640"/>
          </a:xfrm>
          <a:prstGeom prst="ellipse">
            <a:avLst/>
          </a:prstGeom>
          <a:solidFill>
            <a:srgbClr val="2D2751"/>
          </a:solidFill>
          <a:ln w="19050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e_robo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8407" y="4256532"/>
            <a:ext cx="329184" cy="32918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600200" y="3941064"/>
            <a:ext cx="292608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Claude Code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3941064"/>
            <a:ext cx="237744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9A7BFF"/>
                </a:solidFill>
                <a:latin typeface="Yu Gothic"/>
                <a:ea typeface="Yu Gothic"/>
                <a:cs typeface="Yu Gothic"/>
              </a:rPr>
              <a:t>深い対話と設計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3941064"/>
            <a:ext cx="4343399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設計相談・大規模変更・自動化の主役</a:t>
            </a:r>
          </a:p>
        </p:txBody>
      </p:sp>
      <p:pic>
        <p:nvPicPr>
          <p:cNvPr id="23" name="Picture 22" descr="e_sta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64239" y="4087368"/>
            <a:ext cx="292608" cy="292608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640080" y="5065776"/>
            <a:ext cx="10927080" cy="960120"/>
          </a:xfrm>
          <a:prstGeom prst="roundRect">
            <a:avLst>
              <a:gd name="adj" fmla="val 7000"/>
            </a:avLst>
          </a:prstGeom>
          <a:solidFill>
            <a:srgbClr val="221F27"/>
          </a:solidFill>
          <a:ln w="12700">
            <a:solidFill>
              <a:srgbClr val="2C2F50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868680" y="5271516"/>
            <a:ext cx="548640" cy="548640"/>
          </a:xfrm>
          <a:prstGeom prst="ellipse">
            <a:avLst/>
          </a:prstGeom>
          <a:solidFill>
            <a:srgbClr val="433B33"/>
          </a:solidFill>
          <a:ln w="19050">
            <a:solidFill>
              <a:srgbClr val="FFD4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6" name="Picture 25" descr="e_book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8407" y="5381244"/>
            <a:ext cx="329184" cy="329184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600200" y="5065776"/>
            <a:ext cx="292608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Web版 Claude 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26280" y="5065776"/>
            <a:ext cx="237744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FFD479"/>
                </a:solidFill>
                <a:latin typeface="Yu Gothic"/>
                <a:ea typeface="Yu Gothic"/>
                <a:cs typeface="Yu Gothic"/>
              </a:rPr>
              <a:t>一般的な調べもの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9440" y="5065776"/>
            <a:ext cx="4343399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知識の確認・アイデア出し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37215" y="640080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1050" b="0" i="0">
                <a:solidFill>
                  <a:srgbClr val="8688A8"/>
                </a:solidFill>
                <a:latin typeface="Consolas"/>
                <a:ea typeface="Consolas"/>
                <a:cs typeface="Consolas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tit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title_e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69767" y="960120"/>
            <a:ext cx="5852160" cy="9418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1783080"/>
            <a:ext cx="103628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50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難しい設定より先に、まず話しかけてみる。それが第一歩。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697480"/>
            <a:ext cx="3502152" cy="1691640"/>
          </a:xfrm>
          <a:prstGeom prst="roundRect">
            <a:avLst>
              <a:gd name="adj" fmla="val 8000"/>
            </a:avLst>
          </a:prstGeom>
          <a:solidFill>
            <a:srgbClr val="1B1E36"/>
          </a:solidFill>
          <a:ln w="12700">
            <a:solidFill>
              <a:srgbClr val="874D36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2061972" y="2935224"/>
            <a:ext cx="658368" cy="658368"/>
          </a:xfrm>
          <a:prstGeom prst="ellipse">
            <a:avLst/>
          </a:prstGeom>
          <a:solidFill>
            <a:srgbClr val="432A29"/>
          </a:solidFill>
          <a:ln w="19050">
            <a:solidFill>
              <a:srgbClr val="F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e_speec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93645" y="3066897"/>
            <a:ext cx="395020" cy="3950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59" y="3685032"/>
            <a:ext cx="313639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40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①  インストールして話しかける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4023360"/>
            <a:ext cx="313639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5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やりたいことを日本語で伝える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52544" y="2697480"/>
            <a:ext cx="3502152" cy="1691640"/>
          </a:xfrm>
          <a:prstGeom prst="roundRect">
            <a:avLst>
              <a:gd name="adj" fmla="val 8000"/>
            </a:avLst>
          </a:prstGeom>
          <a:solidFill>
            <a:srgbClr val="1B1E36"/>
          </a:solidFill>
          <a:ln w="12700">
            <a:solidFill>
              <a:srgbClr val="87724C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5774436" y="2935224"/>
            <a:ext cx="658368" cy="658368"/>
          </a:xfrm>
          <a:prstGeom prst="ellipse">
            <a:avLst/>
          </a:prstGeom>
          <a:solidFill>
            <a:srgbClr val="433B33"/>
          </a:solidFill>
          <a:ln w="19050">
            <a:solidFill>
              <a:srgbClr val="FFD4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e_mem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06109" y="3066897"/>
            <a:ext cx="395020" cy="3950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35424" y="3685032"/>
            <a:ext cx="313639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40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②  CLAUDE.md を置く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4023360"/>
            <a:ext cx="313639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5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チームの約束を一枚にまとめる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5008" y="2697480"/>
            <a:ext cx="3502152" cy="1691640"/>
          </a:xfrm>
          <a:prstGeom prst="roundRect">
            <a:avLst>
              <a:gd name="adj" fmla="val 8000"/>
            </a:avLst>
          </a:prstGeom>
          <a:solidFill>
            <a:srgbClr val="1B1E36"/>
          </a:solidFill>
          <a:ln w="12700">
            <a:solidFill>
              <a:srgbClr val="54458F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9486900" y="2935224"/>
            <a:ext cx="658368" cy="658368"/>
          </a:xfrm>
          <a:prstGeom prst="ellipse">
            <a:avLst/>
          </a:prstGeom>
          <a:solidFill>
            <a:srgbClr val="2D2751"/>
          </a:solidFill>
          <a:ln w="19050">
            <a:solidFill>
              <a:srgbClr val="9A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e_compas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18573" y="3066897"/>
            <a:ext cx="395020" cy="3950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47888" y="3685032"/>
            <a:ext cx="313639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400" b="1" i="0">
                <a:solidFill>
                  <a:srgbClr val="E9E9F2"/>
                </a:solidFill>
                <a:latin typeface="Yu Gothic"/>
                <a:ea typeface="Yu Gothic"/>
                <a:cs typeface="Yu Gothic"/>
              </a:rPr>
              <a:t>③  /plan で段取りから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7888" y="4023360"/>
            <a:ext cx="313639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50" b="0" i="0">
                <a:solidFill>
                  <a:srgbClr val="B9BAD0"/>
                </a:solidFill>
                <a:latin typeface="Yu Gothic"/>
                <a:ea typeface="Yu Gothic"/>
                <a:cs typeface="Yu Gothic"/>
              </a:rPr>
              <a:t>いきなり書かず、計画してから走る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800600"/>
            <a:ext cx="10927080" cy="914400"/>
          </a:xfrm>
          <a:prstGeom prst="roundRect">
            <a:avLst>
              <a:gd name="adj" fmla="val 14000"/>
            </a:avLst>
          </a:prstGeom>
          <a:solidFill>
            <a:srgbClr val="282348"/>
          </a:solidFill>
          <a:ln w="12700">
            <a:solidFill>
              <a:srgbClr val="6250A5"/>
            </a:solidFill>
          </a:ln>
          <a:effectLst>
            <a:outerShdw blurRad="139700" dist="63500" dir="27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4800600"/>
            <a:ext cx="1092708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600" b="1" i="0">
                <a:solidFill>
                  <a:srgbClr val="E9E9F2"/>
                </a:solidFill>
                <a:latin typeface="Yu Mincho"/>
                <a:ea typeface="Yu Mincho"/>
                <a:cs typeface="Yu Mincho"/>
              </a:rPr>
              <a:t>さあ、あなたの夕暮れのオフィスでも。</a:t>
            </a:r>
            <a:r>
              <a:rPr sz="1800" b="1" i="0">
                <a:solidFill>
                  <a:srgbClr val="FFD479"/>
                </a:solidFill>
                <a:latin typeface="Yu Mincho"/>
                <a:ea typeface="Yu Mincho"/>
                <a:cs typeface="Yu Mincho"/>
              </a:rPr>
              <a:t>  まずは、対話から。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BA024E-65B4-43F4-8483-36AACBB6E7DE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f57f70c1-53e3-408e-9c78-51593c536e6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182</TotalTime>
  <Words>1608</Words>
  <Application>Microsoft Office PowerPoint</Application>
  <PresentationFormat>ワイド画面</PresentationFormat>
  <Paragraphs>226</Paragraphs>
  <Slides>14</Slides>
  <Notes>14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14</vt:i4>
      </vt:variant>
    </vt:vector>
  </HeadingPairs>
  <TitlesOfParts>
    <vt:vector size="20" baseType="lpstr">
      <vt:lpstr>Yu Gothic</vt:lpstr>
      <vt:lpstr>Yu Mincho</vt:lpstr>
      <vt:lpstr>Arial</vt:lpstr>
      <vt:lpstr>Calibri</vt:lpstr>
      <vt:lpstr>Consolas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精工 パーツ</cp:lastModifiedBy>
  <cp:revision>4</cp:revision>
  <dcterms:created xsi:type="dcterms:W3CDTF">2013-01-27T09:14:16Z</dcterms:created>
  <dcterms:modified xsi:type="dcterms:W3CDTF">2026-06-29T02:06:43Z</dcterms:modified>
  <cp:category/>
</cp:coreProperties>
</file>