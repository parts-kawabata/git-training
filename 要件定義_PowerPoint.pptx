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2" d="100"/>
          <a:sy n="152" d="100"/>
        </p:scale>
        <p:origin x="604" y="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6054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ja-JP" altLang="en-US" dirty="0"/>
              <a:t>「はじめよう！要件定義」の書籍をもとに、要件定義についてまとめた</a:t>
            </a:r>
            <a:r>
              <a:rPr lang="en-US" altLang="ja-JP" dirty="0"/>
              <a:t>PowerPoint</a:t>
            </a:r>
            <a:r>
              <a:rPr lang="ja-JP" altLang="en-US"/>
              <a:t>を発表</a:t>
            </a:r>
            <a:r>
              <a:rPr lang="ja-JP" altLang="en-US" dirty="0"/>
              <a:t>させていただきます。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ja-JP" altLang="en-US" dirty="0"/>
              <a:t>流れとしては、</a:t>
            </a:r>
            <a:r>
              <a:rPr dirty="0"/>
              <a:t>①</a:t>
            </a:r>
            <a:r>
              <a:rPr dirty="0" err="1"/>
              <a:t>要件定義</a:t>
            </a:r>
            <a:r>
              <a:rPr lang="ja-JP" altLang="en-US" dirty="0"/>
              <a:t>とは何か</a:t>
            </a:r>
            <a:r>
              <a:rPr dirty="0"/>
              <a:t>　②</a:t>
            </a:r>
            <a:r>
              <a:rPr dirty="0" err="1"/>
              <a:t>なぜ、わざわざ定めるの</a:t>
            </a:r>
            <a:r>
              <a:rPr lang="ja-JP" altLang="en-US" dirty="0"/>
              <a:t>か</a:t>
            </a:r>
            <a:r>
              <a:rPr dirty="0"/>
              <a:t>　③</a:t>
            </a:r>
            <a:r>
              <a:rPr dirty="0" err="1"/>
              <a:t>どうやって作るの</a:t>
            </a:r>
            <a:r>
              <a:rPr lang="ja-JP" altLang="en-US" dirty="0"/>
              <a:t>か　</a:t>
            </a:r>
            <a:r>
              <a:rPr dirty="0" err="1"/>
              <a:t>この順番で進</a:t>
            </a:r>
            <a:r>
              <a:rPr lang="ja-JP" altLang="en-US" dirty="0"/>
              <a:t>めていきます</a:t>
            </a:r>
            <a:r>
              <a:rPr dirty="0"/>
              <a:t>。①</a:t>
            </a:r>
            <a:r>
              <a:rPr dirty="0" err="1"/>
              <a:t>で“正体”をつかみ</a:t>
            </a:r>
            <a:r>
              <a:rPr dirty="0"/>
              <a:t>、②</a:t>
            </a:r>
            <a:r>
              <a:rPr dirty="0" err="1"/>
              <a:t>で“ありがたみ”を実感してもらい</a:t>
            </a:r>
            <a:r>
              <a:rPr dirty="0"/>
              <a:t>、③で“作り方”をたとえ話で体験する、という流れです。この3つが分かれば、要件定義の全体像</a:t>
            </a:r>
            <a:r>
              <a:rPr lang="ja-JP" altLang="en-US" dirty="0"/>
              <a:t>が掴みやすくなります。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それではパート1、まずは“要件定義とは何か”からです。ここでは、掃除・目玉焼き・自動販売機という3つのたとえで、その正体を分かりやすく</a:t>
            </a:r>
            <a:r>
              <a:rPr lang="ja-JP" altLang="en-US" dirty="0"/>
              <a:t>掴んでいきます。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最初のたとえは「掃除」です。家族に「掃除しといてね」とだけ頼んだら、ある人は床だけ、ある人は窓まで、ある人はサッと掃くだけ</a:t>
            </a:r>
            <a:r>
              <a:rPr lang="ja-JP" altLang="en-US" dirty="0"/>
              <a:t>とそれぞれです</a:t>
            </a:r>
            <a:r>
              <a:rPr dirty="0"/>
              <a:t>。頼んだ側が思っていた仕上がりと違って、「</a:t>
            </a:r>
            <a:r>
              <a:rPr dirty="0" err="1"/>
              <a:t>そうじゃないんだよ」とな</a:t>
            </a:r>
            <a:r>
              <a:rPr lang="ja-JP" altLang="en-US" dirty="0"/>
              <a:t>ります</a:t>
            </a:r>
            <a:r>
              <a:rPr dirty="0"/>
              <a:t>。</a:t>
            </a:r>
            <a:r>
              <a:rPr dirty="0" err="1"/>
              <a:t>これ</a:t>
            </a:r>
            <a:r>
              <a:rPr lang="ja-JP" altLang="en-US" dirty="0"/>
              <a:t>と全く同じようなことが</a:t>
            </a:r>
            <a:r>
              <a:rPr dirty="0"/>
              <a:t>、</a:t>
            </a:r>
            <a:r>
              <a:rPr dirty="0" err="1"/>
              <a:t>システム開発でも起きます。だから作る前に</a:t>
            </a:r>
            <a:r>
              <a:rPr dirty="0"/>
              <a:t>、「</a:t>
            </a:r>
            <a:r>
              <a:rPr dirty="0" err="1"/>
              <a:t>どこを、どのレベルまでやるのか」というゴールを、お互いにすり合わせて“約束”にして</a:t>
            </a:r>
            <a:r>
              <a:rPr lang="ja-JP" altLang="en-US" dirty="0"/>
              <a:t>おきます</a:t>
            </a:r>
            <a:r>
              <a:rPr dirty="0"/>
              <a:t>。</a:t>
            </a:r>
            <a:r>
              <a:rPr dirty="0" err="1"/>
              <a:t>この約束こそが、要件定義であり、仕様</a:t>
            </a:r>
            <a:r>
              <a:rPr lang="ja-JP" altLang="en-US" dirty="0"/>
              <a:t>です</a:t>
            </a:r>
            <a:r>
              <a:rPr dirty="0"/>
              <a:t>。ポイントは、出来上がってから直すのではなく、“作る前に”ゴールをそろえる、という点です。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次</a:t>
            </a:r>
            <a:r>
              <a:rPr lang="ja-JP" altLang="en-US" dirty="0"/>
              <a:t>の例えは</a:t>
            </a:r>
            <a:r>
              <a:rPr dirty="0"/>
              <a:t>「</a:t>
            </a:r>
            <a:r>
              <a:rPr dirty="0" err="1"/>
              <a:t>目玉焼き</a:t>
            </a:r>
            <a:r>
              <a:rPr dirty="0"/>
              <a:t>」</a:t>
            </a:r>
            <a:r>
              <a:rPr lang="ja-JP" altLang="en-US" dirty="0"/>
              <a:t>です</a:t>
            </a:r>
            <a:r>
              <a:rPr dirty="0"/>
              <a:t>。同じ目玉焼きでも、黄身はトロトロがいい人、しっかり焼く人、塩の人、しょうゆの人、さまざまです。ことばだけで「目玉焼き作って」と言うと、頭の中の想像がすれ違います。そこで、完成した姿を“絵”にして見せ合</a:t>
            </a:r>
            <a:r>
              <a:rPr lang="ja-JP" altLang="en-US" dirty="0"/>
              <a:t>います</a:t>
            </a:r>
            <a:r>
              <a:rPr dirty="0"/>
              <a:t>。要件定義でも同じで、完成したソフトがどんな画面で、どう動くのかを、先に絵にして共有します。ことばより絵。完成形を目で見て共有すれば、認識のズレがぐっと減ります。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3つ目</a:t>
            </a:r>
            <a:r>
              <a:rPr lang="ja-JP" altLang="en-US" dirty="0"/>
              <a:t>の例えは</a:t>
            </a:r>
            <a:r>
              <a:rPr dirty="0"/>
              <a:t>「</a:t>
            </a:r>
            <a:r>
              <a:rPr dirty="0" err="1"/>
              <a:t>自動販売機</a:t>
            </a:r>
            <a:r>
              <a:rPr dirty="0"/>
              <a:t>」</a:t>
            </a:r>
            <a:r>
              <a:rPr lang="ja-JP" altLang="en-US" dirty="0"/>
              <a:t>です</a:t>
            </a:r>
            <a:r>
              <a:rPr dirty="0"/>
              <a:t>。自販機には、ボタンやお金の入れ口、商品の取り出し口など、人が触る“見た目”の部分があります。これをUI（ユーアイ）と呼びます。一方で、入れたお金を数えて、選ばれた商品を落とす、という“中の仕事”があります。これが機能です。見た目だけでも、中身だけでも、自販機は動きません。両方そろって初めて動く。システムもまったく同じで、UIと機能の両輪でできています。要件定義では、この見た目と中身、両方を決めていく、と覚えて</a:t>
            </a:r>
            <a:r>
              <a:rPr lang="ja-JP" altLang="en-US" dirty="0"/>
              <a:t>おく必要があります。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ja-JP" altLang="en-US" dirty="0"/>
              <a:t>続いて、</a:t>
            </a:r>
            <a:r>
              <a:rPr dirty="0"/>
              <a:t>パート2です。ここでは“なぜ、わざわざ要件定義をするのか”。決めずに進むと何が起きるのか、そして決めた要件が後でどう役立つのかを見ていきます。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では、なぜ定めるのか。ひとつ目の理由は「手戻り」を防ぐためです。手戻りとは、後の工程になってから前に戻ってやり直すこと</a:t>
            </a:r>
            <a:r>
              <a:rPr lang="ja-JP" altLang="en-US" dirty="0"/>
              <a:t>です</a:t>
            </a:r>
            <a:r>
              <a:rPr dirty="0"/>
              <a:t>。この図のように、要件定義・設計・実装・テスト・リリースと進むほど、直すコストは右肩上がりに大きくなります。リリース間近で「実はここ違った」と気づくと、設計まで、へたをすると要件まで戻って、作ったものごと作り直し</a:t>
            </a:r>
            <a:r>
              <a:rPr lang="ja-JP" altLang="en-US" dirty="0"/>
              <a:t>になってしまい、</a:t>
            </a:r>
            <a:r>
              <a:rPr dirty="0" err="1"/>
              <a:t>時間もお金も大きく失います。逆に、いちばん最初にきちんと合意しておけば、直しは小さく、安く済</a:t>
            </a:r>
            <a:r>
              <a:rPr lang="ja-JP" altLang="en-US" dirty="0"/>
              <a:t>みます</a:t>
            </a:r>
            <a:r>
              <a:rPr dirty="0"/>
              <a:t>。</a:t>
            </a:r>
            <a:r>
              <a:rPr dirty="0" err="1"/>
              <a:t>要するに要件定義は、あの「だったら先に言</a:t>
            </a:r>
            <a:r>
              <a:rPr lang="ja-JP" altLang="en-US" dirty="0"/>
              <a:t>っといてよ</a:t>
            </a:r>
            <a:r>
              <a:rPr dirty="0"/>
              <a:t>」</a:t>
            </a:r>
            <a:r>
              <a:rPr dirty="0" err="1"/>
              <a:t>を無くすための仕組み</a:t>
            </a:r>
            <a:r>
              <a:rPr lang="ja-JP" altLang="en-US" dirty="0"/>
              <a:t>になります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ja-JP" altLang="en-US" dirty="0"/>
              <a:t>要件定義を定める</a:t>
            </a:r>
            <a:r>
              <a:rPr dirty="0" err="1"/>
              <a:t>ふたつ目の理由</a:t>
            </a:r>
            <a:r>
              <a:rPr lang="ja-JP" altLang="en-US" dirty="0"/>
              <a:t>は、</a:t>
            </a:r>
            <a:r>
              <a:rPr dirty="0"/>
              <a:t>決めた要件は、ムダにならず、あとでちゃんと“</a:t>
            </a:r>
            <a:r>
              <a:rPr dirty="0" err="1"/>
              <a:t>使われます</a:t>
            </a:r>
            <a:r>
              <a:rPr dirty="0"/>
              <a:t>”。</a:t>
            </a:r>
            <a:r>
              <a:rPr dirty="0" err="1"/>
              <a:t>これを表すのが、この「V字モデル」です。左</a:t>
            </a:r>
            <a:r>
              <a:rPr lang="ja-JP" altLang="en-US" dirty="0"/>
              <a:t>側</a:t>
            </a:r>
            <a:r>
              <a:rPr dirty="0"/>
              <a:t> </a:t>
            </a:r>
            <a:r>
              <a:rPr dirty="0" err="1"/>
              <a:t>を上から下へ、要件定義・基本設計・詳細設計と、だんだん細かく決めていきます。いちばん下が実装、つまりプログラミング</a:t>
            </a:r>
            <a:r>
              <a:rPr lang="ja-JP" altLang="en-US" dirty="0"/>
              <a:t>です</a:t>
            </a:r>
            <a:r>
              <a:rPr dirty="0"/>
              <a:t>。そこから右側を上へ、単体・結合・システム・受入テストと、今度は組み上げて確認していきます。大事なのは、左と右が同じ高さでペアになっていること</a:t>
            </a:r>
            <a:r>
              <a:rPr lang="ja-JP" altLang="en-US" dirty="0"/>
              <a:t>です</a:t>
            </a:r>
            <a:r>
              <a:rPr dirty="0"/>
              <a:t>。</a:t>
            </a:r>
            <a:r>
              <a:rPr dirty="0" err="1"/>
              <a:t>点線でつないだように、左で決めた“こうなってほしい”が、そのまま右側のテストの“正解</a:t>
            </a:r>
            <a:r>
              <a:rPr lang="ja-JP" altLang="en-US" dirty="0"/>
              <a:t>、</a:t>
            </a:r>
            <a:r>
              <a:rPr dirty="0" err="1"/>
              <a:t>合否の基準”にな</a:t>
            </a:r>
            <a:r>
              <a:rPr lang="ja-JP" altLang="en-US" dirty="0"/>
              <a:t>ります</a:t>
            </a:r>
            <a:r>
              <a:rPr dirty="0"/>
              <a:t>。</a:t>
            </a:r>
            <a:r>
              <a:rPr dirty="0" err="1"/>
              <a:t>つまり、最初の要件が曖昧だと、テストの正解そのものが作れ</a:t>
            </a:r>
            <a:r>
              <a:rPr lang="ja-JP" altLang="en-US" dirty="0"/>
              <a:t>ません</a:t>
            </a:r>
            <a:r>
              <a:rPr dirty="0"/>
              <a:t>。</a:t>
            </a:r>
            <a:r>
              <a:rPr dirty="0" err="1"/>
              <a:t>きちんと決めておくからこそ、あとで“できて</a:t>
            </a:r>
            <a:r>
              <a:rPr lang="ja-JP" altLang="en-US" dirty="0"/>
              <a:t>い</a:t>
            </a:r>
            <a:r>
              <a:rPr dirty="0" err="1"/>
              <a:t>る・できて</a:t>
            </a:r>
            <a:r>
              <a:rPr lang="ja-JP" altLang="en-US" dirty="0"/>
              <a:t>い</a:t>
            </a:r>
            <a:r>
              <a:rPr dirty="0"/>
              <a:t>ない”を検証できる。これが、定める2つ目の理由です。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では最後、パート3</a:t>
            </a:r>
            <a:r>
              <a:rPr lang="ja-JP" altLang="en-US" dirty="0"/>
              <a:t>で、</a:t>
            </a:r>
            <a:r>
              <a:rPr dirty="0" err="1"/>
              <a:t>どうやって作るのか</a:t>
            </a:r>
            <a:r>
              <a:rPr lang="ja-JP" altLang="en-US" dirty="0"/>
              <a:t>について見ていきます</a:t>
            </a:r>
            <a:r>
              <a:rPr dirty="0"/>
              <a:t>。要件定義では、およそ12種類の“成果物”を積み上げて、完成形を組み立てます。いきなり12個と聞くと多く感じますが、この地図のように6つのまとまりで見るとシンプルです。①</a:t>
            </a:r>
            <a:r>
              <a:rPr dirty="0" err="1"/>
              <a:t>準備と企画</a:t>
            </a:r>
            <a:r>
              <a:rPr dirty="0"/>
              <a:t>、②</a:t>
            </a:r>
            <a:r>
              <a:rPr dirty="0" err="1"/>
              <a:t>全体像と使う技術</a:t>
            </a:r>
            <a:r>
              <a:rPr dirty="0"/>
              <a:t>、③</a:t>
            </a:r>
            <a:r>
              <a:rPr dirty="0" err="1"/>
              <a:t>やりたいことの整理</a:t>
            </a:r>
            <a:r>
              <a:rPr dirty="0"/>
              <a:t>、④</a:t>
            </a:r>
            <a:r>
              <a:rPr dirty="0" err="1"/>
              <a:t>画面・データ・機能の設計</a:t>
            </a:r>
            <a:r>
              <a:rPr dirty="0"/>
              <a:t>、⑤</a:t>
            </a:r>
            <a:r>
              <a:rPr dirty="0" err="1"/>
              <a:t>データの保存と抜け漏れ点検</a:t>
            </a:r>
            <a:r>
              <a:rPr dirty="0"/>
              <a:t>、⑥相手に伝えられる形にする。この①から⑥を、これから1枚ずつ、身近なたとえで見ていき</a:t>
            </a:r>
            <a:r>
              <a:rPr lang="ja-JP" altLang="en-US" dirty="0"/>
              <a:t>ます</a:t>
            </a:r>
            <a:r>
              <a:rPr dirty="0"/>
              <a:t>。</a:t>
            </a:r>
            <a:r>
              <a:rPr dirty="0" err="1"/>
              <a:t>全部おぼえる必要は</a:t>
            </a:r>
            <a:r>
              <a:rPr lang="ja-JP" altLang="en-US" dirty="0"/>
              <a:t>なく、</a:t>
            </a:r>
            <a:r>
              <a:rPr dirty="0"/>
              <a:t>“こんな順番で完成形ができていくんだ”という感覚がつかめれば十分です。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ja-JP" altLang="en-US" dirty="0"/>
              <a:t>まず、</a:t>
            </a:r>
            <a:r>
              <a:rPr dirty="0" err="1"/>
              <a:t>準備</a:t>
            </a:r>
            <a:r>
              <a:rPr lang="ja-JP" altLang="en-US" dirty="0"/>
              <a:t>です</a:t>
            </a:r>
            <a:r>
              <a:rPr dirty="0"/>
              <a:t>。</a:t>
            </a:r>
            <a:r>
              <a:rPr dirty="0" err="1"/>
              <a:t>目玉焼きのたとえに戻ります。料理は、卵もフライパンも無ければ始ま</a:t>
            </a:r>
            <a:r>
              <a:rPr lang="ja-JP" altLang="en-US" dirty="0"/>
              <a:t>らず、</a:t>
            </a:r>
            <a:r>
              <a:rPr dirty="0" err="1"/>
              <a:t>材料と道具を</a:t>
            </a:r>
            <a:r>
              <a:rPr lang="ja-JP" altLang="en-US" dirty="0"/>
              <a:t>そろえる必要があります</a:t>
            </a:r>
            <a:r>
              <a:rPr dirty="0"/>
              <a:t>。要件定義も同じで、いきなり書き始めるのではなく、“誰のためのシステムか”“何を叶えたいのか”といった、完成に必要な情報をまず集めます。いわば下ごしらえ</a:t>
            </a:r>
            <a:r>
              <a:rPr lang="ja-JP" altLang="en-US" dirty="0"/>
              <a:t>です</a:t>
            </a:r>
            <a:r>
              <a:rPr dirty="0"/>
              <a:t>。ここが最初の一歩です。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ja-JP" altLang="en-US" dirty="0"/>
              <a:t>次は</a:t>
            </a:r>
            <a:r>
              <a:rPr dirty="0" err="1"/>
              <a:t>企画書</a:t>
            </a:r>
            <a:r>
              <a:rPr lang="ja-JP" altLang="en-US" dirty="0"/>
              <a:t>で、</a:t>
            </a:r>
            <a:r>
              <a:rPr dirty="0" err="1"/>
              <a:t>たとえは「旅のしおり</a:t>
            </a:r>
            <a:r>
              <a:rPr dirty="0"/>
              <a:t>」</a:t>
            </a:r>
            <a:r>
              <a:rPr lang="ja-JP" altLang="en-US" dirty="0"/>
              <a:t>です</a:t>
            </a:r>
            <a:r>
              <a:rPr dirty="0"/>
              <a:t>。</a:t>
            </a:r>
            <a:r>
              <a:rPr dirty="0" err="1"/>
              <a:t>しおりは、参加者みんなが同じイメージを持って当日を楽しめるように作り</a:t>
            </a:r>
            <a:r>
              <a:rPr lang="ja-JP" altLang="en-US" dirty="0"/>
              <a:t>、</a:t>
            </a:r>
            <a:r>
              <a:rPr dirty="0" err="1"/>
              <a:t>読む人のためのものです。企画書も同じ</a:t>
            </a:r>
            <a:r>
              <a:rPr lang="ja-JP" altLang="en-US" dirty="0"/>
              <a:t>です</a:t>
            </a:r>
            <a:r>
              <a:rPr dirty="0"/>
              <a:t>。</a:t>
            </a:r>
            <a:r>
              <a:rPr dirty="0" err="1"/>
              <a:t>上司の承認を“通すため”のものと思われがちですが、本当のねらいは、関係者みんなに目的と全体像を“理解してもらう”こと</a:t>
            </a:r>
            <a:r>
              <a:rPr lang="ja-JP" altLang="en-US" dirty="0"/>
              <a:t>です</a:t>
            </a:r>
            <a:r>
              <a:rPr dirty="0"/>
              <a:t>。伝わってこそ、意味があります。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ja-JP" altLang="en-US" dirty="0"/>
              <a:t>次に</a:t>
            </a:r>
            <a:r>
              <a:rPr dirty="0" err="1"/>
              <a:t>全体像</a:t>
            </a:r>
            <a:r>
              <a:rPr lang="ja-JP" altLang="en-US" dirty="0"/>
              <a:t>です。</a:t>
            </a:r>
            <a:r>
              <a:rPr dirty="0" err="1"/>
              <a:t>たとえは家の「間取りスケッチ</a:t>
            </a:r>
            <a:r>
              <a:rPr dirty="0"/>
              <a:t>」</a:t>
            </a:r>
            <a:r>
              <a:rPr lang="ja-JP" altLang="en-US" dirty="0"/>
              <a:t>です</a:t>
            </a:r>
            <a:r>
              <a:rPr dirty="0"/>
              <a:t>。</a:t>
            </a:r>
            <a:r>
              <a:rPr dirty="0" err="1"/>
              <a:t>家を建てるとき、いきなりコンセントの位置から決めませ</a:t>
            </a:r>
            <a:r>
              <a:rPr lang="ja-JP" altLang="en-US" dirty="0"/>
              <a:t>ん</a:t>
            </a:r>
            <a:r>
              <a:rPr dirty="0"/>
              <a:t>。</a:t>
            </a:r>
            <a:r>
              <a:rPr dirty="0" err="1"/>
              <a:t>まず間取りを大きくスケッチして、次に部屋を割って</a:t>
            </a:r>
            <a:r>
              <a:rPr lang="ja-JP" altLang="en-US" dirty="0"/>
              <a:t>いきます</a:t>
            </a:r>
            <a:r>
              <a:rPr dirty="0"/>
              <a:t>。</a:t>
            </a:r>
            <a:r>
              <a:rPr dirty="0" err="1"/>
              <a:t>システムも同じで、先に全体像をざっくり描いてから</a:t>
            </a:r>
            <a:r>
              <a:rPr dirty="0"/>
              <a:t>、</a:t>
            </a:r>
            <a:r>
              <a:rPr lang="ja-JP" altLang="en-US" dirty="0"/>
              <a:t>サブブロックという機能のかたまり</a:t>
            </a:r>
            <a:r>
              <a:rPr dirty="0" err="1"/>
              <a:t>に分けていきます。大きく描いてから分ける。こうする</a:t>
            </a:r>
            <a:r>
              <a:rPr lang="ja-JP" altLang="en-US" dirty="0"/>
              <a:t>ことで</a:t>
            </a:r>
            <a:r>
              <a:rPr dirty="0"/>
              <a:t>、</a:t>
            </a:r>
            <a:r>
              <a:rPr dirty="0" err="1"/>
              <a:t>途中で迷子になりません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ja-JP" altLang="en-US" dirty="0"/>
              <a:t>次に</a:t>
            </a:r>
            <a:r>
              <a:rPr dirty="0" err="1"/>
              <a:t>実装技術</a:t>
            </a:r>
            <a:r>
              <a:rPr lang="ja-JP" altLang="en-US" dirty="0"/>
              <a:t>です。</a:t>
            </a:r>
            <a:r>
              <a:rPr dirty="0" err="1"/>
              <a:t>たとえは家の「工法決め</a:t>
            </a:r>
            <a:r>
              <a:rPr dirty="0"/>
              <a:t>」</a:t>
            </a:r>
            <a:r>
              <a:rPr lang="ja-JP" altLang="en-US" dirty="0"/>
              <a:t>です</a:t>
            </a:r>
            <a:r>
              <a:rPr dirty="0"/>
              <a:t>。同じ間取りでも、木造で建てるか、鉄骨で建てるかで、費用も、工期も、丈夫さも変わります。システムでも、“どの技術や仕組みで作るか”を選びます。これをアーキテクチャ、日本語では実装技術と言います。これは土台選びなので、後から変えるのが大変だから</a:t>
            </a:r>
            <a:r>
              <a:rPr lang="ja-JP" altLang="en-US" dirty="0"/>
              <a:t>こそ、</a:t>
            </a:r>
            <a:r>
              <a:rPr dirty="0" err="1"/>
              <a:t>早めに方針を決めておく</a:t>
            </a:r>
            <a:r>
              <a:rPr lang="ja-JP" altLang="en-US" dirty="0"/>
              <a:t>必要があります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ja-JP" altLang="en-US" dirty="0"/>
              <a:t>次に</a:t>
            </a:r>
            <a:r>
              <a:rPr dirty="0" err="1"/>
              <a:t>要求一覧</a:t>
            </a:r>
            <a:r>
              <a:rPr lang="ja-JP" altLang="en-US" dirty="0"/>
              <a:t>です。</a:t>
            </a:r>
            <a:r>
              <a:rPr dirty="0" err="1"/>
              <a:t>たとえは家づくりの「要望ヒアリング</a:t>
            </a:r>
            <a:r>
              <a:rPr dirty="0"/>
              <a:t>」</a:t>
            </a:r>
            <a:r>
              <a:rPr lang="ja-JP" altLang="en-US" dirty="0"/>
              <a:t>です</a:t>
            </a:r>
            <a:r>
              <a:rPr dirty="0"/>
              <a:t>。「</a:t>
            </a:r>
            <a:r>
              <a:rPr dirty="0" err="1"/>
              <a:t>居間は広めに</a:t>
            </a:r>
            <a:r>
              <a:rPr dirty="0"/>
              <a:t>」「</a:t>
            </a:r>
            <a:r>
              <a:rPr dirty="0" err="1"/>
              <a:t>日当たりのいい寝室に</a:t>
            </a:r>
            <a:r>
              <a:rPr dirty="0"/>
              <a:t>」</a:t>
            </a:r>
            <a:r>
              <a:rPr lang="ja-JP" altLang="en-US" dirty="0"/>
              <a:t>など、</a:t>
            </a:r>
            <a:r>
              <a:rPr dirty="0" err="1"/>
              <a:t>こうした要望を聞き取って、書き出して一覧にします。要件定義でも</a:t>
            </a:r>
            <a:r>
              <a:rPr dirty="0"/>
              <a:t>、「</a:t>
            </a:r>
            <a:r>
              <a:rPr dirty="0" err="1"/>
              <a:t>実現したいこと」を一つずつ文書にして並べます。これが要求一覧</a:t>
            </a:r>
            <a:r>
              <a:rPr lang="ja-JP" altLang="en-US" dirty="0"/>
              <a:t>です</a:t>
            </a:r>
            <a:r>
              <a:rPr dirty="0"/>
              <a:t>。</a:t>
            </a:r>
            <a:r>
              <a:rPr dirty="0" err="1"/>
              <a:t>頭の中にあるうちは消えてしまう要望を、消えない形に残</a:t>
            </a:r>
            <a:r>
              <a:rPr lang="ja-JP" altLang="en-US" dirty="0"/>
              <a:t>すことで、</a:t>
            </a:r>
            <a:r>
              <a:rPr dirty="0" err="1"/>
              <a:t>抜け漏れや“言った言わない”を防</a:t>
            </a:r>
            <a:r>
              <a:rPr lang="ja-JP" altLang="en-US" dirty="0"/>
              <a:t>ぐことができます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ja-JP" altLang="en-US" dirty="0"/>
              <a:t>次に</a:t>
            </a:r>
            <a:r>
              <a:rPr dirty="0" err="1"/>
              <a:t>行動シナリオ</a:t>
            </a:r>
            <a:r>
              <a:rPr lang="ja-JP" altLang="en-US" dirty="0"/>
              <a:t>です。</a:t>
            </a:r>
            <a:r>
              <a:rPr dirty="0" err="1"/>
              <a:t>たとえは「定食屋の厨房</a:t>
            </a:r>
            <a:r>
              <a:rPr dirty="0"/>
              <a:t>」</a:t>
            </a:r>
            <a:r>
              <a:rPr lang="ja-JP" altLang="en-US" dirty="0"/>
              <a:t>です</a:t>
            </a:r>
            <a:r>
              <a:rPr dirty="0"/>
              <a:t>。</a:t>
            </a:r>
            <a:r>
              <a:rPr dirty="0" err="1"/>
              <a:t>注文を受けて、調理して、提供して、会計する</a:t>
            </a:r>
            <a:r>
              <a:rPr lang="ja-JP" altLang="en-US" dirty="0"/>
              <a:t>という、</a:t>
            </a:r>
            <a:r>
              <a:rPr dirty="0"/>
              <a:t>お店が回る一連の流れがあります。システムでも、利用者が実際どんな順番で操作して、物事が進んでいくのかを、場面の流れとして書きます。これが行動シナリオ</a:t>
            </a:r>
            <a:r>
              <a:rPr lang="ja-JP" altLang="en-US" dirty="0"/>
              <a:t>です</a:t>
            </a:r>
            <a:r>
              <a:rPr dirty="0"/>
              <a:t>。</a:t>
            </a:r>
            <a:r>
              <a:rPr dirty="0" err="1"/>
              <a:t>機能を単に並べるだけだと気づけない“抜け”も、人がどう使うかの物語でたどると</a:t>
            </a:r>
            <a:r>
              <a:rPr dirty="0"/>
              <a:t>、「</a:t>
            </a:r>
            <a:r>
              <a:rPr dirty="0" err="1"/>
              <a:t>この場面の機能が無い」と気づ</a:t>
            </a:r>
            <a:r>
              <a:rPr lang="ja-JP" altLang="en-US" dirty="0"/>
              <a:t>くことができます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ja-JP" altLang="en-US" dirty="0"/>
              <a:t>次に</a:t>
            </a:r>
            <a:r>
              <a:rPr dirty="0" err="1"/>
              <a:t>概念データモデル</a:t>
            </a:r>
            <a:r>
              <a:rPr lang="ja-JP" altLang="en-US" dirty="0"/>
              <a:t>です。</a:t>
            </a:r>
            <a:r>
              <a:rPr dirty="0" err="1"/>
              <a:t>たとえはドラマの「登場人物の相関図</a:t>
            </a:r>
            <a:r>
              <a:rPr dirty="0"/>
              <a:t>」</a:t>
            </a:r>
            <a:r>
              <a:rPr lang="ja-JP" altLang="en-US" dirty="0"/>
              <a:t>です</a:t>
            </a:r>
            <a:r>
              <a:rPr dirty="0"/>
              <a:t>。</a:t>
            </a:r>
            <a:r>
              <a:rPr dirty="0" err="1"/>
              <a:t>誰が誰の家族で、誰と誰が対立して</a:t>
            </a:r>
            <a:r>
              <a:rPr lang="ja-JP" altLang="en-US" dirty="0"/>
              <a:t>など、</a:t>
            </a:r>
            <a:r>
              <a:rPr dirty="0" err="1"/>
              <a:t>図にすると、関係が一目で分かります。システムのデータも同じで</a:t>
            </a:r>
            <a:r>
              <a:rPr dirty="0"/>
              <a:t>、「</a:t>
            </a:r>
            <a:r>
              <a:rPr dirty="0" err="1"/>
              <a:t>顧客</a:t>
            </a:r>
            <a:r>
              <a:rPr dirty="0"/>
              <a:t>」「</a:t>
            </a:r>
            <a:r>
              <a:rPr dirty="0" err="1"/>
              <a:t>注文</a:t>
            </a:r>
            <a:r>
              <a:rPr dirty="0"/>
              <a:t>」「</a:t>
            </a:r>
            <a:r>
              <a:rPr dirty="0" err="1"/>
              <a:t>商品」といった“登場するデータ”と、その関係を図にします。これが概念データモデル</a:t>
            </a:r>
            <a:r>
              <a:rPr lang="ja-JP" altLang="en-US" dirty="0"/>
              <a:t>です</a:t>
            </a:r>
            <a:r>
              <a:rPr dirty="0"/>
              <a:t>。この見取り図を先に描いておくと、後のデータベース設計がぐっと楽になります。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ja-JP" altLang="en-US" dirty="0"/>
              <a:t>次に</a:t>
            </a:r>
            <a:r>
              <a:rPr dirty="0" err="1"/>
              <a:t>UIの定義</a:t>
            </a:r>
            <a:r>
              <a:rPr lang="ja-JP" altLang="en-US" dirty="0"/>
              <a:t>です。</a:t>
            </a:r>
            <a:r>
              <a:rPr dirty="0" err="1"/>
              <a:t>たとえは「レストランのメニュー表</a:t>
            </a:r>
            <a:r>
              <a:rPr dirty="0"/>
              <a:t>」</a:t>
            </a:r>
            <a:r>
              <a:rPr lang="ja-JP" altLang="en-US" dirty="0"/>
              <a:t>です</a:t>
            </a:r>
            <a:r>
              <a:rPr dirty="0"/>
              <a:t>。</a:t>
            </a:r>
            <a:r>
              <a:rPr dirty="0" err="1"/>
              <a:t>メニューは、お客さんが料理を選んで注文する窓口です。見やすいメニューほど、注文しやすい</a:t>
            </a:r>
            <a:r>
              <a:rPr lang="ja-JP" altLang="en-US" dirty="0"/>
              <a:t>です</a:t>
            </a:r>
            <a:r>
              <a:rPr dirty="0"/>
              <a:t>。</a:t>
            </a:r>
            <a:r>
              <a:rPr dirty="0" err="1"/>
              <a:t>システムのUI、つまり画面も同じ</a:t>
            </a:r>
            <a:r>
              <a:rPr lang="ja-JP" altLang="en-US" dirty="0"/>
              <a:t>で、</a:t>
            </a:r>
            <a:r>
              <a:rPr dirty="0"/>
              <a:t>どんな画面で、何を見せて、どう操作してもらうかを具体的に決めます。どんなに中身が優秀でも、画面が分かりにくいと使ってもらえません。UIは“使いやすさ”そのものの設計</a:t>
            </a:r>
            <a:r>
              <a:rPr lang="ja-JP" altLang="en-US" dirty="0"/>
              <a:t>になります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ja-JP" altLang="en-US" dirty="0"/>
              <a:t>次に</a:t>
            </a:r>
            <a:r>
              <a:rPr dirty="0" err="1"/>
              <a:t>機能</a:t>
            </a:r>
            <a:r>
              <a:rPr lang="ja-JP" altLang="en-US" dirty="0"/>
              <a:t>です。</a:t>
            </a:r>
            <a:r>
              <a:rPr dirty="0" err="1"/>
              <a:t>たとえは</a:t>
            </a:r>
            <a:r>
              <a:rPr dirty="0"/>
              <a:t>、「料理」です。料理は、卵という材料を入れて、焼くという仕事をして、目玉焼きという成果を出します。機能とは、まさにこの“仕事”のこと</a:t>
            </a:r>
            <a:r>
              <a:rPr lang="ja-JP" altLang="en-US" dirty="0"/>
              <a:t>です</a:t>
            </a:r>
            <a:r>
              <a:rPr dirty="0"/>
              <a:t>。</a:t>
            </a:r>
            <a:r>
              <a:rPr dirty="0" err="1"/>
              <a:t>数式っぽく言うと、材料</a:t>
            </a:r>
            <a:r>
              <a:rPr dirty="0"/>
              <a:t> x </a:t>
            </a:r>
            <a:r>
              <a:rPr dirty="0" err="1"/>
              <a:t>を入れて成果</a:t>
            </a:r>
            <a:r>
              <a:rPr dirty="0"/>
              <a:t> y </a:t>
            </a:r>
            <a:r>
              <a:rPr dirty="0" err="1"/>
              <a:t>を出す、y</a:t>
            </a:r>
            <a:r>
              <a:rPr dirty="0"/>
              <a:t> </a:t>
            </a:r>
            <a:r>
              <a:rPr dirty="0" err="1"/>
              <a:t>イコール</a:t>
            </a:r>
            <a:r>
              <a:rPr dirty="0"/>
              <a:t> </a:t>
            </a:r>
            <a:r>
              <a:rPr dirty="0" err="1"/>
              <a:t>エフ</a:t>
            </a:r>
            <a:r>
              <a:rPr dirty="0"/>
              <a:t> </a:t>
            </a:r>
            <a:r>
              <a:rPr dirty="0" err="1"/>
              <a:t>エックス</a:t>
            </a:r>
            <a:r>
              <a:rPr lang="ja-JP" altLang="en-US" dirty="0"/>
              <a:t>です</a:t>
            </a:r>
            <a:r>
              <a:rPr dirty="0"/>
              <a:t>。</a:t>
            </a:r>
            <a:r>
              <a:rPr dirty="0" err="1"/>
              <a:t>何を入れたら、何が出てくるのか。これをはっきり決めるのが機能の定義です。ここが曖昧だと、作る人は手が動きません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ja-JP" altLang="en-US" dirty="0"/>
              <a:t>そして、</a:t>
            </a:r>
            <a:r>
              <a:rPr dirty="0" err="1"/>
              <a:t>データベース</a:t>
            </a:r>
            <a:r>
              <a:rPr lang="ja-JP" altLang="en-US" dirty="0"/>
              <a:t>です。</a:t>
            </a:r>
            <a:r>
              <a:rPr dirty="0" err="1"/>
              <a:t>たとえは「みんなの共有倉庫</a:t>
            </a:r>
            <a:r>
              <a:rPr dirty="0"/>
              <a:t>」</a:t>
            </a:r>
            <a:r>
              <a:rPr lang="ja-JP" altLang="en-US" dirty="0"/>
              <a:t>です</a:t>
            </a:r>
            <a:r>
              <a:rPr dirty="0"/>
              <a:t>。</a:t>
            </a:r>
            <a:r>
              <a:rPr dirty="0" err="1"/>
              <a:t>商品や記録を、担当者だけでなく、みんなが使える共有の倉庫にしまっておく</a:t>
            </a:r>
            <a:r>
              <a:rPr lang="ja-JP" altLang="en-US" dirty="0"/>
              <a:t>ことで、</a:t>
            </a:r>
            <a:r>
              <a:rPr dirty="0"/>
              <a:t>誰でも取り出せて、消えずに残る。これがデータベースです。そして、しまったデータには、“作る・見る・直す・消す”という4つの出し入れが必要になります。英語の頭文字でCRUD（クラッド）と言います。各データについて、この4つがちゃんと揃っているかを、チェックリストで点検する。これで、「</a:t>
            </a:r>
            <a:r>
              <a:rPr dirty="0" err="1"/>
              <a:t>登録はできるけど消せない」みたいな抜けを、完成前に見つけられます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最後、ここまでで成果物はそろいました。でも、それで終わりではありません。たとえは「お店の引き継ぎブック</a:t>
            </a:r>
            <a:r>
              <a:rPr dirty="0"/>
              <a:t>」</a:t>
            </a:r>
            <a:r>
              <a:rPr lang="ja-JP" altLang="en-US" dirty="0"/>
              <a:t>です</a:t>
            </a:r>
            <a:r>
              <a:rPr dirty="0"/>
              <a:t>。資料の紙束をドサッと後任に渡しても、どこに何があるか分からず困ります。だから、目次を付けて一冊にまとめ、“聞かれそうな質問”への答えまで用意しておく。こうして、発注元とは「これで作りましょう」と握手して合意し、実際に作る人へちゃんと手渡</a:t>
            </a:r>
            <a:r>
              <a:rPr lang="ja-JP" altLang="en-US" dirty="0"/>
              <a:t>します</a:t>
            </a:r>
            <a:r>
              <a:rPr dirty="0"/>
              <a:t>。作って終わりではなく、“</a:t>
            </a:r>
            <a:r>
              <a:rPr dirty="0" err="1"/>
              <a:t>伝わって”はじめて完成</a:t>
            </a:r>
            <a:r>
              <a:rPr lang="ja-JP" altLang="en-US" dirty="0"/>
              <a:t>です</a:t>
            </a:r>
            <a:r>
              <a:rPr dirty="0"/>
              <a:t>。</a:t>
            </a:r>
            <a:r>
              <a:rPr dirty="0" err="1"/>
              <a:t>渡せる形にするところまでが、要件定義です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まとめです。今日の3つの問いに、ひとことずつ答え</a:t>
            </a:r>
            <a:r>
              <a:rPr lang="ja-JP" altLang="en-US" dirty="0"/>
              <a:t>ていきます</a:t>
            </a:r>
            <a:r>
              <a:rPr dirty="0"/>
              <a:t>。</a:t>
            </a:r>
            <a:r>
              <a:rPr lang="en-US" altLang="ja-JP" dirty="0"/>
              <a:t>1</a:t>
            </a:r>
            <a:r>
              <a:rPr lang="ja-JP" altLang="en-US" dirty="0"/>
              <a:t>つ目の</a:t>
            </a:r>
            <a:r>
              <a:rPr dirty="0" err="1"/>
              <a:t>要件定義</a:t>
            </a:r>
            <a:r>
              <a:rPr lang="ja-JP" altLang="en-US" dirty="0"/>
              <a:t>とは何かに対しては、</a:t>
            </a:r>
            <a:r>
              <a:rPr dirty="0"/>
              <a:t>作る前に、完成の姿を、絵とことばで決めておく“約束”です。</a:t>
            </a:r>
            <a:r>
              <a:rPr lang="en-US" altLang="ja-JP" dirty="0"/>
              <a:t>2</a:t>
            </a:r>
            <a:r>
              <a:rPr lang="ja-JP" altLang="en-US" dirty="0"/>
              <a:t>つ目の</a:t>
            </a:r>
            <a:r>
              <a:rPr dirty="0" err="1"/>
              <a:t>なぜ定める</a:t>
            </a:r>
            <a:r>
              <a:rPr lang="ja-JP" altLang="en-US" dirty="0"/>
              <a:t>のかについては、</a:t>
            </a:r>
            <a:r>
              <a:rPr dirty="0"/>
              <a:t>後の手戻りを防ぎ、しかも決めた要件が、V字の右側でテストの“正解”として役立つからです。</a:t>
            </a:r>
            <a:r>
              <a:rPr lang="en-US" altLang="ja-JP" dirty="0"/>
              <a:t>3</a:t>
            </a:r>
            <a:r>
              <a:rPr lang="ja-JP" altLang="en-US" dirty="0"/>
              <a:t>つ目の、</a:t>
            </a:r>
            <a:r>
              <a:rPr dirty="0" err="1"/>
              <a:t>どうやって作るの</a:t>
            </a:r>
            <a:r>
              <a:rPr lang="ja-JP" altLang="en-US" dirty="0"/>
              <a:t>かに対しては、</a:t>
            </a:r>
            <a:r>
              <a:rPr dirty="0"/>
              <a:t>12の成果物を積み上げて完成形を組み立て、最後は“渡せる形”にして伝え</a:t>
            </a:r>
            <a:r>
              <a:rPr lang="ja-JP" altLang="en-US" dirty="0"/>
              <a:t>ます</a:t>
            </a:r>
            <a:r>
              <a:rPr dirty="0"/>
              <a:t>。</a:t>
            </a:r>
            <a:r>
              <a:rPr dirty="0" err="1"/>
              <a:t>全部ひっくるめると、要件定義とは、あの「だったら先に言ってよ」を無くすための仕組み</a:t>
            </a:r>
            <a:r>
              <a:rPr lang="ja-JP" altLang="en-US" dirty="0"/>
              <a:t>ということになります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ja-JP" altLang="en-US" dirty="0"/>
              <a:t>「はじめよう！要件定義」の書籍を通して、</a:t>
            </a:r>
            <a:r>
              <a:rPr dirty="0" err="1"/>
              <a:t>つくる前に、いちばん大事なことを決め</a:t>
            </a:r>
            <a:r>
              <a:rPr lang="ja-JP" altLang="en-US" dirty="0"/>
              <a:t>るということと、何をするにも言語化するということが大切だと感じました。以上で発表の方を終わります。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D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868680"/>
            <a:ext cx="10360152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000" b="0">
                <a:solidFill>
                  <a:srgbClr val="3A3A44"/>
                </a:solidFill>
                <a:latin typeface="Yu Gothic UI"/>
              </a:rPr>
              <a:t>🧹   🍳   🏠   📦   🗄️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60152" cy="1554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000" b="1">
                <a:solidFill>
                  <a:srgbClr val="3A3A44"/>
                </a:solidFill>
                <a:latin typeface="Yu Gothic UI"/>
              </a:rPr>
              <a:t>「</a:t>
            </a:r>
            <a:r>
              <a:rPr sz="5000" b="1">
                <a:solidFill>
                  <a:srgbClr val="3A3A44"/>
                </a:solidFill>
                <a:highlight>
                  <a:srgbClr val="FFE08A"/>
                </a:highlight>
                <a:latin typeface="Yu Gothic UI"/>
              </a:rPr>
              <a:t>要件定義</a:t>
            </a:r>
            <a:r>
              <a:rPr sz="5000" b="1">
                <a:solidFill>
                  <a:srgbClr val="3A3A44"/>
                </a:solidFill>
                <a:latin typeface="Yu Gothic UI"/>
              </a:rPr>
              <a:t>」って、なに？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703320"/>
            <a:ext cx="9628632" cy="6948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900" b="0" dirty="0">
                <a:solidFill>
                  <a:srgbClr val="3A3A44"/>
                </a:solidFill>
                <a:latin typeface="Yu Gothic UI"/>
              </a:rPr>
              <a:t>〜 </a:t>
            </a:r>
            <a:r>
              <a:rPr sz="1900" b="0" dirty="0" err="1">
                <a:solidFill>
                  <a:srgbClr val="3A3A44"/>
                </a:solidFill>
                <a:latin typeface="Yu Gothic UI"/>
              </a:rPr>
              <a:t>ゼロからわかる。掃除・料理・家づくりのたとえで</a:t>
            </a:r>
            <a:r>
              <a:rPr sz="1900" b="0" dirty="0">
                <a:solidFill>
                  <a:srgbClr val="3A3A44"/>
                </a:solidFill>
                <a:latin typeface="Yu Gothic UI"/>
              </a:rPr>
              <a:t>、</a:t>
            </a:r>
          </a:p>
          <a:p>
            <a:pPr algn="ctr">
              <a:lnSpc>
                <a:spcPct val="125000"/>
              </a:lnSpc>
            </a:pPr>
            <a:r>
              <a:rPr sz="1900" b="0" dirty="0">
                <a:solidFill>
                  <a:srgbClr val="3A3A44"/>
                </a:solidFill>
                <a:latin typeface="Yu Gothic UI"/>
              </a:rPr>
              <a:t>“</a:t>
            </a:r>
            <a:r>
              <a:rPr sz="1900" b="0" dirty="0" err="1">
                <a:solidFill>
                  <a:srgbClr val="3A3A44"/>
                </a:solidFill>
                <a:latin typeface="Yu Gothic UI"/>
              </a:rPr>
              <a:t>つくる前の、いちばん大事な準備</a:t>
            </a:r>
            <a:r>
              <a:rPr sz="1900" b="0" dirty="0">
                <a:solidFill>
                  <a:srgbClr val="3A3A44"/>
                </a:solidFill>
                <a:latin typeface="Yu Gothic UI"/>
              </a:rPr>
              <a:t>” </a:t>
            </a:r>
            <a:r>
              <a:rPr sz="1900" b="0" dirty="0" err="1">
                <a:solidFill>
                  <a:srgbClr val="3A3A44"/>
                </a:solidFill>
                <a:latin typeface="Yu Gothic UI"/>
              </a:rPr>
              <a:t>を学ぼう</a:t>
            </a:r>
            <a:r>
              <a:rPr sz="1900" b="0" dirty="0">
                <a:solidFill>
                  <a:srgbClr val="3A3A44"/>
                </a:solidFill>
                <a:latin typeface="Yu Gothic UI"/>
              </a:rPr>
              <a:t> 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18304" y="521208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5A4A10"/>
                </a:solidFill>
                <a:latin typeface="Yu Gothic UI"/>
              </a:rPr>
              <a:t>全17話のエッセンス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5A4A10"/>
                </a:solidFill>
                <a:latin typeface="Yu Gothic UI"/>
              </a:rPr>
              <a:t>はじめに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A3A44"/>
                </a:solidFill>
                <a:latin typeface="Yu Gothic UI"/>
              </a:rPr>
              <a:t>今日おはなしする </a:t>
            </a:r>
            <a:r>
              <a:rPr sz="3000" b="1">
                <a:solidFill>
                  <a:srgbClr val="3A3A44"/>
                </a:solidFill>
                <a:highlight>
                  <a:srgbClr val="FFE08A"/>
                </a:highlight>
                <a:latin typeface="Yu Gothic UI"/>
              </a:rPr>
              <a:t>3つの問い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3429000" cy="3200400"/>
          </a:xfrm>
          <a:prstGeom prst="roundRect">
            <a:avLst>
              <a:gd name="adj" fmla="val 12000"/>
            </a:avLst>
          </a:prstGeom>
          <a:solidFill>
            <a:srgbClr val="FFE6EC"/>
          </a:solidFill>
          <a:ln w="20320">
            <a:solidFill>
              <a:srgbClr val="FF8A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668780" y="219456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68780" y="2194560"/>
            <a:ext cx="137160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200" b="0">
                <a:solidFill>
                  <a:srgbClr val="3A3A44"/>
                </a:solidFill>
                <a:latin typeface="Yu Gothic UI"/>
              </a:rPr>
              <a:t>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794760"/>
            <a:ext cx="2971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E7607C"/>
                </a:solidFill>
                <a:latin typeface="Yu Gothic UI"/>
              </a:rPr>
              <a:t>① 要件定義って、なに？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572000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>
                <a:solidFill>
                  <a:srgbClr val="3A3A44"/>
                </a:solidFill>
                <a:latin typeface="Yu Gothic UI"/>
              </a:rPr>
              <a:t>作る前に決める“完成の姿”のこと。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2011680"/>
            <a:ext cx="3429000" cy="3200400"/>
          </a:xfrm>
          <a:prstGeom prst="roundRect">
            <a:avLst>
              <a:gd name="adj" fmla="val 12000"/>
            </a:avLst>
          </a:prstGeom>
          <a:solidFill>
            <a:srgbClr val="E2F4F6"/>
          </a:solidFill>
          <a:ln w="20320">
            <a:solidFill>
              <a:srgbClr val="5CC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390388" y="219456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90388" y="2194560"/>
            <a:ext cx="137160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200" b="0">
                <a:solidFill>
                  <a:srgbClr val="3A3A44"/>
                </a:solidFill>
                <a:latin typeface="Yu Gothic UI"/>
              </a:rPr>
              <a:t>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3794760"/>
            <a:ext cx="2971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3A9AA4"/>
                </a:solidFill>
                <a:latin typeface="Yu Gothic UI"/>
              </a:rPr>
              <a:t>② なぜ、定めるの？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4572000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>
                <a:solidFill>
                  <a:srgbClr val="3A3A44"/>
                </a:solidFill>
                <a:latin typeface="Yu Gothic UI"/>
              </a:rPr>
              <a:t>決めないと“手戻り”で高くつくから。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83296" y="2011680"/>
            <a:ext cx="3429000" cy="3200400"/>
          </a:xfrm>
          <a:prstGeom prst="roundRect">
            <a:avLst>
              <a:gd name="adj" fmla="val 12000"/>
            </a:avLst>
          </a:prstGeom>
          <a:solidFill>
            <a:srgbClr val="E7F5E9"/>
          </a:solidFill>
          <a:ln w="20320">
            <a:solidFill>
              <a:srgbClr val="8BC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111996" y="219456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11996" y="2194560"/>
            <a:ext cx="1371600" cy="1371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5200" b="0">
                <a:solidFill>
                  <a:srgbClr val="3A3A44"/>
                </a:solidFill>
                <a:latin typeface="Yu Gothic UI"/>
              </a:rPr>
              <a:t>🛠️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3794760"/>
            <a:ext cx="2971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700" b="1">
                <a:solidFill>
                  <a:srgbClr val="3E8E5A"/>
                </a:solidFill>
                <a:latin typeface="Yu Gothic UI"/>
              </a:rPr>
              <a:t>③ どうやって作るの？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1896" y="4572000"/>
            <a:ext cx="2971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>
                <a:solidFill>
                  <a:srgbClr val="3A3A44"/>
                </a:solidFill>
                <a:latin typeface="Yu Gothic UI"/>
              </a:rPr>
              <a:t>12の成果物で完成形を組み立てる。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901184" y="214884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3A9A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Yu Gothic UI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80360"/>
            <a:ext cx="1036015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000" b="1">
                <a:solidFill>
                  <a:srgbClr val="3A3A44"/>
                </a:solidFill>
                <a:latin typeface="Yu Gothic UI"/>
              </a:rPr>
              <a:t>要件定義って、なに？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1036015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6000" b="0">
                <a:solidFill>
                  <a:srgbClr val="3A3A44"/>
                </a:solidFill>
                <a:latin typeface="Yu Gothic UI"/>
              </a:rPr>
              <a:t>🧹  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58368" y="475488"/>
            <a:ext cx="457200" cy="457200"/>
          </a:xfrm>
          <a:prstGeom prst="ellipse">
            <a:avLst/>
          </a:prstGeom>
          <a:solidFill>
            <a:srgbClr val="3A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 UI"/>
              </a:rP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5029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3A9A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Yu Gothic UI"/>
              </a:rPr>
              <a:t>たとえ①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3A3A44"/>
                </a:solidFill>
                <a:latin typeface="Yu Gothic UI"/>
              </a:rPr>
              <a:t>「掃除しといて」だけでは、</a:t>
            </a:r>
            <a:r>
              <a:rPr sz="2900" b="1">
                <a:solidFill>
                  <a:srgbClr val="3A3A44"/>
                </a:solidFill>
                <a:highlight>
                  <a:srgbClr val="FFE08A"/>
                </a:highlight>
                <a:latin typeface="Yu Gothic UI"/>
              </a:rPr>
              <a:t>伝わらない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212080" cy="2743200"/>
          </a:xfrm>
          <a:prstGeom prst="roundRect">
            <a:avLst>
              <a:gd name="adj" fmla="val 12000"/>
            </a:avLst>
          </a:prstGeom>
          <a:solidFill>
            <a:srgbClr val="FFE6EC"/>
          </a:solidFill>
          <a:ln w="19050">
            <a:solidFill>
              <a:srgbClr val="FF8A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258568"/>
            <a:ext cx="12801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28600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7607C"/>
                </a:solidFill>
                <a:latin typeface="Yu Gothic UI"/>
              </a:rPr>
              <a:t>たとえ（お掃除）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788920"/>
            <a:ext cx="31546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「掃除しといて」とだけ頼むと、どこを・どこまで やるかは人によってバラバラ。出来上がりを見て「そうじゃないんだよ」となりがち。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97880" y="3017520"/>
            <a:ext cx="566928" cy="640080"/>
          </a:xfrm>
          <a:prstGeom prst="rightArrow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0" y="1965960"/>
            <a:ext cx="4983480" cy="2743200"/>
          </a:xfrm>
          <a:prstGeom prst="roundRect">
            <a:avLst>
              <a:gd name="adj" fmla="val 12000"/>
            </a:avLst>
          </a:prstGeom>
          <a:solidFill>
            <a:srgbClr val="E2F4F6"/>
          </a:solidFill>
          <a:ln w="19050">
            <a:solidFill>
              <a:srgbClr val="5CC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9037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03720" y="2258568"/>
            <a:ext cx="12801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860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A9AA4"/>
                </a:solidFill>
                <a:latin typeface="Yu Gothic UI"/>
              </a:rPr>
              <a:t>要件定義では（ゴールの約束）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88920"/>
            <a:ext cx="29260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作る前に「どこを・どのレベルまで」ゴールをすり合わせ、約束として決めておく。これが要件定義（＝仕様）。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29200"/>
            <a:ext cx="10927080" cy="1051560"/>
          </a:xfrm>
          <a:prstGeom prst="roundRect">
            <a:avLst>
              <a:gd name="adj" fmla="val 12000"/>
            </a:avLst>
          </a:prstGeom>
          <a:solidFill>
            <a:srgbClr val="FFF7E3"/>
          </a:solidFill>
          <a:ln w="19050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175504"/>
            <a:ext cx="8229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>
                <a:solidFill>
                  <a:srgbClr val="3A3A44"/>
                </a:solidFill>
                <a:latin typeface="Yu Gothic UI"/>
              </a:rPr>
              <a:t>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029200"/>
            <a:ext cx="96012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A3A44"/>
                </a:solidFill>
                <a:latin typeface="Yu Gothic UI"/>
              </a:rPr>
              <a:t>ポイント：出来上がってから直すのではなく、“作る前”にゴールをそろえる。これが要件定義のいちばんの役目。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58368" y="475488"/>
            <a:ext cx="457200" cy="457200"/>
          </a:xfrm>
          <a:prstGeom prst="ellipse">
            <a:avLst/>
          </a:prstGeom>
          <a:solidFill>
            <a:srgbClr val="3A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 UI"/>
              </a:rPr>
              <a:t>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5029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3A9A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Yu Gothic UI"/>
              </a:rPr>
              <a:t>たとえ②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3A3A44"/>
                </a:solidFill>
                <a:latin typeface="Yu Gothic UI"/>
              </a:rPr>
              <a:t>作る前に「</a:t>
            </a:r>
            <a:r>
              <a:rPr sz="2900" b="1">
                <a:solidFill>
                  <a:srgbClr val="3A3A44"/>
                </a:solidFill>
                <a:highlight>
                  <a:srgbClr val="FFE08A"/>
                </a:highlight>
                <a:latin typeface="Yu Gothic UI"/>
              </a:rPr>
              <a:t>完成した姿</a:t>
            </a:r>
            <a:r>
              <a:rPr sz="2900" b="1">
                <a:solidFill>
                  <a:srgbClr val="3A3A44"/>
                </a:solidFill>
                <a:latin typeface="Yu Gothic UI"/>
              </a:rPr>
              <a:t>」を絵にする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212080" cy="2743200"/>
          </a:xfrm>
          <a:prstGeom prst="roundRect">
            <a:avLst>
              <a:gd name="adj" fmla="val 12000"/>
            </a:avLst>
          </a:prstGeom>
          <a:solidFill>
            <a:srgbClr val="FFE6EC"/>
          </a:solidFill>
          <a:ln w="19050">
            <a:solidFill>
              <a:srgbClr val="FF8A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258568"/>
            <a:ext cx="12801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28600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7607C"/>
                </a:solidFill>
                <a:latin typeface="Yu Gothic UI"/>
              </a:rPr>
              <a:t>たとえ（目玉焼き）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788920"/>
            <a:ext cx="31546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同じ「目玉焼き」でも、黄身の固さも味つけも人それぞれ。ことばだけで頼むと、想像がすれ違う。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97880" y="3017520"/>
            <a:ext cx="566928" cy="640080"/>
          </a:xfrm>
          <a:prstGeom prst="rightArrow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0" y="1965960"/>
            <a:ext cx="4983480" cy="2743200"/>
          </a:xfrm>
          <a:prstGeom prst="roundRect">
            <a:avLst>
              <a:gd name="adj" fmla="val 12000"/>
            </a:avLst>
          </a:prstGeom>
          <a:solidFill>
            <a:srgbClr val="E2F4F6"/>
          </a:solidFill>
          <a:ln w="19050">
            <a:solidFill>
              <a:srgbClr val="5CC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9037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03720" y="2258568"/>
            <a:ext cx="12801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860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A9AA4"/>
                </a:solidFill>
                <a:latin typeface="Yu Gothic UI"/>
              </a:rPr>
              <a:t>要件定義では（完成イメージ）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88920"/>
            <a:ext cx="29260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「完成したソフトの姿」を先に絵（画面や動き）にして見せ合う。それが要件定義の中身。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29200"/>
            <a:ext cx="10927080" cy="1051560"/>
          </a:xfrm>
          <a:prstGeom prst="roundRect">
            <a:avLst>
              <a:gd name="adj" fmla="val 12000"/>
            </a:avLst>
          </a:prstGeom>
          <a:solidFill>
            <a:srgbClr val="FFF7E3"/>
          </a:solidFill>
          <a:ln w="19050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175504"/>
            <a:ext cx="8229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>
                <a:solidFill>
                  <a:srgbClr val="3A3A44"/>
                </a:solidFill>
                <a:latin typeface="Yu Gothic UI"/>
              </a:rPr>
              <a:t>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029200"/>
            <a:ext cx="96012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A3A44"/>
                </a:solidFill>
                <a:latin typeface="Yu Gothic UI"/>
              </a:rPr>
              <a:t>ポイント：ことばより“絵”。完成形を目で見て共有すれば、認識のズレが一気に減る。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58368" y="475488"/>
            <a:ext cx="457200" cy="457200"/>
          </a:xfrm>
          <a:prstGeom prst="ellipse">
            <a:avLst/>
          </a:prstGeom>
          <a:solidFill>
            <a:srgbClr val="3A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 UI"/>
              </a:rPr>
              <a:t>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5029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3A9A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Yu Gothic UI"/>
              </a:rPr>
              <a:t>たとえ③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3A3A44"/>
                </a:solidFill>
                <a:latin typeface="Yu Gothic UI"/>
              </a:rPr>
              <a:t>システムは「</a:t>
            </a:r>
            <a:r>
              <a:rPr sz="2900" b="1">
                <a:solidFill>
                  <a:srgbClr val="3A3A44"/>
                </a:solidFill>
                <a:highlight>
                  <a:srgbClr val="FFE08A"/>
                </a:highlight>
                <a:latin typeface="Yu Gothic UI"/>
              </a:rPr>
              <a:t>見た目</a:t>
            </a:r>
            <a:r>
              <a:rPr sz="2900" b="1">
                <a:solidFill>
                  <a:srgbClr val="3A3A44"/>
                </a:solidFill>
                <a:latin typeface="Yu Gothic UI"/>
              </a:rPr>
              <a:t>」と「</a:t>
            </a:r>
            <a:r>
              <a:rPr sz="2900" b="1">
                <a:solidFill>
                  <a:srgbClr val="3A3A44"/>
                </a:solidFill>
                <a:highlight>
                  <a:srgbClr val="FFE08A"/>
                </a:highlight>
                <a:latin typeface="Yu Gothic UI"/>
              </a:rPr>
              <a:t>中の仕事</a:t>
            </a:r>
            <a:r>
              <a:rPr sz="2900" b="1">
                <a:solidFill>
                  <a:srgbClr val="3A3A44"/>
                </a:solidFill>
                <a:latin typeface="Yu Gothic UI"/>
              </a:rPr>
              <a:t>」でできている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212080" cy="2743200"/>
          </a:xfrm>
          <a:prstGeom prst="roundRect">
            <a:avLst>
              <a:gd name="adj" fmla="val 12000"/>
            </a:avLst>
          </a:prstGeom>
          <a:solidFill>
            <a:srgbClr val="FFE6EC"/>
          </a:solidFill>
          <a:ln w="19050">
            <a:solidFill>
              <a:srgbClr val="FF8A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258568"/>
            <a:ext cx="12801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28600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7607C"/>
                </a:solidFill>
                <a:latin typeface="Yu Gothic UI"/>
              </a:rPr>
              <a:t>たとえ（自動販売機）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788920"/>
            <a:ext cx="31546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ボタン・お金の投入口・取り出し口＝人が触れる「見た目」＝UI。押せる・見えるところ。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97880" y="3017520"/>
            <a:ext cx="566928" cy="640080"/>
          </a:xfrm>
          <a:prstGeom prst="rightArrow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0" y="1965960"/>
            <a:ext cx="4983480" cy="2743200"/>
          </a:xfrm>
          <a:prstGeom prst="roundRect">
            <a:avLst>
              <a:gd name="adj" fmla="val 12000"/>
            </a:avLst>
          </a:prstGeom>
          <a:solidFill>
            <a:srgbClr val="E2F4F6"/>
          </a:solidFill>
          <a:ln w="19050">
            <a:solidFill>
              <a:srgbClr val="5CC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9037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03720" y="2258568"/>
            <a:ext cx="12801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⚙️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860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A9AA4"/>
                </a:solidFill>
                <a:latin typeface="Yu Gothic UI"/>
              </a:rPr>
              <a:t>要件定義では（中の仕事＝機能）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88920"/>
            <a:ext cx="29260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お金を数え、商品を落とす「中の仕事」＝機能。UIと機能が両方そろって初めて動く。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29200"/>
            <a:ext cx="10927080" cy="1051560"/>
          </a:xfrm>
          <a:prstGeom prst="roundRect">
            <a:avLst>
              <a:gd name="adj" fmla="val 12000"/>
            </a:avLst>
          </a:prstGeom>
          <a:solidFill>
            <a:srgbClr val="FFF7E3"/>
          </a:solidFill>
          <a:ln w="19050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175504"/>
            <a:ext cx="8229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>
                <a:solidFill>
                  <a:srgbClr val="3A3A44"/>
                </a:solidFill>
                <a:latin typeface="Yu Gothic UI"/>
              </a:rPr>
              <a:t>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029200"/>
            <a:ext cx="96012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A3A44"/>
                </a:solidFill>
                <a:latin typeface="Yu Gothic UI"/>
              </a:rPr>
              <a:t>ポイント：システム＝UI（見た目）＋機能（中身）。要件定義では、この両方を決めていく。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2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901184" y="214884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3A9A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Yu Gothic UI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80360"/>
            <a:ext cx="1036015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000" b="1">
                <a:solidFill>
                  <a:srgbClr val="3A3A44"/>
                </a:solidFill>
                <a:latin typeface="Yu Gothic UI"/>
              </a:rPr>
              <a:t>なぜ、定めるの？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1036015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6000" b="0">
                <a:solidFill>
                  <a:srgbClr val="3A3A44"/>
                </a:solidFill>
                <a:latin typeface="Yu Gothic UI"/>
              </a:rPr>
              <a:t>💸  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760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Yu Gothic UI"/>
              </a:rPr>
              <a:t>なぜ①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A3A44"/>
                </a:solidFill>
                <a:latin typeface="Yu Gothic UI"/>
              </a:rPr>
              <a:t>決めずに進むと「</a:t>
            </a:r>
            <a:r>
              <a:rPr sz="3000" b="1">
                <a:solidFill>
                  <a:srgbClr val="3A3A44"/>
                </a:solidFill>
                <a:highlight>
                  <a:srgbClr val="FFE08A"/>
                </a:highlight>
                <a:latin typeface="Yu Gothic UI"/>
              </a:rPr>
              <a:t>手戻り</a:t>
            </a:r>
            <a:r>
              <a:rPr sz="3000" b="1">
                <a:solidFill>
                  <a:srgbClr val="3A3A44"/>
                </a:solidFill>
                <a:latin typeface="Yu Gothic UI"/>
              </a:rPr>
              <a:t>」で高くつく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023360"/>
            <a:ext cx="1920240" cy="457200"/>
          </a:xfrm>
          <a:prstGeom prst="roundRect">
            <a:avLst>
              <a:gd name="adj" fmla="val 14000"/>
            </a:avLst>
          </a:prstGeom>
          <a:solidFill>
            <a:srgbClr val="FFC9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3639312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3A3A44"/>
                </a:solidFill>
                <a:latin typeface="Yu Gothic UI"/>
              </a:rPr>
              <a:t>要件定義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53712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7A7E8C"/>
                </a:solidFill>
                <a:latin typeface="Yu Gothic UI"/>
              </a:rPr>
              <a:t>コスト 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99232" y="3680460"/>
            <a:ext cx="1920240" cy="800100"/>
          </a:xfrm>
          <a:prstGeom prst="roundRect">
            <a:avLst>
              <a:gd name="adj" fmla="val 14000"/>
            </a:avLst>
          </a:prstGeom>
          <a:solidFill>
            <a:srgbClr val="F9A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99232" y="3296412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3A3A44"/>
                </a:solidFill>
                <a:latin typeface="Yu Gothic UI"/>
              </a:rPr>
              <a:t>設計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99232" y="4553712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7A7E8C"/>
                </a:solidFill>
                <a:latin typeface="Yu Gothic UI"/>
              </a:rPr>
              <a:t>コスト 💰💰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75504" y="3337560"/>
            <a:ext cx="1920240" cy="1143000"/>
          </a:xfrm>
          <a:prstGeom prst="roundRect">
            <a:avLst>
              <a:gd name="adj" fmla="val 14000"/>
            </a:avLst>
          </a:prstGeom>
          <a:solidFill>
            <a:srgbClr val="F394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75504" y="2953512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3A3A44"/>
                </a:solidFill>
                <a:latin typeface="Yu Gothic UI"/>
              </a:rPr>
              <a:t>実装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75504" y="4553712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7A7E8C"/>
                </a:solidFill>
                <a:latin typeface="Yu Gothic UI"/>
              </a:rPr>
              <a:t>コスト 💰💰💰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51775" y="2994660"/>
            <a:ext cx="1920240" cy="1485900"/>
          </a:xfrm>
          <a:prstGeom prst="roundRect">
            <a:avLst>
              <a:gd name="adj" fmla="val 14000"/>
            </a:avLst>
          </a:prstGeom>
          <a:solidFill>
            <a:srgbClr val="ED7A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51775" y="2610612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3A3A44"/>
                </a:solidFill>
                <a:latin typeface="Yu Gothic UI"/>
              </a:rPr>
              <a:t>テスト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51775" y="4553712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7A7E8C"/>
                </a:solidFill>
                <a:latin typeface="Yu Gothic UI"/>
              </a:rPr>
              <a:t>コスト 💰💰💰💰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28048" y="2651760"/>
            <a:ext cx="1920240" cy="1828800"/>
          </a:xfrm>
          <a:prstGeom prst="roundRect">
            <a:avLst>
              <a:gd name="adj" fmla="val 14000"/>
            </a:avLst>
          </a:prstGeom>
          <a:solidFill>
            <a:srgbClr val="E760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28048" y="2267712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3A3A44"/>
                </a:solidFill>
                <a:latin typeface="Yu Gothic UI"/>
              </a:rPr>
              <a:t>リリース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8048" y="4553712"/>
            <a:ext cx="1920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100" b="0">
                <a:solidFill>
                  <a:srgbClr val="7A7E8C"/>
                </a:solidFill>
                <a:latin typeface="Yu Gothic UI"/>
              </a:rPr>
              <a:t>コスト 💰💰💰💰💰</a:t>
            </a:r>
          </a:p>
        </p:txBody>
      </p:sp>
      <p:sp>
        <p:nvSpPr>
          <p:cNvPr id="20" name="Left Arrow 19"/>
          <p:cNvSpPr/>
          <p:nvPr/>
        </p:nvSpPr>
        <p:spPr>
          <a:xfrm>
            <a:off x="1828800" y="1874519"/>
            <a:ext cx="8229600" cy="502920"/>
          </a:xfrm>
          <a:prstGeom prst="leftArrow">
            <a:avLst/>
          </a:prstGeom>
          <a:solidFill>
            <a:srgbClr val="E760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Yu Gothic UI"/>
              </a:rPr>
              <a:t>後で気づくほど…戻る距離も、直す量も大きい ＝ 手戻り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166360"/>
            <a:ext cx="10561320" cy="1005840"/>
          </a:xfrm>
          <a:prstGeom prst="roundRect">
            <a:avLst>
              <a:gd name="adj" fmla="val 12000"/>
            </a:avLst>
          </a:prstGeom>
          <a:solidFill>
            <a:srgbClr val="FFF7E3"/>
          </a:solidFill>
          <a:ln w="19050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" y="5166360"/>
            <a:ext cx="100584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E7607C"/>
                </a:solidFill>
                <a:latin typeface="Yu Gothic UI"/>
              </a:rPr>
              <a:t>「だったら先に言ってよ」を無くすのが要件定義。</a:t>
            </a:r>
            <a:r>
              <a:rPr sz="1500" b="1">
                <a:solidFill>
                  <a:srgbClr val="3A3A44"/>
                </a:solidFill>
                <a:latin typeface="Yu Gothic UI"/>
              </a:rPr>
              <a:t>  早く合意するほど、直しは小さく安く済む。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760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Yu Gothic UI"/>
              </a:rPr>
              <a:t>なぜ②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A3A44"/>
                </a:solidFill>
                <a:latin typeface="Yu Gothic UI"/>
              </a:rPr>
              <a:t>決めた要件は、右側で「</a:t>
            </a:r>
            <a:r>
              <a:rPr sz="3000" b="1">
                <a:solidFill>
                  <a:srgbClr val="3A3A44"/>
                </a:solidFill>
                <a:highlight>
                  <a:srgbClr val="FFE08A"/>
                </a:highlight>
                <a:latin typeface="Yu Gothic UI"/>
              </a:rPr>
              <a:t>合否の正解</a:t>
            </a:r>
            <a:r>
              <a:rPr sz="3000" b="1">
                <a:solidFill>
                  <a:srgbClr val="3A3A44"/>
                </a:solidFill>
                <a:latin typeface="Yu Gothic UI"/>
              </a:rPr>
              <a:t>」になる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5940" y="2157984"/>
            <a:ext cx="1051560" cy="822960"/>
          </a:xfrm>
          <a:prstGeom prst="line">
            <a:avLst/>
          </a:prstGeom>
          <a:ln w="25400">
            <a:solidFill>
              <a:srgbClr val="CFD3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857500" y="2980944"/>
            <a:ext cx="1051559" cy="822960"/>
          </a:xfrm>
          <a:prstGeom prst="line">
            <a:avLst/>
          </a:prstGeom>
          <a:ln w="25400">
            <a:solidFill>
              <a:srgbClr val="CFD3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909059" y="3803904"/>
            <a:ext cx="2171701" cy="1097279"/>
          </a:xfrm>
          <a:prstGeom prst="line">
            <a:avLst/>
          </a:prstGeom>
          <a:ln w="25400">
            <a:solidFill>
              <a:srgbClr val="CFD3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080760" y="3803904"/>
            <a:ext cx="1988819" cy="1097279"/>
          </a:xfrm>
          <a:prstGeom prst="line">
            <a:avLst/>
          </a:prstGeom>
          <a:ln w="25400">
            <a:solidFill>
              <a:srgbClr val="CFD3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069579" y="2980944"/>
            <a:ext cx="1097281" cy="822960"/>
          </a:xfrm>
          <a:prstGeom prst="line">
            <a:avLst/>
          </a:prstGeom>
          <a:ln w="25400">
            <a:solidFill>
              <a:srgbClr val="CFD3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9166860" y="2157984"/>
            <a:ext cx="1188720" cy="822960"/>
          </a:xfrm>
          <a:prstGeom prst="line">
            <a:avLst/>
          </a:prstGeom>
          <a:ln w="25400">
            <a:solidFill>
              <a:srgbClr val="CFD3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697480" y="2157984"/>
            <a:ext cx="6766560" cy="0"/>
          </a:xfrm>
          <a:prstGeom prst="line">
            <a:avLst/>
          </a:prstGeom>
          <a:ln w="20320">
            <a:solidFill>
              <a:srgbClr val="3A9AA4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49039" y="2980944"/>
            <a:ext cx="4526281" cy="0"/>
          </a:xfrm>
          <a:prstGeom prst="line">
            <a:avLst/>
          </a:prstGeom>
          <a:ln w="20320">
            <a:solidFill>
              <a:srgbClr val="3A9AA4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800600" y="3803904"/>
            <a:ext cx="2377440" cy="0"/>
          </a:xfrm>
          <a:prstGeom prst="line">
            <a:avLst/>
          </a:prstGeom>
          <a:ln w="20320">
            <a:solidFill>
              <a:srgbClr val="3A9AA4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14400" y="1874519"/>
            <a:ext cx="1783080" cy="566928"/>
          </a:xfrm>
          <a:prstGeom prst="roundRect">
            <a:avLst>
              <a:gd name="adj" fmla="val 30000"/>
            </a:avLst>
          </a:prstGeom>
          <a:solidFill>
            <a:srgbClr val="FFE6EC"/>
          </a:solidFill>
          <a:ln w="19050">
            <a:solidFill>
              <a:srgbClr val="FF8A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E7607C"/>
                </a:solidFill>
                <a:latin typeface="Yu Gothic UI"/>
              </a:rPr>
              <a:t>要件定義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965960" y="2697480"/>
            <a:ext cx="1783080" cy="566928"/>
          </a:xfrm>
          <a:prstGeom prst="roundRect">
            <a:avLst>
              <a:gd name="adj" fmla="val 30000"/>
            </a:avLst>
          </a:prstGeom>
          <a:solidFill>
            <a:srgbClr val="FFE6EC"/>
          </a:solidFill>
          <a:ln w="19050">
            <a:solidFill>
              <a:srgbClr val="FF8A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E7607C"/>
                </a:solidFill>
                <a:latin typeface="Yu Gothic UI"/>
              </a:rPr>
              <a:t>基本設計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3520440"/>
            <a:ext cx="1783080" cy="566928"/>
          </a:xfrm>
          <a:prstGeom prst="roundRect">
            <a:avLst>
              <a:gd name="adj" fmla="val 30000"/>
            </a:avLst>
          </a:prstGeom>
          <a:solidFill>
            <a:srgbClr val="FFE6EC"/>
          </a:solidFill>
          <a:ln w="19050">
            <a:solidFill>
              <a:srgbClr val="FF8A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E7607C"/>
                </a:solidFill>
                <a:latin typeface="Yu Gothic UI"/>
              </a:rPr>
              <a:t>詳細設計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64040" y="1874519"/>
            <a:ext cx="1783080" cy="566928"/>
          </a:xfrm>
          <a:prstGeom prst="roundRect">
            <a:avLst>
              <a:gd name="adj" fmla="val 30000"/>
            </a:avLst>
          </a:prstGeom>
          <a:solidFill>
            <a:srgbClr val="E2F4F6"/>
          </a:solidFill>
          <a:ln w="19050">
            <a:solidFill>
              <a:srgbClr val="5CC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3A9AA4"/>
                </a:solidFill>
                <a:latin typeface="Yu Gothic UI"/>
              </a:rPr>
              <a:t>受入テスト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65592" y="2697480"/>
            <a:ext cx="2011680" cy="566928"/>
          </a:xfrm>
          <a:prstGeom prst="roundRect">
            <a:avLst>
              <a:gd name="adj" fmla="val 30000"/>
            </a:avLst>
          </a:prstGeom>
          <a:solidFill>
            <a:srgbClr val="E2F4F6"/>
          </a:solidFill>
          <a:ln w="19050">
            <a:solidFill>
              <a:srgbClr val="5CC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3A9AA4"/>
                </a:solidFill>
                <a:latin typeface="Yu Gothic UI"/>
              </a:rPr>
              <a:t>システムテスト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78040" y="3520440"/>
            <a:ext cx="1783080" cy="566928"/>
          </a:xfrm>
          <a:prstGeom prst="roundRect">
            <a:avLst>
              <a:gd name="adj" fmla="val 30000"/>
            </a:avLst>
          </a:prstGeom>
          <a:solidFill>
            <a:srgbClr val="E2F4F6"/>
          </a:solidFill>
          <a:ln w="19050">
            <a:solidFill>
              <a:srgbClr val="5CC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3A9AA4"/>
                </a:solidFill>
                <a:latin typeface="Yu Gothic UI"/>
              </a:rPr>
              <a:t>結合テスト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37760" y="4617720"/>
            <a:ext cx="2286000" cy="566928"/>
          </a:xfrm>
          <a:prstGeom prst="roundRect">
            <a:avLst>
              <a:gd name="adj" fmla="val 30000"/>
            </a:avLst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3A3A44"/>
                </a:solidFill>
                <a:latin typeface="Yu Gothic UI"/>
              </a:rPr>
              <a:t>実装・コーディング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2148840"/>
            <a:ext cx="41148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1">
                <a:solidFill>
                  <a:srgbClr val="3A3A44"/>
                </a:solidFill>
                <a:latin typeface="Yu Gothic UI"/>
              </a:rPr>
              <a:t>左で決めた“こうなってほしい”が</a:t>
            </a:r>
          </a:p>
          <a:p>
            <a:pPr algn="ctr">
              <a:lnSpc>
                <a:spcPct val="120000"/>
              </a:lnSpc>
            </a:pPr>
            <a:r>
              <a:rPr sz="1350" b="1">
                <a:solidFill>
                  <a:srgbClr val="3A9AA4"/>
                </a:solidFill>
                <a:latin typeface="Yu Gothic UI"/>
              </a:rPr>
              <a:t>右のテストの“正解（合否基準）”になる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623560"/>
            <a:ext cx="10561320" cy="777240"/>
          </a:xfrm>
          <a:prstGeom prst="roundRect">
            <a:avLst>
              <a:gd name="adj" fmla="val 12000"/>
            </a:avLst>
          </a:prstGeom>
          <a:solidFill>
            <a:srgbClr val="FFF7E3"/>
          </a:solidFill>
          <a:ln w="19050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" y="5623560"/>
            <a:ext cx="1005840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3A3A44"/>
                </a:solidFill>
                <a:latin typeface="Yu Gothic UI"/>
              </a:rPr>
              <a:t>だから曖昧な要件だと、テストの“正解”も作れない。きちんと決める＝あとで検証できる。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5A4A10"/>
                </a:solidFill>
                <a:latin typeface="Yu Gothic UI"/>
              </a:rPr>
              <a:t>どう作る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3A3A44"/>
                </a:solidFill>
                <a:latin typeface="Yu Gothic UI"/>
              </a:rPr>
              <a:t>12の成果物で「</a:t>
            </a:r>
            <a:r>
              <a:rPr sz="3000" b="1">
                <a:solidFill>
                  <a:srgbClr val="3A3A44"/>
                </a:solidFill>
                <a:highlight>
                  <a:srgbClr val="FFE08A"/>
                </a:highlight>
                <a:latin typeface="Yu Gothic UI"/>
              </a:rPr>
              <a:t>完成形</a:t>
            </a:r>
            <a:r>
              <a:rPr sz="3000" b="1">
                <a:solidFill>
                  <a:srgbClr val="3A3A44"/>
                </a:solidFill>
                <a:latin typeface="Yu Gothic UI"/>
              </a:rPr>
              <a:t>」を組み立てる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3520440" cy="1737360"/>
          </a:xfrm>
          <a:prstGeom prst="roundRect">
            <a:avLst>
              <a:gd name="adj" fmla="val 12000"/>
            </a:avLst>
          </a:prstGeom>
          <a:solidFill>
            <a:srgbClr val="FFE6EC"/>
          </a:solidFill>
          <a:ln w="19050">
            <a:solidFill>
              <a:srgbClr val="FF8A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7" y="2066544"/>
            <a:ext cx="31181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E7607C"/>
                </a:solidFill>
                <a:latin typeface="Yu Gothic UI"/>
              </a:rPr>
              <a:t>① 準備・企画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468880"/>
            <a:ext cx="31181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3A3A44"/>
                </a:solidFill>
                <a:latin typeface="Yu Gothic UI"/>
              </a:rPr>
              <a:t>🥚📋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999232"/>
            <a:ext cx="31181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3A3A44"/>
                </a:solidFill>
                <a:latin typeface="Yu Gothic UI"/>
              </a:rPr>
              <a:t>材料そろえ／企画書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6552" y="1920240"/>
            <a:ext cx="3520440" cy="1737360"/>
          </a:xfrm>
          <a:prstGeom prst="roundRect">
            <a:avLst>
              <a:gd name="adj" fmla="val 12000"/>
            </a:avLst>
          </a:prstGeom>
          <a:solidFill>
            <a:srgbClr val="FFE6EC"/>
          </a:solidFill>
          <a:ln w="19050">
            <a:solidFill>
              <a:srgbClr val="FF8A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2066544"/>
            <a:ext cx="31181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E7607C"/>
                </a:solidFill>
                <a:latin typeface="Yu Gothic UI"/>
              </a:rPr>
              <a:t>② 全体像・技術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468880"/>
            <a:ext cx="31181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3A3A44"/>
                </a:solidFill>
                <a:latin typeface="Yu Gothic UI"/>
              </a:rPr>
              <a:t>🏠🏗️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999232"/>
            <a:ext cx="31181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3A3A44"/>
                </a:solidFill>
                <a:latin typeface="Yu Gothic UI"/>
              </a:rPr>
              <a:t>全体像・部屋割り／実装技術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93023" y="1920240"/>
            <a:ext cx="3520440" cy="1737360"/>
          </a:xfrm>
          <a:prstGeom prst="roundRect">
            <a:avLst>
              <a:gd name="adj" fmla="val 12000"/>
            </a:avLst>
          </a:prstGeom>
          <a:solidFill>
            <a:srgbClr val="E2F4F6"/>
          </a:solidFill>
          <a:ln w="19050">
            <a:solidFill>
              <a:srgbClr val="5CC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94192" y="2066544"/>
            <a:ext cx="31181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3A9AA4"/>
                </a:solidFill>
                <a:latin typeface="Yu Gothic UI"/>
              </a:rPr>
              <a:t>③ やりたいこと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2468880"/>
            <a:ext cx="31181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3A3A44"/>
                </a:solidFill>
                <a:latin typeface="Yu Gothic UI"/>
              </a:rPr>
              <a:t>📝🍚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2999232"/>
            <a:ext cx="31181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3A3A44"/>
                </a:solidFill>
                <a:latin typeface="Yu Gothic UI"/>
              </a:rPr>
              <a:t>要求一覧／行動シナリオ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13631"/>
            <a:ext cx="3520440" cy="1737360"/>
          </a:xfrm>
          <a:prstGeom prst="roundRect">
            <a:avLst>
              <a:gd name="adj" fmla="val 12000"/>
            </a:avLst>
          </a:prstGeom>
          <a:solidFill>
            <a:srgbClr val="E2F4F6"/>
          </a:solidFill>
          <a:ln w="19050">
            <a:solidFill>
              <a:srgbClr val="5CC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7" y="4059935"/>
            <a:ext cx="31181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3A9AA4"/>
                </a:solidFill>
                <a:latin typeface="Yu Gothic UI"/>
              </a:rPr>
              <a:t>④ 画面・データ・機能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7" y="4462271"/>
            <a:ext cx="31181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3A3A44"/>
                </a:solidFill>
                <a:latin typeface="Yu Gothic UI"/>
              </a:rPr>
              <a:t>🍽️👥🍳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992623"/>
            <a:ext cx="31181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3A3A44"/>
                </a:solidFill>
                <a:latin typeface="Yu Gothic UI"/>
              </a:rPr>
              <a:t>UI／概念データモデル／機能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16552" y="3913631"/>
            <a:ext cx="3520440" cy="1737360"/>
          </a:xfrm>
          <a:prstGeom prst="roundRect">
            <a:avLst>
              <a:gd name="adj" fmla="val 12000"/>
            </a:avLst>
          </a:prstGeom>
          <a:solidFill>
            <a:srgbClr val="E7F5E9"/>
          </a:solidFill>
          <a:ln w="19050">
            <a:solidFill>
              <a:srgbClr val="8BC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17720" y="4059935"/>
            <a:ext cx="31181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3E8E5A"/>
                </a:solidFill>
                <a:latin typeface="Yu Gothic UI"/>
              </a:rPr>
              <a:t>⑤ 保存・点検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7720" y="4462271"/>
            <a:ext cx="31181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3A3A44"/>
                </a:solidFill>
                <a:latin typeface="Yu Gothic UI"/>
              </a:rPr>
              <a:t>🗄️✅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4992623"/>
            <a:ext cx="31181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3A3A44"/>
                </a:solidFill>
                <a:latin typeface="Yu Gothic UI"/>
              </a:rPr>
              <a:t>データベース／CRUD点検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93023" y="3913631"/>
            <a:ext cx="3520440" cy="1737360"/>
          </a:xfrm>
          <a:prstGeom prst="roundRect">
            <a:avLst>
              <a:gd name="adj" fmla="val 12000"/>
            </a:avLst>
          </a:prstGeom>
          <a:solidFill>
            <a:srgbClr val="E7F5E9"/>
          </a:solidFill>
          <a:ln w="19050">
            <a:solidFill>
              <a:srgbClr val="8BC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94192" y="4059935"/>
            <a:ext cx="311810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1">
                <a:solidFill>
                  <a:srgbClr val="3E8E5A"/>
                </a:solidFill>
                <a:latin typeface="Yu Gothic UI"/>
              </a:rPr>
              <a:t>⑥ 伝える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462271"/>
            <a:ext cx="31181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200" b="0">
                <a:solidFill>
                  <a:srgbClr val="3A3A44"/>
                </a:solidFill>
                <a:latin typeface="Yu Gothic UI"/>
              </a:rPr>
              <a:t>📖🤝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4992623"/>
            <a:ext cx="31181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3A3A44"/>
                </a:solidFill>
                <a:latin typeface="Yu Gothic UI"/>
              </a:rPr>
              <a:t>渡せる状態（目次・想定問答）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989320"/>
            <a:ext cx="10927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7A7E8C"/>
                </a:solidFill>
                <a:latin typeface="Yu Gothic UI"/>
              </a:rPr>
              <a:t>この地図の①→⑥を、これから1つずつ“たとえ話”で見ていきます。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58368" y="475488"/>
            <a:ext cx="457200" cy="457200"/>
          </a:xfrm>
          <a:prstGeom prst="ellipse">
            <a:avLst/>
          </a:prstGeom>
          <a:solidFill>
            <a:srgbClr val="3A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 UI"/>
              </a:rPr>
              <a:t>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5029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3A9A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Yu Gothic UI"/>
              </a:rPr>
              <a:t>① 準備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3A3A44"/>
                </a:solidFill>
                <a:latin typeface="Yu Gothic UI"/>
              </a:rPr>
              <a:t>まず「</a:t>
            </a:r>
            <a:r>
              <a:rPr sz="2900" b="1">
                <a:solidFill>
                  <a:srgbClr val="3A3A44"/>
                </a:solidFill>
                <a:highlight>
                  <a:srgbClr val="FFE08A"/>
                </a:highlight>
                <a:latin typeface="Yu Gothic UI"/>
              </a:rPr>
              <a:t>材料</a:t>
            </a:r>
            <a:r>
              <a:rPr sz="2900" b="1">
                <a:solidFill>
                  <a:srgbClr val="3A3A44"/>
                </a:solidFill>
                <a:latin typeface="Yu Gothic UI"/>
              </a:rPr>
              <a:t>」をそろえる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212080" cy="2743200"/>
          </a:xfrm>
          <a:prstGeom prst="roundRect">
            <a:avLst>
              <a:gd name="adj" fmla="val 12000"/>
            </a:avLst>
          </a:prstGeom>
          <a:solidFill>
            <a:srgbClr val="FFE6EC"/>
          </a:solidFill>
          <a:ln w="19050">
            <a:solidFill>
              <a:srgbClr val="FF8A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258568"/>
            <a:ext cx="12801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28600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7607C"/>
                </a:solidFill>
                <a:latin typeface="Yu Gothic UI"/>
              </a:rPr>
              <a:t>たとえ（目玉焼き）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788920"/>
            <a:ext cx="31546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料理は、卵もフライパンも無いまま始められない。まず材料と道具をそろえる。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97880" y="3017520"/>
            <a:ext cx="566928" cy="640080"/>
          </a:xfrm>
          <a:prstGeom prst="rightArrow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0" y="1965960"/>
            <a:ext cx="4983480" cy="2743200"/>
          </a:xfrm>
          <a:prstGeom prst="roundRect">
            <a:avLst>
              <a:gd name="adj" fmla="val 12000"/>
            </a:avLst>
          </a:prstGeom>
          <a:solidFill>
            <a:srgbClr val="E2F4F6"/>
          </a:solidFill>
          <a:ln w="19050">
            <a:solidFill>
              <a:srgbClr val="5CC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9037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03720" y="2258568"/>
            <a:ext cx="12801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860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A9AA4"/>
                </a:solidFill>
                <a:latin typeface="Yu Gothic UI"/>
              </a:rPr>
              <a:t>要件定義では（必要な情報）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88920"/>
            <a:ext cx="29260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誰のため・何を叶えるか等、完成に必要な情報を先にそろえる。要件定義の下ごしらえ。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29200"/>
            <a:ext cx="10927080" cy="1051560"/>
          </a:xfrm>
          <a:prstGeom prst="roundRect">
            <a:avLst>
              <a:gd name="adj" fmla="val 12000"/>
            </a:avLst>
          </a:prstGeom>
          <a:solidFill>
            <a:srgbClr val="FFF7E3"/>
          </a:solidFill>
          <a:ln w="19050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175504"/>
            <a:ext cx="8229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>
                <a:solidFill>
                  <a:srgbClr val="3A3A44"/>
                </a:solidFill>
                <a:latin typeface="Yu Gothic UI"/>
              </a:rPr>
              <a:t>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029200"/>
            <a:ext cx="96012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A3A44"/>
                </a:solidFill>
                <a:latin typeface="Yu Gothic UI"/>
              </a:rPr>
              <a:t>ポイント：いきなり書き始めない。まず“材料（情報）”をそろえるところから始まる。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58368" y="475488"/>
            <a:ext cx="457200" cy="457200"/>
          </a:xfrm>
          <a:prstGeom prst="ellipse">
            <a:avLst/>
          </a:prstGeom>
          <a:solidFill>
            <a:srgbClr val="3A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 UI"/>
              </a:rPr>
              <a:t>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5029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3A9A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Yu Gothic UI"/>
              </a:rPr>
              <a:t>② 企画書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3A3A44"/>
                </a:solidFill>
                <a:latin typeface="Yu Gothic UI"/>
              </a:rPr>
              <a:t>企画書は「</a:t>
            </a:r>
            <a:r>
              <a:rPr sz="2900" b="1">
                <a:solidFill>
                  <a:srgbClr val="3A3A44"/>
                </a:solidFill>
                <a:highlight>
                  <a:srgbClr val="FFE08A"/>
                </a:highlight>
                <a:latin typeface="Yu Gothic UI"/>
              </a:rPr>
              <a:t>理解してもらう</a:t>
            </a:r>
            <a:r>
              <a:rPr sz="2900" b="1">
                <a:solidFill>
                  <a:srgbClr val="3A3A44"/>
                </a:solidFill>
                <a:latin typeface="Yu Gothic UI"/>
              </a:rPr>
              <a:t>」ために書く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212080" cy="2743200"/>
          </a:xfrm>
          <a:prstGeom prst="roundRect">
            <a:avLst>
              <a:gd name="adj" fmla="val 12000"/>
            </a:avLst>
          </a:prstGeom>
          <a:solidFill>
            <a:srgbClr val="FFE6EC"/>
          </a:solidFill>
          <a:ln w="19050">
            <a:solidFill>
              <a:srgbClr val="FF8A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258568"/>
            <a:ext cx="12801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28600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7607C"/>
                </a:solidFill>
                <a:latin typeface="Yu Gothic UI"/>
              </a:rPr>
              <a:t>たとえ（旅のしおり）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788920"/>
            <a:ext cx="31546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旅のしおりは、みんなが同じイメージで当日を楽しめるように作る。読む人のためのもの。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97880" y="3017520"/>
            <a:ext cx="566928" cy="640080"/>
          </a:xfrm>
          <a:prstGeom prst="rightArrow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0" y="1965960"/>
            <a:ext cx="4983480" cy="2743200"/>
          </a:xfrm>
          <a:prstGeom prst="roundRect">
            <a:avLst>
              <a:gd name="adj" fmla="val 12000"/>
            </a:avLst>
          </a:prstGeom>
          <a:solidFill>
            <a:srgbClr val="E2F4F6"/>
          </a:solidFill>
          <a:ln w="19050">
            <a:solidFill>
              <a:srgbClr val="5CC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9037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03720" y="2258568"/>
            <a:ext cx="12801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860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A9AA4"/>
                </a:solidFill>
                <a:latin typeface="Yu Gothic UI"/>
              </a:rPr>
              <a:t>要件定義では（伝わる企画書）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88920"/>
            <a:ext cx="29260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企画書も“通すため”でなく“関係者に理解してもらうため”に書く。目的と全体像を共有。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29200"/>
            <a:ext cx="10927080" cy="1051560"/>
          </a:xfrm>
          <a:prstGeom prst="roundRect">
            <a:avLst>
              <a:gd name="adj" fmla="val 12000"/>
            </a:avLst>
          </a:prstGeom>
          <a:solidFill>
            <a:srgbClr val="FFF7E3"/>
          </a:solidFill>
          <a:ln w="19050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175504"/>
            <a:ext cx="8229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>
                <a:solidFill>
                  <a:srgbClr val="3A3A44"/>
                </a:solidFill>
                <a:latin typeface="Yu Gothic UI"/>
              </a:rPr>
              <a:t>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029200"/>
            <a:ext cx="96012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A3A44"/>
                </a:solidFill>
                <a:latin typeface="Yu Gothic UI"/>
              </a:rPr>
              <a:t>ポイント：良い企画書のゴールは「承認」より「共通理解」。読む人に伝わってこそ意味がある。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58368" y="475488"/>
            <a:ext cx="457200" cy="457200"/>
          </a:xfrm>
          <a:prstGeom prst="ellipse">
            <a:avLst/>
          </a:prstGeom>
          <a:solidFill>
            <a:srgbClr val="3A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 UI"/>
              </a:rPr>
              <a:t>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5029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3A9A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Yu Gothic UI"/>
              </a:rPr>
              <a:t>③ 全体像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3A3A44"/>
                </a:solidFill>
                <a:latin typeface="Yu Gothic UI"/>
              </a:rPr>
              <a:t>まず</a:t>
            </a:r>
            <a:r>
              <a:rPr sz="2900" b="1">
                <a:solidFill>
                  <a:srgbClr val="3A3A44"/>
                </a:solidFill>
                <a:highlight>
                  <a:srgbClr val="FFE08A"/>
                </a:highlight>
                <a:latin typeface="Yu Gothic UI"/>
              </a:rPr>
              <a:t>ざっくり全体像</a:t>
            </a:r>
            <a:r>
              <a:rPr sz="2900" b="1">
                <a:solidFill>
                  <a:srgbClr val="3A3A44"/>
                </a:solidFill>
                <a:latin typeface="Yu Gothic UI"/>
              </a:rPr>
              <a:t>、次に部屋割り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212080" cy="2743200"/>
          </a:xfrm>
          <a:prstGeom prst="roundRect">
            <a:avLst>
              <a:gd name="adj" fmla="val 12000"/>
            </a:avLst>
          </a:prstGeom>
          <a:solidFill>
            <a:srgbClr val="FFE6EC"/>
          </a:solidFill>
          <a:ln w="19050">
            <a:solidFill>
              <a:srgbClr val="FF8A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258568"/>
            <a:ext cx="12801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✏️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28600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7607C"/>
                </a:solidFill>
                <a:latin typeface="Yu Gothic UI"/>
              </a:rPr>
              <a:t>たとえ（間取りスケッチ）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788920"/>
            <a:ext cx="31546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家づくりは、細部の前にまず間取りを大きくスケッチ。次に部屋を割っていく。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97880" y="3017520"/>
            <a:ext cx="566928" cy="640080"/>
          </a:xfrm>
          <a:prstGeom prst="rightArrow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0" y="1965960"/>
            <a:ext cx="4983480" cy="2743200"/>
          </a:xfrm>
          <a:prstGeom prst="roundRect">
            <a:avLst>
              <a:gd name="adj" fmla="val 12000"/>
            </a:avLst>
          </a:prstGeom>
          <a:solidFill>
            <a:srgbClr val="E2F4F6"/>
          </a:solidFill>
          <a:ln w="19050">
            <a:solidFill>
              <a:srgbClr val="5CC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9037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03720" y="2258568"/>
            <a:ext cx="12801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860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A9AA4"/>
                </a:solidFill>
                <a:latin typeface="Yu Gothic UI"/>
              </a:rPr>
              <a:t>要件定義では（全体像→サブブロック）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88920"/>
            <a:ext cx="29260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システムも、先に全体像をざっくり描き、次に機能のかたまり（サブブロック）に分ける。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29200"/>
            <a:ext cx="10927080" cy="1051560"/>
          </a:xfrm>
          <a:prstGeom prst="roundRect">
            <a:avLst>
              <a:gd name="adj" fmla="val 12000"/>
            </a:avLst>
          </a:prstGeom>
          <a:solidFill>
            <a:srgbClr val="FFF7E3"/>
          </a:solidFill>
          <a:ln w="19050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175504"/>
            <a:ext cx="8229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>
                <a:solidFill>
                  <a:srgbClr val="3A3A44"/>
                </a:solidFill>
                <a:latin typeface="Yu Gothic UI"/>
              </a:rPr>
              <a:t>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029200"/>
            <a:ext cx="96012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A3A44"/>
                </a:solidFill>
                <a:latin typeface="Yu Gothic UI"/>
              </a:rPr>
              <a:t>ポイント：最初から細部に入らない。大きく描いて→分ける。迷子にならない進め方。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58368" y="475488"/>
            <a:ext cx="457200" cy="457200"/>
          </a:xfrm>
          <a:prstGeom prst="ellipse">
            <a:avLst/>
          </a:prstGeom>
          <a:solidFill>
            <a:srgbClr val="3A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 UI"/>
              </a:rPr>
              <a:t>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5029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3A9A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Yu Gothic UI"/>
              </a:rPr>
              <a:t>④ 実装技術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3A3A44"/>
                </a:solidFill>
                <a:latin typeface="Yu Gothic UI"/>
              </a:rPr>
              <a:t>どの「</a:t>
            </a:r>
            <a:r>
              <a:rPr sz="2900" b="1">
                <a:solidFill>
                  <a:srgbClr val="3A3A44"/>
                </a:solidFill>
                <a:highlight>
                  <a:srgbClr val="FFE08A"/>
                </a:highlight>
                <a:latin typeface="Yu Gothic UI"/>
              </a:rPr>
              <a:t>工法</a:t>
            </a:r>
            <a:r>
              <a:rPr sz="2900" b="1">
                <a:solidFill>
                  <a:srgbClr val="3A3A44"/>
                </a:solidFill>
                <a:latin typeface="Yu Gothic UI"/>
              </a:rPr>
              <a:t>」で建てるかを決める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212080" cy="2743200"/>
          </a:xfrm>
          <a:prstGeom prst="roundRect">
            <a:avLst>
              <a:gd name="adj" fmla="val 12000"/>
            </a:avLst>
          </a:prstGeom>
          <a:solidFill>
            <a:srgbClr val="FFE6EC"/>
          </a:solidFill>
          <a:ln w="19050">
            <a:solidFill>
              <a:srgbClr val="FF8A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258568"/>
            <a:ext cx="12801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🏗️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28600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7607C"/>
                </a:solidFill>
                <a:latin typeface="Yu Gothic UI"/>
              </a:rPr>
              <a:t>たとえ（家の工法）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788920"/>
            <a:ext cx="31546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同じ間取りでも、木造か鉄骨か。工法で、費用も工期も強さも変わる。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97880" y="3017520"/>
            <a:ext cx="566928" cy="640080"/>
          </a:xfrm>
          <a:prstGeom prst="rightArrow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0" y="1965960"/>
            <a:ext cx="4983480" cy="2743200"/>
          </a:xfrm>
          <a:prstGeom prst="roundRect">
            <a:avLst>
              <a:gd name="adj" fmla="val 12000"/>
            </a:avLst>
          </a:prstGeom>
          <a:solidFill>
            <a:srgbClr val="E2F4F6"/>
          </a:solidFill>
          <a:ln w="19050">
            <a:solidFill>
              <a:srgbClr val="5CC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9037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03720" y="2258568"/>
            <a:ext cx="12801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860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A9AA4"/>
                </a:solidFill>
                <a:latin typeface="Yu Gothic UI"/>
              </a:rPr>
              <a:t>要件定義では（アーキテクチャ）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88920"/>
            <a:ext cx="29260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システムも“どの技術・仕組みで作るか”を選ぶ。これがアーキテクチャ（実装技術）。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29200"/>
            <a:ext cx="10927080" cy="1051560"/>
          </a:xfrm>
          <a:prstGeom prst="roundRect">
            <a:avLst>
              <a:gd name="adj" fmla="val 12000"/>
            </a:avLst>
          </a:prstGeom>
          <a:solidFill>
            <a:srgbClr val="FFF7E3"/>
          </a:solidFill>
          <a:ln w="19050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175504"/>
            <a:ext cx="8229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>
                <a:solidFill>
                  <a:srgbClr val="3A3A44"/>
                </a:solidFill>
                <a:latin typeface="Yu Gothic UI"/>
              </a:rPr>
              <a:t>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029200"/>
            <a:ext cx="96012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A3A44"/>
                </a:solidFill>
                <a:latin typeface="Yu Gothic UI"/>
              </a:rPr>
              <a:t>ポイント：作り方の土台選び。後から変えにくいので、早めに方針を決めておく。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58368" y="475488"/>
            <a:ext cx="457200" cy="457200"/>
          </a:xfrm>
          <a:prstGeom prst="ellipse">
            <a:avLst/>
          </a:prstGeom>
          <a:solidFill>
            <a:srgbClr val="3A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 UI"/>
              </a:rPr>
              <a:t>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5029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3A9A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Yu Gothic UI"/>
              </a:rPr>
              <a:t>⑤ 要求一覧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3A3A44"/>
                </a:solidFill>
                <a:latin typeface="Yu Gothic UI"/>
              </a:rPr>
              <a:t>やりたいことを「</a:t>
            </a:r>
            <a:r>
              <a:rPr sz="2900" b="1">
                <a:solidFill>
                  <a:srgbClr val="3A3A44"/>
                </a:solidFill>
                <a:highlight>
                  <a:srgbClr val="FFE08A"/>
                </a:highlight>
                <a:latin typeface="Yu Gothic UI"/>
              </a:rPr>
              <a:t>文書化</a:t>
            </a:r>
            <a:r>
              <a:rPr sz="2900" b="1">
                <a:solidFill>
                  <a:srgbClr val="3A3A44"/>
                </a:solidFill>
                <a:latin typeface="Yu Gothic UI"/>
              </a:rPr>
              <a:t>」して一覧に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212080" cy="2743200"/>
          </a:xfrm>
          <a:prstGeom prst="roundRect">
            <a:avLst>
              <a:gd name="adj" fmla="val 12000"/>
            </a:avLst>
          </a:prstGeom>
          <a:solidFill>
            <a:srgbClr val="FFE6EC"/>
          </a:solidFill>
          <a:ln w="19050">
            <a:solidFill>
              <a:srgbClr val="FF8A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258568"/>
            <a:ext cx="12801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28600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7607C"/>
                </a:solidFill>
                <a:latin typeface="Yu Gothic UI"/>
              </a:rPr>
              <a:t>たとえ（要望ヒアリング）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788920"/>
            <a:ext cx="31546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家づくりで「広い居間」「日当たり」等の要望を聞き取り、書き出して一覧にする。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97880" y="3017520"/>
            <a:ext cx="566928" cy="640080"/>
          </a:xfrm>
          <a:prstGeom prst="rightArrow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0" y="1965960"/>
            <a:ext cx="4983480" cy="2743200"/>
          </a:xfrm>
          <a:prstGeom prst="roundRect">
            <a:avLst>
              <a:gd name="adj" fmla="val 12000"/>
            </a:avLst>
          </a:prstGeom>
          <a:solidFill>
            <a:srgbClr val="E2F4F6"/>
          </a:solidFill>
          <a:ln w="19050">
            <a:solidFill>
              <a:srgbClr val="5CC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9037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03720" y="2258568"/>
            <a:ext cx="12801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860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A9AA4"/>
                </a:solidFill>
                <a:latin typeface="Yu Gothic UI"/>
              </a:rPr>
              <a:t>要件定義では（要求一覧）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88920"/>
            <a:ext cx="29260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「実現したいこと」を一つずつ文書にして並べる。頭の中の要望を“消えない形”に。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29200"/>
            <a:ext cx="10927080" cy="1051560"/>
          </a:xfrm>
          <a:prstGeom prst="roundRect">
            <a:avLst>
              <a:gd name="adj" fmla="val 12000"/>
            </a:avLst>
          </a:prstGeom>
          <a:solidFill>
            <a:srgbClr val="FFF7E3"/>
          </a:solidFill>
          <a:ln w="19050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175504"/>
            <a:ext cx="8229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>
                <a:solidFill>
                  <a:srgbClr val="3A3A44"/>
                </a:solidFill>
                <a:latin typeface="Yu Gothic UI"/>
              </a:rPr>
              <a:t>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029200"/>
            <a:ext cx="96012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A3A44"/>
                </a:solidFill>
                <a:latin typeface="Yu Gothic UI"/>
              </a:rPr>
              <a:t>ポイント：口約束は消える。書き出して一覧化＝抜け漏れと言った言わないを防ぐ。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58368" y="475488"/>
            <a:ext cx="457200" cy="457200"/>
          </a:xfrm>
          <a:prstGeom prst="ellipse">
            <a:avLst/>
          </a:prstGeom>
          <a:solidFill>
            <a:srgbClr val="3A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 UI"/>
              </a:rPr>
              <a:t>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5029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3A9A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Yu Gothic UI"/>
              </a:rPr>
              <a:t>⑥ 行動シナリオ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3A3A44"/>
                </a:solidFill>
                <a:latin typeface="Yu Gothic UI"/>
              </a:rPr>
              <a:t>利用者の「</a:t>
            </a:r>
            <a:r>
              <a:rPr sz="2900" b="1">
                <a:solidFill>
                  <a:srgbClr val="3A3A44"/>
                </a:solidFill>
                <a:highlight>
                  <a:srgbClr val="FFE08A"/>
                </a:highlight>
                <a:latin typeface="Yu Gothic UI"/>
              </a:rPr>
              <a:t>動き</a:t>
            </a:r>
            <a:r>
              <a:rPr sz="2900" b="1">
                <a:solidFill>
                  <a:srgbClr val="3A3A44"/>
                </a:solidFill>
                <a:latin typeface="Yu Gothic UI"/>
              </a:rPr>
              <a:t>」を場面で書く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212080" cy="2743200"/>
          </a:xfrm>
          <a:prstGeom prst="roundRect">
            <a:avLst>
              <a:gd name="adj" fmla="val 12000"/>
            </a:avLst>
          </a:prstGeom>
          <a:solidFill>
            <a:srgbClr val="FFE6EC"/>
          </a:solidFill>
          <a:ln w="19050">
            <a:solidFill>
              <a:srgbClr val="FF8A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258568"/>
            <a:ext cx="12801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28600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7607C"/>
                </a:solidFill>
                <a:latin typeface="Yu Gothic UI"/>
              </a:rPr>
              <a:t>たとえ（定食屋の厨房）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788920"/>
            <a:ext cx="31546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「注文→調理→提供→会計」——お店が回る一連の動きを、場面ごとに思い描く。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97880" y="3017520"/>
            <a:ext cx="566928" cy="640080"/>
          </a:xfrm>
          <a:prstGeom prst="rightArrow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0" y="1965960"/>
            <a:ext cx="4983480" cy="2743200"/>
          </a:xfrm>
          <a:prstGeom prst="roundRect">
            <a:avLst>
              <a:gd name="adj" fmla="val 12000"/>
            </a:avLst>
          </a:prstGeom>
          <a:solidFill>
            <a:srgbClr val="E2F4F6"/>
          </a:solidFill>
          <a:ln w="19050">
            <a:solidFill>
              <a:srgbClr val="5CC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9037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03720" y="2258568"/>
            <a:ext cx="12801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860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A9AA4"/>
                </a:solidFill>
                <a:latin typeface="Yu Gothic UI"/>
              </a:rPr>
              <a:t>要件定義では（行動シナリオ）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88920"/>
            <a:ext cx="29260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利用者が実際どう操作し進むかを、場面の流れとして書く。機能の“抜け”に気づける。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29200"/>
            <a:ext cx="10927080" cy="1051560"/>
          </a:xfrm>
          <a:prstGeom prst="roundRect">
            <a:avLst>
              <a:gd name="adj" fmla="val 12000"/>
            </a:avLst>
          </a:prstGeom>
          <a:solidFill>
            <a:srgbClr val="FFF7E3"/>
          </a:solidFill>
          <a:ln w="19050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175504"/>
            <a:ext cx="8229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>
                <a:solidFill>
                  <a:srgbClr val="3A3A44"/>
                </a:solidFill>
                <a:latin typeface="Yu Gothic UI"/>
              </a:rPr>
              <a:t>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029200"/>
            <a:ext cx="96012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A3A44"/>
                </a:solidFill>
                <a:latin typeface="Yu Gothic UI"/>
              </a:rPr>
              <a:t>ポイント：機能を並べるだけでなく、“人がどう使うか”の物語で確かめる。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58368" y="475488"/>
            <a:ext cx="457200" cy="457200"/>
          </a:xfrm>
          <a:prstGeom prst="ellipse">
            <a:avLst/>
          </a:prstGeom>
          <a:solidFill>
            <a:srgbClr val="3A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 UI"/>
              </a:rPr>
              <a:t>10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5029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3A9A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Yu Gothic UI"/>
              </a:rPr>
              <a:t>⑦ データモデル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3A3A44"/>
                </a:solidFill>
                <a:latin typeface="Yu Gothic UI"/>
              </a:rPr>
              <a:t>データを「</a:t>
            </a:r>
            <a:r>
              <a:rPr sz="2900" b="1">
                <a:solidFill>
                  <a:srgbClr val="3A3A44"/>
                </a:solidFill>
                <a:highlight>
                  <a:srgbClr val="FFE08A"/>
                </a:highlight>
                <a:latin typeface="Yu Gothic UI"/>
              </a:rPr>
              <a:t>相関図</a:t>
            </a:r>
            <a:r>
              <a:rPr sz="2900" b="1">
                <a:solidFill>
                  <a:srgbClr val="3A3A44"/>
                </a:solidFill>
                <a:latin typeface="Yu Gothic UI"/>
              </a:rPr>
              <a:t>」で描く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212080" cy="2743200"/>
          </a:xfrm>
          <a:prstGeom prst="roundRect">
            <a:avLst>
              <a:gd name="adj" fmla="val 12000"/>
            </a:avLst>
          </a:prstGeom>
          <a:solidFill>
            <a:srgbClr val="FFE6EC"/>
          </a:solidFill>
          <a:ln w="19050">
            <a:solidFill>
              <a:srgbClr val="FF8A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258568"/>
            <a:ext cx="12801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28600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7607C"/>
                </a:solidFill>
                <a:latin typeface="Yu Gothic UI"/>
              </a:rPr>
              <a:t>たとえ（登場人物の相関図）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788920"/>
            <a:ext cx="31546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ドラマの相関図のように、“誰と誰がどう関係するか”を図にすると一目で分かる。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97880" y="3017520"/>
            <a:ext cx="566928" cy="640080"/>
          </a:xfrm>
          <a:prstGeom prst="rightArrow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0" y="1965960"/>
            <a:ext cx="4983480" cy="2743200"/>
          </a:xfrm>
          <a:prstGeom prst="roundRect">
            <a:avLst>
              <a:gd name="adj" fmla="val 12000"/>
            </a:avLst>
          </a:prstGeom>
          <a:solidFill>
            <a:srgbClr val="E2F4F6"/>
          </a:solidFill>
          <a:ln w="19050">
            <a:solidFill>
              <a:srgbClr val="5CC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9037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03720" y="2258568"/>
            <a:ext cx="12801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🗺️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860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A9AA4"/>
                </a:solidFill>
                <a:latin typeface="Yu Gothic UI"/>
              </a:rPr>
              <a:t>要件定義では（概念データモデル）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88920"/>
            <a:ext cx="29260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「顧客」「注文」「商品」等の登場データと、その関係を図にする。土台の見取り図。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29200"/>
            <a:ext cx="10927080" cy="1051560"/>
          </a:xfrm>
          <a:prstGeom prst="roundRect">
            <a:avLst>
              <a:gd name="adj" fmla="val 12000"/>
            </a:avLst>
          </a:prstGeom>
          <a:solidFill>
            <a:srgbClr val="FFF7E3"/>
          </a:solidFill>
          <a:ln w="19050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175504"/>
            <a:ext cx="8229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>
                <a:solidFill>
                  <a:srgbClr val="3A3A44"/>
                </a:solidFill>
                <a:latin typeface="Yu Gothic UI"/>
              </a:rPr>
              <a:t>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029200"/>
            <a:ext cx="96012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A3A44"/>
                </a:solidFill>
                <a:latin typeface="Yu Gothic UI"/>
              </a:rPr>
              <a:t>ポイント：データの登場人物と関係を先に描くと、後の設計が一気に楽になる。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58368" y="475488"/>
            <a:ext cx="457200" cy="457200"/>
          </a:xfrm>
          <a:prstGeom prst="ellipse">
            <a:avLst/>
          </a:prstGeom>
          <a:solidFill>
            <a:srgbClr val="3A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 UI"/>
              </a:rPr>
              <a:t>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5029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3A9A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Yu Gothic UI"/>
              </a:rPr>
              <a:t>⑧ UIの定義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3A3A44"/>
                </a:solidFill>
                <a:latin typeface="Yu Gothic UI"/>
              </a:rPr>
              <a:t>画面は「</a:t>
            </a:r>
            <a:r>
              <a:rPr sz="2900" b="1">
                <a:solidFill>
                  <a:srgbClr val="3A3A44"/>
                </a:solidFill>
                <a:highlight>
                  <a:srgbClr val="FFE08A"/>
                </a:highlight>
                <a:latin typeface="Yu Gothic UI"/>
              </a:rPr>
              <a:t>メニュー表</a:t>
            </a:r>
            <a:r>
              <a:rPr sz="2900" b="1">
                <a:solidFill>
                  <a:srgbClr val="3A3A44"/>
                </a:solidFill>
                <a:latin typeface="Yu Gothic UI"/>
              </a:rPr>
              <a:t>」のように決める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212080" cy="2743200"/>
          </a:xfrm>
          <a:prstGeom prst="roundRect">
            <a:avLst>
              <a:gd name="adj" fmla="val 12000"/>
            </a:avLst>
          </a:prstGeom>
          <a:solidFill>
            <a:srgbClr val="FFE6EC"/>
          </a:solidFill>
          <a:ln w="19050">
            <a:solidFill>
              <a:srgbClr val="FF8A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258568"/>
            <a:ext cx="12801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🍽️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28600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7607C"/>
                </a:solidFill>
                <a:latin typeface="Yu Gothic UI"/>
              </a:rPr>
              <a:t>たとえ（レストランのメニュー）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788920"/>
            <a:ext cx="31546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メニュー表は、お客が“選べる・注文できる”窓口。見やすさが使いやすさを決める。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97880" y="3017520"/>
            <a:ext cx="566928" cy="640080"/>
          </a:xfrm>
          <a:prstGeom prst="rightArrow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0" y="1965960"/>
            <a:ext cx="4983480" cy="2743200"/>
          </a:xfrm>
          <a:prstGeom prst="roundRect">
            <a:avLst>
              <a:gd name="adj" fmla="val 12000"/>
            </a:avLst>
          </a:prstGeom>
          <a:solidFill>
            <a:srgbClr val="E2F4F6"/>
          </a:solidFill>
          <a:ln w="19050">
            <a:solidFill>
              <a:srgbClr val="5CC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9037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03720" y="2258568"/>
            <a:ext cx="12801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🖥️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860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A9AA4"/>
                </a:solidFill>
                <a:latin typeface="Yu Gothic UI"/>
              </a:rPr>
              <a:t>要件定義では（UIの定義）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88920"/>
            <a:ext cx="29260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どんな画面で、何を見せ、どう操作させるか＝UIを具体的に決める。人が触れる部分。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29200"/>
            <a:ext cx="10927080" cy="1051560"/>
          </a:xfrm>
          <a:prstGeom prst="roundRect">
            <a:avLst>
              <a:gd name="adj" fmla="val 12000"/>
            </a:avLst>
          </a:prstGeom>
          <a:solidFill>
            <a:srgbClr val="FFF7E3"/>
          </a:solidFill>
          <a:ln w="19050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175504"/>
            <a:ext cx="8229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>
                <a:solidFill>
                  <a:srgbClr val="3A3A44"/>
                </a:solidFill>
                <a:latin typeface="Yu Gothic UI"/>
              </a:rPr>
              <a:t>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029200"/>
            <a:ext cx="96012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A3A44"/>
                </a:solidFill>
                <a:latin typeface="Yu Gothic UI"/>
              </a:rPr>
              <a:t>ポイント：中身が良くても、画面が分かりにくいと使われない。UIは“使いやすさ”の設計。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58368" y="475488"/>
            <a:ext cx="457200" cy="457200"/>
          </a:xfrm>
          <a:prstGeom prst="ellipse">
            <a:avLst/>
          </a:prstGeom>
          <a:solidFill>
            <a:srgbClr val="3A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 UI"/>
              </a:rPr>
              <a:t>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5029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3A9A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Yu Gothic UI"/>
              </a:rPr>
              <a:t>⑨ 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3A3A44"/>
                </a:solidFill>
                <a:latin typeface="Yu Gothic UI"/>
              </a:rPr>
              <a:t>機能は「</a:t>
            </a:r>
            <a:r>
              <a:rPr sz="2700" b="1">
                <a:solidFill>
                  <a:srgbClr val="3A3A44"/>
                </a:solidFill>
                <a:highlight>
                  <a:srgbClr val="FFE08A"/>
                </a:highlight>
                <a:latin typeface="Yu Gothic UI"/>
              </a:rPr>
              <a:t>材料xを成果yに変える仕事</a:t>
            </a:r>
            <a:r>
              <a:rPr sz="2900" b="1">
                <a:solidFill>
                  <a:srgbClr val="3A3A44"/>
                </a:solidFill>
                <a:latin typeface="Yu Gothic UI"/>
              </a:rPr>
              <a:t>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212080" cy="2743200"/>
          </a:xfrm>
          <a:prstGeom prst="roundRect">
            <a:avLst>
              <a:gd name="adj" fmla="val 12000"/>
            </a:avLst>
          </a:prstGeom>
          <a:solidFill>
            <a:srgbClr val="FFE6EC"/>
          </a:solidFill>
          <a:ln w="19050">
            <a:solidFill>
              <a:srgbClr val="FF8A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258568"/>
            <a:ext cx="12801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28600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7607C"/>
                </a:solidFill>
                <a:latin typeface="Yu Gothic UI"/>
              </a:rPr>
              <a:t>たとえ（お料理）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788920"/>
            <a:ext cx="31546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料理は、材料（卵）を入れて、調理という仕事をして、成果（目玉焼き）を出す。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97880" y="3017520"/>
            <a:ext cx="566928" cy="640080"/>
          </a:xfrm>
          <a:prstGeom prst="rightArrow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0" y="1965960"/>
            <a:ext cx="4983480" cy="2743200"/>
          </a:xfrm>
          <a:prstGeom prst="roundRect">
            <a:avLst>
              <a:gd name="adj" fmla="val 12000"/>
            </a:avLst>
          </a:prstGeom>
          <a:solidFill>
            <a:srgbClr val="E2F4F6"/>
          </a:solidFill>
          <a:ln w="19050">
            <a:solidFill>
              <a:srgbClr val="5CC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9037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03720" y="2258568"/>
            <a:ext cx="12801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860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A9AA4"/>
                </a:solidFill>
                <a:latin typeface="Yu Gothic UI"/>
              </a:rPr>
              <a:t>要件定義では（機能 = y = f(x)）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88920"/>
            <a:ext cx="29260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機能とは仕事。材料 x を入れ、成果 y を出す。何を入れ何が出るかを決める。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29200"/>
            <a:ext cx="10927080" cy="1051560"/>
          </a:xfrm>
          <a:prstGeom prst="roundRect">
            <a:avLst>
              <a:gd name="adj" fmla="val 12000"/>
            </a:avLst>
          </a:prstGeom>
          <a:solidFill>
            <a:srgbClr val="FFF7E3"/>
          </a:solidFill>
          <a:ln w="19050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175504"/>
            <a:ext cx="8229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>
                <a:solidFill>
                  <a:srgbClr val="3A3A44"/>
                </a:solidFill>
                <a:latin typeface="Yu Gothic UI"/>
              </a:rPr>
              <a:t>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029200"/>
            <a:ext cx="96012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A3A44"/>
                </a:solidFill>
                <a:latin typeface="Yu Gothic UI"/>
              </a:rPr>
              <a:t>ポイント：機能＝入力xと出力yをはっきり決めた“仕事”。あいまいだと作れない。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58368" y="475488"/>
            <a:ext cx="457200" cy="457200"/>
          </a:xfrm>
          <a:prstGeom prst="ellipse">
            <a:avLst/>
          </a:prstGeom>
          <a:solidFill>
            <a:srgbClr val="3A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 UI"/>
              </a:rPr>
              <a:t>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5029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3A9A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Yu Gothic UI"/>
              </a:rPr>
              <a:t>⑩ データベース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3A3A44"/>
                </a:solidFill>
                <a:latin typeface="Yu Gothic UI"/>
              </a:rPr>
              <a:t>データは「</a:t>
            </a:r>
            <a:r>
              <a:rPr sz="2900" b="1">
                <a:solidFill>
                  <a:srgbClr val="3A3A44"/>
                </a:solidFill>
                <a:highlight>
                  <a:srgbClr val="FFE08A"/>
                </a:highlight>
                <a:latin typeface="Yu Gothic UI"/>
              </a:rPr>
              <a:t>共有倉庫</a:t>
            </a:r>
            <a:r>
              <a:rPr sz="2900" b="1">
                <a:solidFill>
                  <a:srgbClr val="3A3A44"/>
                </a:solidFill>
                <a:latin typeface="Yu Gothic UI"/>
              </a:rPr>
              <a:t>」に置いて点検する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212080" cy="2743200"/>
          </a:xfrm>
          <a:prstGeom prst="roundRect">
            <a:avLst>
              <a:gd name="adj" fmla="val 12000"/>
            </a:avLst>
          </a:prstGeom>
          <a:solidFill>
            <a:srgbClr val="FFE6EC"/>
          </a:solidFill>
          <a:ln w="19050">
            <a:solidFill>
              <a:srgbClr val="FF8A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258568"/>
            <a:ext cx="12801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🗄️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28600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7607C"/>
                </a:solidFill>
                <a:latin typeface="Yu Gothic UI"/>
              </a:rPr>
              <a:t>たとえ（みんなの倉庫）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788920"/>
            <a:ext cx="31546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商品や記録を、みんなが使う共有の倉庫にしまう。誰でも取り出せて、ずっと残る。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97880" y="3017520"/>
            <a:ext cx="566928" cy="640080"/>
          </a:xfrm>
          <a:prstGeom prst="rightArrow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0" y="1965960"/>
            <a:ext cx="4983480" cy="2743200"/>
          </a:xfrm>
          <a:prstGeom prst="roundRect">
            <a:avLst>
              <a:gd name="adj" fmla="val 12000"/>
            </a:avLst>
          </a:prstGeom>
          <a:solidFill>
            <a:srgbClr val="E2F4F6"/>
          </a:solidFill>
          <a:ln w="19050">
            <a:solidFill>
              <a:srgbClr val="5CC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9037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03720" y="2258568"/>
            <a:ext cx="12801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860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A9AA4"/>
                </a:solidFill>
                <a:latin typeface="Yu Gothic UI"/>
              </a:rPr>
              <a:t>要件定義では（データベース＋CRUD点検）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88920"/>
            <a:ext cx="29260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共有倉庫＝データベース。各データに“作る・見る・直す・消す”が揃うかを点検（CRUD）。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29200"/>
            <a:ext cx="10927080" cy="1051560"/>
          </a:xfrm>
          <a:prstGeom prst="roundRect">
            <a:avLst>
              <a:gd name="adj" fmla="val 12000"/>
            </a:avLst>
          </a:prstGeom>
          <a:solidFill>
            <a:srgbClr val="FFF7E3"/>
          </a:solidFill>
          <a:ln w="19050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175504"/>
            <a:ext cx="8229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>
                <a:solidFill>
                  <a:srgbClr val="3A3A44"/>
                </a:solidFill>
                <a:latin typeface="Yu Gothic UI"/>
              </a:rPr>
              <a:t>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029200"/>
            <a:ext cx="96012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A3A44"/>
                </a:solidFill>
                <a:latin typeface="Yu Gothic UI"/>
              </a:rPr>
              <a:t>ポイント：保存はみんなの倉庫へ。そして出し入れの“抜け”をチェックリストで確認する。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658368" y="475488"/>
            <a:ext cx="457200" cy="457200"/>
          </a:xfrm>
          <a:prstGeom prst="ellipse">
            <a:avLst/>
          </a:prstGeom>
          <a:solidFill>
            <a:srgbClr val="3A3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Yu Gothic UI"/>
              </a:rPr>
              <a:t>14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5029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3A9A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Yu Gothic UI"/>
              </a:rPr>
              <a:t>⑪ 渡せる状態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24128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900" b="1">
                <a:solidFill>
                  <a:srgbClr val="3A3A44"/>
                </a:solidFill>
                <a:latin typeface="Yu Gothic UI"/>
              </a:rPr>
              <a:t>最後は「</a:t>
            </a:r>
            <a:r>
              <a:rPr sz="2900" b="1">
                <a:solidFill>
                  <a:srgbClr val="3A3A44"/>
                </a:solidFill>
                <a:highlight>
                  <a:srgbClr val="FFE08A"/>
                </a:highlight>
                <a:latin typeface="Yu Gothic UI"/>
              </a:rPr>
              <a:t>伝わる形</a:t>
            </a:r>
            <a:r>
              <a:rPr sz="2900" b="1">
                <a:solidFill>
                  <a:srgbClr val="3A3A44"/>
                </a:solidFill>
                <a:latin typeface="Yu Gothic UI"/>
              </a:rPr>
              <a:t>」にして渡す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212080" cy="2743200"/>
          </a:xfrm>
          <a:prstGeom prst="roundRect">
            <a:avLst>
              <a:gd name="adj" fmla="val 12000"/>
            </a:avLst>
          </a:prstGeom>
          <a:solidFill>
            <a:srgbClr val="FFE6EC"/>
          </a:solidFill>
          <a:ln w="19050">
            <a:solidFill>
              <a:srgbClr val="FF8A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01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2258568"/>
            <a:ext cx="12801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28600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E7607C"/>
                </a:solidFill>
                <a:latin typeface="Yu Gothic UI"/>
              </a:rPr>
              <a:t>たとえ（引き継ぎブック）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788920"/>
            <a:ext cx="31546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紙束をドサッと渡しても後任は困る。目次を付け、想定問答を添えて“渡せる一冊”に。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97880" y="3017520"/>
            <a:ext cx="566928" cy="640080"/>
          </a:xfrm>
          <a:prstGeom prst="rightArrow">
            <a:avLst/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583680" y="1965960"/>
            <a:ext cx="4983480" cy="2743200"/>
          </a:xfrm>
          <a:prstGeom prst="roundRect">
            <a:avLst>
              <a:gd name="adj" fmla="val 12000"/>
            </a:avLst>
          </a:prstGeom>
          <a:solidFill>
            <a:srgbClr val="E2F4F6"/>
          </a:solidFill>
          <a:ln w="19050">
            <a:solidFill>
              <a:srgbClr val="5CC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903720" y="2258568"/>
            <a:ext cx="1280160" cy="12801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03720" y="2258568"/>
            <a:ext cx="128016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4400" b="0">
                <a:solidFill>
                  <a:srgbClr val="3A3A44"/>
                </a:solidFill>
                <a:latin typeface="Yu Gothic UI"/>
              </a:rPr>
              <a:t>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286000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3A9AA4"/>
                </a:solidFill>
                <a:latin typeface="Yu Gothic UI"/>
              </a:rPr>
              <a:t>要件定義では（合意形成と伝達）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88920"/>
            <a:ext cx="29260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3A3A44"/>
                </a:solidFill>
                <a:latin typeface="Yu Gothic UI"/>
              </a:rPr>
              <a:t>成果物を目次化し、想定問答まで用意。発注元と握手（合意）し、作る人へ手渡す（伝達）。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29200"/>
            <a:ext cx="10927080" cy="1051560"/>
          </a:xfrm>
          <a:prstGeom prst="roundRect">
            <a:avLst>
              <a:gd name="adj" fmla="val 12000"/>
            </a:avLst>
          </a:prstGeom>
          <a:solidFill>
            <a:srgbClr val="FFF7E3"/>
          </a:solidFill>
          <a:ln w="19050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175504"/>
            <a:ext cx="8229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>
                <a:solidFill>
                  <a:srgbClr val="3A3A44"/>
                </a:solidFill>
                <a:latin typeface="Yu Gothic UI"/>
              </a:rPr>
              <a:t>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029200"/>
            <a:ext cx="9601200" cy="10515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A3A44"/>
                </a:solidFill>
                <a:latin typeface="Yu Gothic UI"/>
              </a:rPr>
              <a:t>ポイント：作って終わりでなく“伝わって”はじめて完成。渡せる形にするまでが要件定義。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EF9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FD1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5A4A10"/>
                </a:solidFill>
                <a:latin typeface="Yu Gothic UI"/>
              </a:rPr>
              <a:t>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9728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3A3A44"/>
                </a:solidFill>
                <a:latin typeface="Yu Gothic UI"/>
              </a:rPr>
              <a:t>要件定義って、つまり？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927080" cy="1024128"/>
          </a:xfrm>
          <a:prstGeom prst="roundRect">
            <a:avLst>
              <a:gd name="adj" fmla="val 12000"/>
            </a:avLst>
          </a:prstGeom>
          <a:solidFill>
            <a:srgbClr val="FFE6EC"/>
          </a:solidFill>
          <a:ln w="19050">
            <a:solidFill>
              <a:srgbClr val="FF8A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914400" cy="10241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>
                <a:solidFill>
                  <a:srgbClr val="3A3A44"/>
                </a:solidFill>
                <a:latin typeface="Yu Gothic UI"/>
              </a:rPr>
              <a:t>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1874519"/>
            <a:ext cx="2743200" cy="10241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E7607C"/>
                </a:solidFill>
                <a:latin typeface="Yu Gothic UI"/>
              </a:rPr>
              <a:t>① なに？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874519"/>
            <a:ext cx="6858000" cy="10241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3A3A44"/>
                </a:solidFill>
                <a:latin typeface="Yu Gothic UI"/>
              </a:rPr>
              <a:t>作る前に“完成の姿”を、絵とことばで決める「約束」。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44952"/>
            <a:ext cx="10927080" cy="1024128"/>
          </a:xfrm>
          <a:prstGeom prst="roundRect">
            <a:avLst>
              <a:gd name="adj" fmla="val 12000"/>
            </a:avLst>
          </a:prstGeom>
          <a:solidFill>
            <a:srgbClr val="E2F4F6"/>
          </a:solidFill>
          <a:ln w="19050">
            <a:solidFill>
              <a:srgbClr val="5CC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044952"/>
            <a:ext cx="914400" cy="10241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>
                <a:solidFill>
                  <a:srgbClr val="3A3A44"/>
                </a:solidFill>
                <a:latin typeface="Yu Gothic UI"/>
              </a:rPr>
              <a:t>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044952"/>
            <a:ext cx="2743200" cy="10241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3A9AA4"/>
                </a:solidFill>
                <a:latin typeface="Yu Gothic UI"/>
              </a:rPr>
              <a:t>② なぜ？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3044952"/>
            <a:ext cx="6858000" cy="10241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3A3A44"/>
                </a:solidFill>
                <a:latin typeface="Yu Gothic UI"/>
              </a:rPr>
              <a:t>手戻りを防ぎ、右側でテストの“正解”になるから。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215383"/>
            <a:ext cx="10927080" cy="1024128"/>
          </a:xfrm>
          <a:prstGeom prst="roundRect">
            <a:avLst>
              <a:gd name="adj" fmla="val 12000"/>
            </a:avLst>
          </a:prstGeom>
          <a:solidFill>
            <a:srgbClr val="E7F5E9"/>
          </a:solidFill>
          <a:ln w="19050">
            <a:solidFill>
              <a:srgbClr val="8BC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215383"/>
            <a:ext cx="914400" cy="10241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>
                <a:solidFill>
                  <a:srgbClr val="3A3A44"/>
                </a:solidFill>
                <a:latin typeface="Yu Gothic UI"/>
              </a:rPr>
              <a:t>🛠️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4215383"/>
            <a:ext cx="2743200" cy="10241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>
                <a:solidFill>
                  <a:srgbClr val="3E8E5A"/>
                </a:solidFill>
                <a:latin typeface="Yu Gothic UI"/>
              </a:rPr>
              <a:t>③ どう作る？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215383"/>
            <a:ext cx="6858000" cy="10241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3A3A44"/>
                </a:solidFill>
                <a:latin typeface="Yu Gothic UI"/>
              </a:rPr>
              <a:t>12の成果物で完成形を組み立て、“渡せる形”にする。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532120"/>
            <a:ext cx="10927080" cy="868680"/>
          </a:xfrm>
          <a:prstGeom prst="roundRect">
            <a:avLst>
              <a:gd name="adj" fmla="val 12000"/>
            </a:avLst>
          </a:prstGeom>
          <a:solidFill>
            <a:srgbClr val="FFF7E3"/>
          </a:solidFill>
          <a:ln w="20320">
            <a:solidFill>
              <a:srgbClr val="FFD1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5532120"/>
            <a:ext cx="1092708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900" b="1">
                <a:solidFill>
                  <a:srgbClr val="E7607C"/>
                </a:solidFill>
                <a:latin typeface="Yu Gothic UI"/>
              </a:rPr>
              <a:t>「だったら先に言ってよ」を無くすのが、要件定義。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360152" cy="1463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1">
                <a:solidFill>
                  <a:srgbClr val="3A3A44"/>
                </a:solidFill>
                <a:latin typeface="Yu Gothic UI"/>
              </a:rPr>
              <a:t>つくる前に、いちばん大事なことを決めよう。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60152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400" b="0">
                <a:solidFill>
                  <a:srgbClr val="3A3A44"/>
                </a:solidFill>
                <a:latin typeface="Yu Gothic UI"/>
              </a:rPr>
              <a:t>🧹  🍳  🥚  🏠  📦  🗄️  📖  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6704" y="4833246"/>
            <a:ext cx="548640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0" rIns="54864" bIns="0" rtlCol="0" anchor="ctr"/>
          <a:lstStyle/>
          <a:p>
            <a:pPr algn="ctr">
              <a:lnSpc>
                <a:spcPct val="100000"/>
              </a:lnSpc>
            </a:pPr>
            <a:r>
              <a:rPr sz="1300" b="1" dirty="0" err="1">
                <a:solidFill>
                  <a:srgbClr val="7A7E8C"/>
                </a:solidFill>
                <a:latin typeface="Yu Gothic UI"/>
              </a:rPr>
              <a:t>参考</a:t>
            </a:r>
            <a:r>
              <a:rPr sz="1300" b="1" dirty="0">
                <a:solidFill>
                  <a:srgbClr val="7A7E8C"/>
                </a:solidFill>
                <a:latin typeface="Yu Gothic UI"/>
              </a:rPr>
              <a:t>：</a:t>
            </a:r>
            <a:r>
              <a:rPr lang="ja-JP" altLang="en-US" sz="1300" b="1" dirty="0">
                <a:solidFill>
                  <a:srgbClr val="7A7E8C"/>
                </a:solidFill>
                <a:latin typeface="Yu Gothic UI"/>
              </a:rPr>
              <a:t>「はじめよう！要件定義」</a:t>
            </a:r>
            <a:endParaRPr sz="1300" b="1" dirty="0">
              <a:solidFill>
                <a:srgbClr val="7A7E8C"/>
              </a:solidFill>
              <a:latin typeface="Yu Gothic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96B424F-83E0-448E-9D6E-F9A38513184E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564aab91-7d0d-4e50-97f4-88b0891ed86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2246</Words>
  <Application>Microsoft Office PowerPoint</Application>
  <PresentationFormat>ワイド画面</PresentationFormat>
  <Paragraphs>261</Paragraphs>
  <Slides>23</Slides>
  <Notes>23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23</vt:i4>
      </vt:variant>
    </vt:vector>
  </HeadingPairs>
  <TitlesOfParts>
    <vt:vector size="27" baseType="lpstr">
      <vt:lpstr>Yu Gothic UI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精工 パーツ</cp:lastModifiedBy>
  <cp:revision>4</cp:revision>
  <dcterms:created xsi:type="dcterms:W3CDTF">2013-01-27T09:14:16Z</dcterms:created>
  <dcterms:modified xsi:type="dcterms:W3CDTF">2026-07-17T07:22:45Z</dcterms:modified>
  <cp:category/>
</cp:coreProperties>
</file>