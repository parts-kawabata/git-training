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、こんにちは。今日は「要件定義（ようけんていぎ）」という言葉を、まったく知らない方でも“なるほど”と分かるように、15分でお話しします。システム開発の専門用語がたくさん出てきそうに聞こえますが、心配いりません。今日は全部、掃除や料理や家づくりといった身近なたとえで説明していきます。この内容は、全17話のイラスト解説シリーズのエッセンスをぎゅっとまとめたものです。肩の力を抜いて聞い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今日お話しするのは、この3つの問いです。①要件定義ってなに？　②なぜ、わざわざ定めるの？　③どうやって作るの？ ——この順番で進みます。①で“正体”をつかみ、②で“ありがたみ”を実感してもらい、③で“作り方”をたとえ話でざっと体験する、という流れです。この3つが分かれば、要件定義の全体像はばっち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それではパート1、まずは“要件定義とは何か”からです。ここでは、掃除・目玉焼き・自動販売機という3つのたとえで、その正体を分かりやすくつかんでいきましょう。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のたとえは「お掃除」です。家族に「掃除しといてね」とだけ頼んだら、どうなるでしょう。ある人は床だけ、ある人は窓まで、ある人はサッと掃くだけ。頼んだ側が思っていた仕上がりと違って、「そうじゃないんだよ」となる。これ、システム開発でもまったく同じことが起きます。だから作る前に、「どこを、どのレベルまでやるのか」というゴールを、お互いにすり合わせて“約束”にしておく。この約束こそが、要件定義であり、仕様なんです。ポイントは、出来上がってから直すのではなく、“作る前に”ゴールをそろえる、という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は「目玉焼き」。同じ目玉焼きでも、黄身はトロトロがいい人、しっかり焼く人、塩の人、しょうゆの人、さまざまです。ことばだけで「目玉焼き作って」と言うと、頭の中の想像がすれ違います。そこで、完成した姿を“絵”にして見せ合うんですね。要件定義でも同じで、完成したソフトがどんな画面で、どう動くのかを、先に絵にして共有します。ことばより絵。完成形を目で見て共有すれば、認識のズレがぐっと減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目は「自動販売機」。自販機には、ボタンやお金の入れ口、商品の取り出し口など、人が触る“見た目”の部分があります。これをUI（ユーアイ）と呼びます。一方で、入れたお金を数えて、選ばれた商品をガコンと落とす、という“中の仕事”があります。これが機能です。見た目だけでも、中身だけでも、自販機は動きません。両方そろって初めて動く。システムもまったく同じで、UIと機能の両輪でできています。要件定義では、この見た目と中身、両方を決めていくんだ、と覚えておい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パート2です。ここでは“なぜ、わざわざ要件定義をするのか”。決めずに進むと何が起きるのか、そして決めた要件が後でどう役立つのかを見ていきます。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、なぜ定めるのか。ひとつ目の理由は「手戻り」を防ぐためです。手戻りとは、後の工程になってから前に戻ってやり直すこと。この図のように、要件定義・設計・実装・テスト・リリースと進むほど、直すコストは右肩上がりに大きくなります。リリース間近で「実はここ違った」と気づくと、設計まで、へたをすると要件まで戻って、作ったものごと作り直し。時間もお金も大きく失います。逆に、いちばん最初にきちんと合意しておけば、直しは小さく、安く済む。要するに要件定義は、あの「だったら先に言ってよ！」を無くすための仕組み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ふたつ目の理由。決めた要件は、ムダにならず、あとでちゃんと“使われます”。これを表すのが、この「V字モデル」です。左side を上から下へ、要件定義・基本設計・詳細設計と、だんだん細かく決めていきます。いちばん下が実装、つまりプログラミング。そこから右側を上へ、単体・結合・システム・受入テストと、今度は組み上げて確認していきます。大事なのは、左と右が同じ高さでペアになっていること。点線でつないだように、左で決めた“こうなってほしい”が、そのまま右側のテストの“正解＝合否の基準”になるんです。つまり、最初の要件が曖昧だと、テストの正解そのものが作れない。きちんと決めておくからこそ、あとで“できてる・できてない”を検証できる。これが、定める2つ目の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最後、パート3。どうやって作るのか。要件定義では、およそ12種類の“成果物”を積み上げて、完成形を組み立てます。いきなり12個と聞くと多く感じますが、この地図のように6つのまとまりで見るとシンプルです。①準備と企画、②全体像と使う技術、③やりたいことの整理、④画面・データ・機能の設計、⑤データの保存と抜け漏れ点検、⑥相手に伝えられる形にする。この①から⑥を、これから1枚ずつ、身近なたとえで駆け足に見ていきましょう。全部おぼえる必要はありません。“こんな順番で完成形ができていくんだ”という感覚がつかめれば十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準備。目玉焼きのたとえに戻ります。料理は、卵もフライパンも無ければ始まりません。まず材料と道具をそろえますよね。要件定義も同じで、いきなり書き始めるのではなく、“誰のためのシステムか”“何を叶えたいのか”といった、完成に必要な情報をまず集めます。いわば下ごしらえ。ここが最初の一歩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企画書。たとえは「旅のしおり」。しおりは、参加者みんなが同じイメージを持って当日を楽しめるように作りますよね。読む人のためのものです。企画書も同じ。上司の承認を“通すため”のものと思われがちですが、本当のねらいは、関係者みんなに目的と全体像を“理解してもらう”こと。伝わってこそ、意味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③全体像。たとえは家の「間取りスケッチ」。家を建てるとき、いきなりコンセントの位置から決めませんよね。まず間取りを大きくスケッチして、次に部屋を割っていく。システムも同じで、先に全体像をざっくり描いてから、機能のかたまり——これをサブブロックと呼びます——に分けていきます。大きく描いてから分ける。こうすると、途中で迷子にな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④実装技術。たとえは家の「工法決め」。同じ間取りでも、木造で建てるか、鉄骨で建てるかで、費用も、工期も、丈夫さも変わります。システムでも、“どの技術や仕組みで作るか”を選びます。これをアーキテクチャ、日本語では実装技術と言います。これは土台選びなので、後から変えるのが大変。だから早めに方針を決めておく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⑤要求一覧。たとえは家づくりの「要望ヒアリング」。「居間は広めに」「日当たりのいい寝室に」——こうした要望を聞き取って、書き出して一覧にしますよね。要件定義でも、「実現したいこと」を一つずつ文書にして並べます。これが要求一覧。頭の中にあるうちは消えてしまう要望を、消えない形に残す。これで、抜け漏れや“言った言わない”を防げ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⑥行動シナリオ。たとえは「定食屋の厨房」。注文を受けて、調理して、提供して、会計する。お店が回る一連の流れがありますよね。システムでも、利用者が実際どんな順番で操作して、物事が進んでいくのかを、場面の流れとして書きます。これが行動シナリオ。機能を単に並べるだけだと気づけない“抜け”も、人がどう使うかの物語でたどると、「あ、この場面の機能が無い」と気づ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⑦概念データモデル。たとえはドラマの「登場人物の相関図」。誰が誰の家族で、誰と誰が対立して……図にすると、関係が一目で分かりますよね。システムのデータも同じで、「顧客」「注文」「商品」といった“登場するデータ”と、その関係を図にします。これが概念データモデル。この見取り図を先に描いておくと、後のデータベース設計がぐっと楽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⑧UIの定義。たとえは「レストランのメニュー表」。メニューは、お客さんが料理を選んで注文する窓口です。見やすいメニューほど、注文しやすい。システムのUI、つまり画面も同じ。どんな画面で、何を見せて、どう操作してもらうかを具体的に決めます。どんなに中身が優秀でも、画面が分かりにくいと使ってもらえません。UIは“使いやすさ”そのものの設計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⑨機能。たとえは、そのまま「お料理」です。料理は、卵という材料を入れて、焼くという仕事をして、目玉焼きという成果を出しますよね。機能とは、まさにこの“仕事”のこと。数式っぽく言うと、材料 x を入れて成果 y を出す、y イコール エフ エックス。何を入れたら、何が出てくるのか。これをはっきり決めるのが機能の定義です。ここが曖昧だと、作る人は手が動きません。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⑩データベース。たとえは「みんなの共有倉庫」。商品や記録を、担当者だけでなく、みんなが使える共有の倉庫にしまっておく。誰でも取り出せて、消えずに残る。これがデータベースです。そして、しまったデータには、“作る・見る・直す・消す”という4つの出し入れが必要になります。英語の頭文字でCRUD（クラッド）と言います。各データについて、この4つがちゃんと揃っているかを、チェックリストで点検する。これで、「登録はできるけど消せない」みたいな抜けを、完成前に見つけ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、⑪。ここまでで成果物はそろいました。でも、それで終わりではありません。たとえは「お店の引き継ぎブック」。資料の紙束をドサッと後任に渡しても、どこに何があるか分からず困りますよね。だから、目次を付けて一冊にまとめ、“聞かれそうな質問”への答えまで用意しておく。こうして、発注元とは「これで作りましょう」と握手して合意し、実際に作る人へちゃんと手渡す。作って終わりではなく、“伝わって”はじめて完成。渡せる形にするところまでが、要件定義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今日の3つの問いに、ひとことずつ答えましょう。①要件定義ってなに？——作る前に、完成の姿を、絵とことばで決めておく“約束”です。②なぜ定めるの？——後の手戻りを防ぎ、しかも決めた要件が、V字の右側でテストの“正解”として役立つからです。③どうやって作るの？——12の成果物を積み上げて完成形を組み立て、最後は“渡せる形”にして伝える。全部ひっくるめると、要件定義とは、あの「だったら先に言ってよ」を無くすための仕組み。これだけ持ち帰ってもらえれば十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というわけで、今日いちばんお伝えしたかったのは、この一言です。「つくる前に、いちばん大事なことを決めよう」。要件定義は、難しそうな名前のわりに、やっていることはとてもシンプル。完成の姿を、みんなで先にそろえておく。それだけで、開発はぐっとうまくいきます。もっと詳しく知りたい方は、今日のもとになった全17話のイラスト解説シリーズをぜひご覧ください。ご清聴、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0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0">
                <a:solidFill>
                  <a:srgbClr val="3A3A44"/>
                </a:solidFill>
                <a:latin typeface="Yu Gothic UI"/>
              </a:rPr>
              <a:t>🧹   🍳   🏠   📦   🗄️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60152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000" b="1">
                <a:solidFill>
                  <a:srgbClr val="3A3A44"/>
                </a:solidFill>
                <a:latin typeface="Yu Gothic UI"/>
              </a:rPr>
              <a:t>「</a:t>
            </a:r>
            <a:r>
              <a:rPr sz="50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要件定義</a:t>
            </a:r>
            <a:r>
              <a:rPr sz="5000" b="1">
                <a:solidFill>
                  <a:srgbClr val="3A3A44"/>
                </a:solidFill>
                <a:latin typeface="Yu Gothic UI"/>
              </a:rPr>
              <a:t>」って、なに？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703320"/>
            <a:ext cx="96286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3A3A44"/>
                </a:solidFill>
                <a:latin typeface="Yu Gothic UI"/>
              </a:rPr>
              <a:t>〜 ゼロからわかる15分。掃除・料理・家づくりのたとえで、</a:t>
            </a:r>
          </a:p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3A3A44"/>
                </a:solidFill>
                <a:latin typeface="Yu Gothic UI"/>
              </a:rPr>
              <a:t>“つくる前の、いちばん大事な準備” を学ぼう 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18304" y="5212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A4A10"/>
                </a:solidFill>
                <a:latin typeface="Yu Gothic UI"/>
              </a:rPr>
              <a:t>全17話のエッセンス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A4A10"/>
                </a:solidFill>
                <a:latin typeface="Yu Gothic UI"/>
              </a:rPr>
              <a:t>はじめに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A3A44"/>
                </a:solidFill>
                <a:latin typeface="Yu Gothic UI"/>
              </a:rPr>
              <a:t>今日おはなしする </a:t>
            </a:r>
            <a:r>
              <a:rPr sz="30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3つの問い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29000" cy="32004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2032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68780" y="219456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68780" y="219456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0">
                <a:solidFill>
                  <a:srgbClr val="3A3A44"/>
                </a:solidFill>
                <a:latin typeface="Yu Gothic UI"/>
              </a:rP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E7607C"/>
                </a:solidFill>
                <a:latin typeface="Yu Gothic UI"/>
              </a:rPr>
              <a:t>① 要件定義って、なに？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3A3A44"/>
                </a:solidFill>
                <a:latin typeface="Yu Gothic UI"/>
              </a:rPr>
              <a:t>作る前に決める“完成の姿”のこと。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011680"/>
            <a:ext cx="3429000" cy="32004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2032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90388" y="219456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0388" y="219456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0">
                <a:solidFill>
                  <a:srgbClr val="3A3A44"/>
                </a:solidFill>
                <a:latin typeface="Yu Gothic UI"/>
              </a:rPr>
              <a:t>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79476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A9AA4"/>
                </a:solidFill>
                <a:latin typeface="Yu Gothic UI"/>
              </a:rPr>
              <a:t>② なぜ、定めるの？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45720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3A3A44"/>
                </a:solidFill>
                <a:latin typeface="Yu Gothic UI"/>
              </a:rPr>
              <a:t>決めないと“手戻り”で高くつくから。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011680"/>
            <a:ext cx="3429000" cy="3200400"/>
          </a:xfrm>
          <a:prstGeom prst="roundRect">
            <a:avLst>
              <a:gd name="adj" fmla="val 12000"/>
            </a:avLst>
          </a:prstGeom>
          <a:solidFill>
            <a:srgbClr val="E7F5E9"/>
          </a:solidFill>
          <a:ln w="20320">
            <a:solidFill>
              <a:srgbClr val="8BC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11996" y="219456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1996" y="219456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0">
                <a:solidFill>
                  <a:srgbClr val="3A3A44"/>
                </a:solidFill>
                <a:latin typeface="Yu Gothic UI"/>
              </a:rP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79476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E8E5A"/>
                </a:solidFill>
                <a:latin typeface="Yu Gothic UI"/>
              </a:rPr>
              <a:t>③ どうやって作るの？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457200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3A3A44"/>
                </a:solidFill>
                <a:latin typeface="Yu Gothic UI"/>
              </a:rPr>
              <a:t>12の成果物で完成形を組み立てる。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01184" y="214884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 U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601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3A3A44"/>
                </a:solidFill>
                <a:latin typeface="Yu Gothic UI"/>
              </a:rPr>
              <a:t>要件定義って、なに？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601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0">
                <a:solidFill>
                  <a:srgbClr val="3A3A44"/>
                </a:solidFill>
                <a:latin typeface="Yu Gothic UI"/>
              </a:rPr>
              <a:t>🧹  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たとえ①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「掃除しといて」だけでは、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伝わらない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たとえ（お掃除）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「掃除しといて」とだけ頼むと、どこを・どこまで やるかは人によってバラバラ。出来上がりを見て「そうじゃないんだよ」となりがち。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要件定義では（ゴールの約束）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作る前に「どこを・どのレベルまで」ゴールをすり合わせ、約束として決めておく。これが要件定義（＝仕様）。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ポイント：出来上がってから直すのではなく、“作る前”にゴールをそろえる。これが要件定義のいちばんの役目。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たとえ②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作る前に「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完成した姿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」を絵にする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たとえ（目玉焼き）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同じ「目玉焼き」でも、黄身の固さも味つけも人それぞれ。ことばだけで頼むと、想像がすれ違う。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要件定義では（完成イメージ）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「完成したソフトの姿」を先に絵（画面や動き）にして見せ合う。それが要件定義の中身。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ポイント：ことばより“絵”。完成形を目で見て共有すれば、認識のズレが一気に減る。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たとえ③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システムは「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見た目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」と「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中の仕事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」でできている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たとえ（自動販売機）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ボタン・お金の投入口・取り出し口＝人が触れる「見た目」＝UI。押せる・見えるところ。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要件定義では（中の仕事＝機能）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お金を数え、商品を落とす「中の仕事」＝機能。UIと機能が両方そろって初めて動く。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ポイント：システム＝UI（見た目）＋機能（中身）。要件定義では、この両方を決めていく。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01184" y="214884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 U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601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3A3A44"/>
                </a:solidFill>
                <a:latin typeface="Yu Gothic UI"/>
              </a:rPr>
              <a:t>なぜ、定めるの？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601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0">
                <a:solidFill>
                  <a:srgbClr val="3A3A44"/>
                </a:solidFill>
                <a:latin typeface="Yu Gothic UI"/>
              </a:rPr>
              <a:t>💸  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76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なぜ①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A3A44"/>
                </a:solidFill>
                <a:latin typeface="Yu Gothic UI"/>
              </a:rPr>
              <a:t>決めずに進むと「</a:t>
            </a:r>
            <a:r>
              <a:rPr sz="30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手戻り</a:t>
            </a:r>
            <a:r>
              <a:rPr sz="3000" b="1">
                <a:solidFill>
                  <a:srgbClr val="3A3A44"/>
                </a:solidFill>
                <a:latin typeface="Yu Gothic UI"/>
              </a:rPr>
              <a:t>」で高くつく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23360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FFC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3931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要件定義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53712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7A7E8C"/>
                </a:solidFill>
                <a:latin typeface="Yu Gothic UI"/>
              </a:rPr>
              <a:t>コスト 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3680460"/>
            <a:ext cx="1920240" cy="800100"/>
          </a:xfrm>
          <a:prstGeom prst="roundRect">
            <a:avLst>
              <a:gd name="adj" fmla="val 14000"/>
            </a:avLst>
          </a:prstGeom>
          <a:solidFill>
            <a:srgbClr val="F9A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329641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4553712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7A7E8C"/>
                </a:solidFill>
                <a:latin typeface="Yu Gothic UI"/>
              </a:rPr>
              <a:t>コスト 💰💰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75504" y="3337560"/>
            <a:ext cx="1920240" cy="1143000"/>
          </a:xfrm>
          <a:prstGeom prst="roundRect">
            <a:avLst>
              <a:gd name="adj" fmla="val 14000"/>
            </a:avLst>
          </a:prstGeom>
          <a:solidFill>
            <a:srgbClr val="F39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4" y="295351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実装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4553712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7A7E8C"/>
                </a:solidFill>
                <a:latin typeface="Yu Gothic UI"/>
              </a:rPr>
              <a:t>コスト 💰💰💰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51775" y="2994660"/>
            <a:ext cx="1920240" cy="1485900"/>
          </a:xfrm>
          <a:prstGeom prst="roundRect">
            <a:avLst>
              <a:gd name="adj" fmla="val 14000"/>
            </a:avLst>
          </a:prstGeom>
          <a:solidFill>
            <a:srgbClr val="E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51775" y="261061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テスト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5" y="4553712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7A7E8C"/>
                </a:solidFill>
                <a:latin typeface="Yu Gothic UI"/>
              </a:rPr>
              <a:t>コスト 💰💰💰💰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2651760"/>
            <a:ext cx="1920240" cy="1828800"/>
          </a:xfrm>
          <a:prstGeom prst="roundRect">
            <a:avLst>
              <a:gd name="adj" fmla="val 14000"/>
            </a:avLst>
          </a:prstGeom>
          <a:solidFill>
            <a:srgbClr val="E76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226771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リリース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4553712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7A7E8C"/>
                </a:solidFill>
                <a:latin typeface="Yu Gothic UI"/>
              </a:rPr>
              <a:t>コスト 💰💰💰💰💰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1828800" y="1874519"/>
            <a:ext cx="8229600" cy="502920"/>
          </a:xfrm>
          <a:prstGeom prst="leftArrow">
            <a:avLst/>
          </a:prstGeom>
          <a:solidFill>
            <a:srgbClr val="E76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 UI"/>
              </a:rPr>
              <a:t>後で気づくほど…戻る距離も、直す量も大きい ＝ 手戻り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66360"/>
            <a:ext cx="10561320" cy="100584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10058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7607C"/>
                </a:solidFill>
                <a:latin typeface="Yu Gothic UI"/>
              </a:rPr>
              <a:t>「だったら先に言ってよ」を無くすのが要件定義。</a:t>
            </a:r>
            <a:r>
              <a:rPr sz="1500" b="1">
                <a:solidFill>
                  <a:srgbClr val="3A3A44"/>
                </a:solidFill>
                <a:latin typeface="Yu Gothic UI"/>
              </a:rPr>
              <a:t>  早く合意するほど、直しは小さく安く済む。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76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なぜ②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A3A44"/>
                </a:solidFill>
                <a:latin typeface="Yu Gothic UI"/>
              </a:rPr>
              <a:t>決めた要件は、右側で「</a:t>
            </a:r>
            <a:r>
              <a:rPr sz="30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合否の正解</a:t>
            </a:r>
            <a:r>
              <a:rPr sz="3000" b="1">
                <a:solidFill>
                  <a:srgbClr val="3A3A44"/>
                </a:solidFill>
                <a:latin typeface="Yu Gothic UI"/>
              </a:rPr>
              <a:t>」になる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5940" y="2157984"/>
            <a:ext cx="1051560" cy="822960"/>
          </a:xfrm>
          <a:prstGeom prst="line">
            <a:avLst/>
          </a:prstGeom>
          <a:ln w="25400">
            <a:solidFill>
              <a:srgbClr val="CF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7500" y="2980944"/>
            <a:ext cx="1051559" cy="822960"/>
          </a:xfrm>
          <a:prstGeom prst="line">
            <a:avLst/>
          </a:prstGeom>
          <a:ln w="25400">
            <a:solidFill>
              <a:srgbClr val="CF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09059" y="3803904"/>
            <a:ext cx="2171701" cy="1097279"/>
          </a:xfrm>
          <a:prstGeom prst="line">
            <a:avLst/>
          </a:prstGeom>
          <a:ln w="25400">
            <a:solidFill>
              <a:srgbClr val="CF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80760" y="3803904"/>
            <a:ext cx="1988819" cy="1097279"/>
          </a:xfrm>
          <a:prstGeom prst="line">
            <a:avLst/>
          </a:prstGeom>
          <a:ln w="25400">
            <a:solidFill>
              <a:srgbClr val="CF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069579" y="2980944"/>
            <a:ext cx="1097281" cy="822960"/>
          </a:xfrm>
          <a:prstGeom prst="line">
            <a:avLst/>
          </a:prstGeom>
          <a:ln w="25400">
            <a:solidFill>
              <a:srgbClr val="CF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166860" y="2157984"/>
            <a:ext cx="1188720" cy="822960"/>
          </a:xfrm>
          <a:prstGeom prst="line">
            <a:avLst/>
          </a:prstGeom>
          <a:ln w="25400">
            <a:solidFill>
              <a:srgbClr val="CF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97480" y="2157984"/>
            <a:ext cx="6766560" cy="0"/>
          </a:xfrm>
          <a:prstGeom prst="line">
            <a:avLst/>
          </a:prstGeom>
          <a:ln w="20320">
            <a:solidFill>
              <a:srgbClr val="3A9A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49039" y="2980944"/>
            <a:ext cx="4526281" cy="0"/>
          </a:xfrm>
          <a:prstGeom prst="line">
            <a:avLst/>
          </a:prstGeom>
          <a:ln w="20320">
            <a:solidFill>
              <a:srgbClr val="3A9A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00600" y="3803904"/>
            <a:ext cx="2377440" cy="0"/>
          </a:xfrm>
          <a:prstGeom prst="line">
            <a:avLst/>
          </a:prstGeom>
          <a:ln w="20320">
            <a:solidFill>
              <a:srgbClr val="3A9A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1874519"/>
            <a:ext cx="1783080" cy="566928"/>
          </a:xfrm>
          <a:prstGeom prst="roundRect">
            <a:avLst>
              <a:gd name="adj" fmla="val 30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7607C"/>
                </a:solidFill>
                <a:latin typeface="Yu Gothic UI"/>
              </a:rPr>
              <a:t>要件定義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2697480"/>
            <a:ext cx="1783080" cy="566928"/>
          </a:xfrm>
          <a:prstGeom prst="roundRect">
            <a:avLst>
              <a:gd name="adj" fmla="val 30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7607C"/>
                </a:solidFill>
                <a:latin typeface="Yu Gothic UI"/>
              </a:rPr>
              <a:t>基本設計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520440"/>
            <a:ext cx="1783080" cy="566928"/>
          </a:xfrm>
          <a:prstGeom prst="roundRect">
            <a:avLst>
              <a:gd name="adj" fmla="val 30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7607C"/>
                </a:solidFill>
                <a:latin typeface="Yu Gothic UI"/>
              </a:rPr>
              <a:t>詳細設計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874519"/>
            <a:ext cx="1783080" cy="566928"/>
          </a:xfrm>
          <a:prstGeom prst="roundRect">
            <a:avLst>
              <a:gd name="adj" fmla="val 30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A9AA4"/>
                </a:solidFill>
                <a:latin typeface="Yu Gothic UI"/>
              </a:rPr>
              <a:t>受入テスト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2697480"/>
            <a:ext cx="2011680" cy="566928"/>
          </a:xfrm>
          <a:prstGeom prst="roundRect">
            <a:avLst>
              <a:gd name="adj" fmla="val 30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A9AA4"/>
                </a:solidFill>
                <a:latin typeface="Yu Gothic UI"/>
              </a:rPr>
              <a:t>システムテスト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3520440"/>
            <a:ext cx="1783080" cy="566928"/>
          </a:xfrm>
          <a:prstGeom prst="roundRect">
            <a:avLst>
              <a:gd name="adj" fmla="val 30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A9AA4"/>
                </a:solidFill>
                <a:latin typeface="Yu Gothic UI"/>
              </a:rPr>
              <a:t>結合テスト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4617720"/>
            <a:ext cx="2286000" cy="566928"/>
          </a:xfrm>
          <a:prstGeom prst="roundRect">
            <a:avLst>
              <a:gd name="adj" fmla="val 3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A3A44"/>
                </a:solidFill>
                <a:latin typeface="Yu Gothic UI"/>
              </a:rPr>
              <a:t>実装・コーディング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148840"/>
            <a:ext cx="4114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3A3A44"/>
                </a:solidFill>
                <a:latin typeface="Yu Gothic UI"/>
              </a:rPr>
              <a:t>左で決めた“こうなってほしい”が</a:t>
            </a:r>
          </a:p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3A9AA4"/>
                </a:solidFill>
                <a:latin typeface="Yu Gothic UI"/>
              </a:rPr>
              <a:t>右のテストの“正解（合否基準）”になる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623560"/>
            <a:ext cx="10561320" cy="77724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62356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3A3A44"/>
                </a:solidFill>
                <a:latin typeface="Yu Gothic UI"/>
              </a:rPr>
              <a:t>だから曖昧な要件だと、テストの“正解”も作れない。きちんと決める＝あとで検証できる。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A4A10"/>
                </a:solidFill>
                <a:latin typeface="Yu Gothic UI"/>
              </a:rPr>
              <a:t>どう作る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A3A44"/>
                </a:solidFill>
                <a:latin typeface="Yu Gothic UI"/>
              </a:rPr>
              <a:t>12の成果物で「</a:t>
            </a:r>
            <a:r>
              <a:rPr sz="30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完成形</a:t>
            </a:r>
            <a:r>
              <a:rPr sz="3000" b="1">
                <a:solidFill>
                  <a:srgbClr val="3A3A44"/>
                </a:solidFill>
                <a:latin typeface="Yu Gothic UI"/>
              </a:rPr>
              <a:t>」を組み立てる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66544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E7607C"/>
                </a:solidFill>
                <a:latin typeface="Yu Gothic UI"/>
              </a:rPr>
              <a:t>① 準備・企画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68880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3A3A44"/>
                </a:solidFill>
                <a:latin typeface="Yu Gothic UI"/>
              </a:rPr>
              <a:t>🥚📋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99232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A3A44"/>
                </a:solidFill>
                <a:latin typeface="Yu Gothic UI"/>
              </a:rPr>
              <a:t>材料そろえ／企画書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92024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66544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E7607C"/>
                </a:solidFill>
                <a:latin typeface="Yu Gothic UI"/>
              </a:rPr>
              <a:t>② 全体像・技術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3A3A44"/>
                </a:solidFill>
                <a:latin typeface="Yu Gothic UI"/>
              </a:rPr>
              <a:t>🏠🏗️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99232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A3A44"/>
                </a:solidFill>
                <a:latin typeface="Yu Gothic UI"/>
              </a:rPr>
              <a:t>全体像・部屋割り／実装技術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3" y="192024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066544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3A9AA4"/>
                </a:solidFill>
                <a:latin typeface="Yu Gothic UI"/>
              </a:rPr>
              <a:t>③ やりたいこと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468880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3A3A44"/>
                </a:solidFill>
                <a:latin typeface="Yu Gothic UI"/>
              </a:rPr>
              <a:t>📝🍚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999232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A3A44"/>
                </a:solidFill>
                <a:latin typeface="Yu Gothic UI"/>
              </a:rPr>
              <a:t>要求一覧／行動シナリオ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13631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059935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3A9AA4"/>
                </a:solidFill>
                <a:latin typeface="Yu Gothic UI"/>
              </a:rPr>
              <a:t>④ 画面・データ・機能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462271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3A3A44"/>
                </a:solidFill>
                <a:latin typeface="Yu Gothic UI"/>
              </a:rPr>
              <a:t>🍽️👥🍳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992623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A3A44"/>
                </a:solidFill>
                <a:latin typeface="Yu Gothic UI"/>
              </a:rPr>
              <a:t>UI／概念データモデル／機能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3913631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E7F5E9"/>
          </a:solidFill>
          <a:ln w="19050">
            <a:solidFill>
              <a:srgbClr val="8BC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059935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3E8E5A"/>
                </a:solidFill>
                <a:latin typeface="Yu Gothic UI"/>
              </a:rPr>
              <a:t>⑤ 保存・点検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462271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3A3A44"/>
                </a:solidFill>
                <a:latin typeface="Yu Gothic UI"/>
              </a:rPr>
              <a:t>🗄️✅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992623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A3A44"/>
                </a:solidFill>
                <a:latin typeface="Yu Gothic UI"/>
              </a:rPr>
              <a:t>データベース／CRUD点検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3" y="3913631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E7F5E9"/>
          </a:solidFill>
          <a:ln w="19050">
            <a:solidFill>
              <a:srgbClr val="8BC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4059935"/>
            <a:ext cx="3118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3E8E5A"/>
                </a:solidFill>
                <a:latin typeface="Yu Gothic UI"/>
              </a:rPr>
              <a:t>⑥ 伝える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462271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3A3A44"/>
                </a:solidFill>
                <a:latin typeface="Yu Gothic UI"/>
              </a:rPr>
              <a:t>📖🤝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992623"/>
            <a:ext cx="31181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A3A44"/>
                </a:solidFill>
                <a:latin typeface="Yu Gothic UI"/>
              </a:rPr>
              <a:t>渡せる状態（目次・想定問答）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10927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7A7E8C"/>
                </a:solidFill>
                <a:latin typeface="Yu Gothic UI"/>
              </a:rPr>
              <a:t>この地図の①→⑥を、これから1つずつ“たとえ話”で見ていきます。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① 準備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まず「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材料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」をそろえる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たとえ（目玉焼き）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料理は、卵もフライパンも無いまま始められない。まず材料と道具をそろえる。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要件定義では（必要な情報）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誰のため・何を叶えるか等、完成に必要な情報を先にそろえる。要件定義の下ごしらえ。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ポイント：いきなり書き始めない。まず“材料（情報）”をそろえるところから始まる。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② 企画書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企画書は「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理解してもらう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」ために書く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たとえ（旅のしおり）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旅のしおりは、みんなが同じイメージで当日を楽しめるように作る。読む人のためのもの。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要件定義では（伝わる企画書）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企画書も“通すため”でなく“関係者に理解してもらうため”に書く。目的と全体像を共有。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ポイント：良い企画書のゴールは「承認」より「共通理解」。読む人に伝わってこそ意味がある。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③ 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まず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ざっくり全体像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、次に部屋割り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✏️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たとえ（間取りスケッチ）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家づくりは、細部の前にまず間取りを大きくスケッチ。次に部屋を割っていく。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要件定義では（全体像→サブブロック）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システムも、先に全体像をざっくり描き、次に機能のかたまり（サブブロック）に分ける。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ポイント：最初から細部に入らない。大きく描いて→分ける。迷子にならない進め方。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④ 実装技術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どの「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工法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」で建てるかを決める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🏗️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たとえ（家の工法）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同じ間取りでも、木造か鉄骨か。工法で、費用も工期も強さも変わる。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要件定義では（アーキテクチャ）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システムも“どの技術・仕組みで作るか”を選ぶ。これがアーキテクチャ（実装技術）。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ポイント：作り方の土台選び。後から変えにくいので、早めに方針を決めておく。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⑤ 要求一覧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やりたいことを「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文書化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」して一覧に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たとえ（要望ヒアリング）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家づくりで「広い居間」「日当たり」等の要望を聞き取り、書き出して一覧にする。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要件定義では（要求一覧）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「実現したいこと」を一つずつ文書にして並べる。頭の中の要望を“消えない形”に。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ポイント：口約束は消える。書き出して一覧化＝抜け漏れと言った言わないを防ぐ。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⑥ 行動シナリオ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利用者の「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動き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」を場面で書く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たとえ（定食屋の厨房）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「注文→調理→提供→会計」——お店が回る一連の動きを、場面ごとに思い描く。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要件定義では（行動シナリオ）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利用者が実際どう操作し進むかを、場面の流れとして書く。機能の“抜け”に気づける。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ポイント：機能を並べるだけでなく、“人がどう使うか”の物語で確かめる。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⑦ データモデル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データを「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相関図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」で描く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たとえ（登場人物の相関図）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ドラマの相関図のように、“誰と誰がどう関係するか”を図にすると一目で分かる。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🗺️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要件定義では（概念データモデル）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「顧客」「注文」「商品」等の登場データと、その関係を図にする。土台の見取り図。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ポイント：データの登場人物と関係を先に描くと、後の設計が一気に楽になる。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⑧ UIの定義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画面は「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メニュー表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」のように決める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🍽️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たとえ（レストランのメニュー）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メニュー表は、お客が“選べる・注文できる”窓口。見やすさが使いやすさを決める。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🖥️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要件定義では（UIの定義）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どんな画面で、何を見せ、どう操作させるか＝UIを具体的に決める。人が触れる部分。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ポイント：中身が良くても、画面が分かりにくいと使われない。UIは“使いやすさ”の設計。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⑨ 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機能は「</a:t>
            </a:r>
            <a:r>
              <a:rPr sz="27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材料xを成果yに変える仕事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たとえ（お料理）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料理は、材料（卵）を入れて、調理という仕事をして、成果（目玉焼き）を出す。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要件定義では（機能 = y = f(x)）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機能とは仕事。材料 x を入れ、成果 y を出す。何を入れ何が出るかを決める。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ポイント：機能＝入力xと出力yをはっきり決めた“仕事”。あいまいだと作れない。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⑩ データベース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データは「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共有倉庫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」に置いて点検する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🗄️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たとえ（みんなの倉庫）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商品や記録を、みんなが使う共有の倉庫にしまう。誰でも取り出せて、ずっと残る。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要件定義では（データベース＋CRUD点検）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共有倉庫＝データベース。各データに“作る・見る・直す・消す”が揃うかを点検（CRUD）。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ポイント：保存はみんなの倉庫へ。そして出し入れの“抜け”をチェックリストで確認する。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⑪ 渡せる状態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最後は「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伝わる形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」にして渡す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たとえ（引き継ぎブック）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紙束をドサッと渡しても後任は困る。目次を付け、想定問答を添えて“渡せる一冊”に。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要件定義では（合意形成と伝達）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成果物を目次化し、想定問答まで用意。発注元と握手（合意）し、作る人へ手渡す（伝達）。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ポイント：作って終わりでなく“伝わって”はじめて完成。渡せる形にするまでが要件定義。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A4A10"/>
                </a:solidFill>
                <a:latin typeface="Yu Gothic UI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3A3A44"/>
                </a:solidFill>
                <a:latin typeface="Yu Gothic UI"/>
              </a:rPr>
              <a:t>要件定義って、つまり？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27080" cy="1024128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144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874519"/>
            <a:ext cx="2743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E7607C"/>
                </a:solidFill>
                <a:latin typeface="Yu Gothic UI"/>
              </a:rPr>
              <a:t>① なに？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6858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3A3A44"/>
                </a:solidFill>
                <a:latin typeface="Yu Gothic UI"/>
              </a:rPr>
              <a:t>作る前に“完成の姿”を、絵とことばで決める「約束」。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44952"/>
            <a:ext cx="10927080" cy="1024128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44952"/>
            <a:ext cx="9144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044952"/>
            <a:ext cx="2743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A9AA4"/>
                </a:solidFill>
                <a:latin typeface="Yu Gothic UI"/>
              </a:rPr>
              <a:t>② なぜ？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044952"/>
            <a:ext cx="6858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3A3A44"/>
                </a:solidFill>
                <a:latin typeface="Yu Gothic UI"/>
              </a:rPr>
              <a:t>手戻りを防ぎ、右側でテストの“正解”になるから。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15383"/>
            <a:ext cx="10927080" cy="1024128"/>
          </a:xfrm>
          <a:prstGeom prst="roundRect">
            <a:avLst>
              <a:gd name="adj" fmla="val 12000"/>
            </a:avLst>
          </a:prstGeom>
          <a:solidFill>
            <a:srgbClr val="E7F5E9"/>
          </a:solidFill>
          <a:ln w="19050">
            <a:solidFill>
              <a:srgbClr val="8BC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15383"/>
            <a:ext cx="9144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215383"/>
            <a:ext cx="27432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E8E5A"/>
                </a:solidFill>
                <a:latin typeface="Yu Gothic UI"/>
              </a:rPr>
              <a:t>③ どう作る？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215383"/>
            <a:ext cx="6858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3A3A44"/>
                </a:solidFill>
                <a:latin typeface="Yu Gothic UI"/>
              </a:rPr>
              <a:t>12の成果物で完成形を組み立て、“渡せる形”にする。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32120"/>
            <a:ext cx="10927080" cy="86868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2032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10927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E7607C"/>
                </a:solidFill>
                <a:latin typeface="Yu Gothic UI"/>
              </a:rPr>
              <a:t>「だったら先に言ってよ」を無くすのが、要件定義。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6015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3A3A44"/>
                </a:solidFill>
                <a:latin typeface="Yu Gothic UI"/>
              </a:rPr>
              <a:t>つくる前に、いちばん大事なことを決めよう。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0">
                <a:solidFill>
                  <a:srgbClr val="3A3A44"/>
                </a:solidFill>
                <a:latin typeface="Yu Gothic UI"/>
              </a:rPr>
              <a:t>🧹  🍳  🥚  🏠  📦  🗄️  📖  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E7607C"/>
                </a:solidFill>
                <a:latin typeface="Yu Gothic UI"/>
              </a:rPr>
              <a:t>ご清聴ありがとうございました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5440680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7E8C"/>
                </a:solidFill>
                <a:latin typeface="Yu Gothic UI"/>
              </a:rPr>
              <a:t>参考：全17話「〇〇でわかる要件定義」シリーズ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