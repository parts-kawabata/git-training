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本日は『ストーリーで学ぶ Claude Code』と題して、新人エンジニア・田中さんがAIの開発パートナー Claude Code と出会い、半年でチームの開発を変えていく物語をダイジェストでご紹介します。Claude Code を使ったことがない方にこそ、“使ってみたい”と思っていただける10分です。まずは肩の力を抜いて、夕暮れのオフィスから物語を始めましょう。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の流れです。物語は8章構成。第1章から3章は“個人として使いこなす”段階、第4章から6章は“大規模なコードとチームの品質”に踏み込む段階、第7・8章は“チームへの広げ方と、これからのエンジニア像”を扱います。各章『どんな壁にぶつかり』『Claude Code でどう越え』『どれだけ短縮できたか』の順でご紹介します。気になる章だけでも、きっと試したくなるはずです。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 Claude Code とは何か。よくある“コード補完”との違いがポイントです。補完ツールは次の一行を提案してくれますが、組み立てるのは人間。一方 Claude Code は“エージェント”。やりたいことを日本語で伝えると、複数のファイルをまたいで、設計から実装・テスト・修正までを自分で進めます。人間は手を動かす係から、“判断する係”に変わる。ここがこの物語全体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第1章。田中さんは部長から『2週間でデモを』と無茶な宿題を受けます。設計の入口で固まっていたところに、先輩の佐藤さんが『Claude Code は試した？』と。使い方はこの4ステップ。雛形を作り、項目を足し、検証を入れ、形を整える。すべて日本語の対話で進み、提案を見て一箇所だけ直す、というキャッチボール。結果、2週間の見積もりが半日で動くプロトタイプに。これが最初の衝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第1章で自信満々に出したコードに、レビューは“規約に沿っていない”の嵐。そこで登場するのが CLAUDE.md。命名や例外処理、層構成といったチームの約束を一枚にまとめて置いておくと、Claude Code が起動時に自動で読み込み、最初からルール通りに書いてくれます。さらに Skills を使えば、/review や /test の一言で定型作業が完了。一度の準備で、その後ずっと品質が揃う――これが第2章です。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第3章のテーマは“段取り”。プロトタイプを本番品質にするには大量のテストが要る。ここで Plan mode の出番です。Shift+Tab で切り替えると、AIはいきなり書かず、まず計画と優先順位を提案します。そしてテストを量産。面白いのが8割2割の法則で、生成テストの8割はそのまま使え、残り2割だけ業務知識で人が直す。AIが量、人が質。この分担で、数週間の作業が1週間に縮み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章は“他人の巨大コード”との格闘。前任者が辞め、800ファイル10万行を引き継ぐことに。2時間読んでも全体像はつかめない。そこで『全体構造を説明して』。するとパッケージ構成やAPI一覧が地図のように描かれ、15分で頭に入りました。さらに本番のタイムアウト障害も、スタックトレースを貼るだけで“N+1クエリ”と即特定。1リクエストが裏で大量のクエリを呼ぶ典型バグを、AIが1分で見抜いた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第5章は“速さ”の章であり、“落とし穴”の章でもあります。Subagent で複数タスクを手分けし、git worktree で作業場を分ければ、大規模リファクタの最中に緊急修正が来ても、別の作業場で15分で対応して戻れる。ところが、AIが良かれと思って“統一的に”直しすぎ、想定外の型崩れを生んでいた。だからこそ最後は人が diff を見て判断する。この“レビューの儀式”が品質を守ります。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章。便利さが評判になり、チーム中からAI生成コードのPRが押し寄せる。レビューが溶けていく…。佐藤さんの答えは『AIのコードは、AIにレビューさせればいい』。セキュリティや作り込み過ぎを自動で指摘させ、hooks で実行の前後に品質チェックを“関所”として挟み、MCP で Jira ともつなぐ。CLAUDE.md から始まった7つのpiecesが噛み合った瞬間、個人技が“チームの開発プロセス”へと昇華します。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章は“人”の章。部長から『チーム全体で推進せよ』と号令が下りますが、正面から勧めると押しつけに見えて空回り。そこで田中さんは作戦を変えます。Slackの開発ログに、成果をただ淡々と投稿し続けた。『バグ修正が2時間から30分』といった数字は雄弁です。最初の3日は無反応でも、3週間でチームの半数が自分から使い始めた。人を動かすのは号令ではなく、結果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章、第8章。『マルチエージェントでプロジェクトを丸ごと自動化』というニュースに、田中さんは『半年の努力が無価値になるのでは』と揺れます。佐藤さんの答えはこうです。手で書く価値も、読む価値さえも下がるかもしれない。けれど“システム全体を立体的に組み立て、これは正しいかと判断する力”は人に残る。手を動かす力とAIを使う力の掛け算こそ、これからのエンジニアの価値なんだ、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の効果を数字で振り返ります。プロトタイプは2週間が半日、10万行の把握は2時間超が15分、バグ原因特定は1分、テスト整備は1週間、日々のバグ修正は30分、そしてチーム普及は3週間で半数。どれも“ちょっと速くなった”ではなく、桁が変わっています。これが、Claude Code を一度使うと手放せなくなる理由です。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“じゃあ何を使えばいいの？”への答えがこちら。道具は適材適所です。日常の補完は Copilot、エディタ上の対話は Cursor、Web版は調べものに便利。そして設計相談や大規模な変更、自動化といった“深い仕事”の主役が Claude Code。今日お話しした物語は、すべてこの Claude Code が舞台でした。全部を使い分けてもいいし、まずは主役から触ってみるのもおすすめです。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最後に。Claude Code を始めるのに、難しい準備は要りません。まずインストールして、やりたいことを日本語で話しかけてみる。慣れてきたらチームの約束を CLAUDE.md に置き、/plan で段取りから始める。田中さんの物語は、たった一度の対話から始まりました。皆さんのオフィスでも、ぜひ今日、最初の一言をかけてみてください。ご清聴ありがとうございました。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4617720" cy="4248302"/>
          </a:xfrm>
          <a:prstGeom prst="rect">
            <a:avLst/>
          </a:prstGeom>
        </p:spPr>
      </p:pic>
      <p:pic>
        <p:nvPicPr>
          <p:cNvPr id="4" name="Picture 3" descr="title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5989320" cy="1790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S T O R Y   D R I V E N   G U I D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E9E9F2"/>
                </a:solidFill>
                <a:latin typeface="Yu Mincho"/>
                <a:ea typeface="Yu Mincho"/>
                <a:cs typeface="Yu Mincho"/>
              </a:rPr>
              <a:t>AIと歩む、エンジニアの半年間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新人エンジニア・田中優太が、AI開発パートナー “Claude Code” と出会い、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半年でチームを変えていく――全8章の物語をダイジェストで。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257800"/>
            <a:ext cx="201168" cy="201168"/>
          </a:xfrm>
          <a:prstGeom prst="ellipse">
            <a:avLst/>
          </a:prstGeom>
          <a:solidFill>
            <a:srgbClr val="E77D47"/>
          </a:solidFill>
          <a:ln w="1524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5257800"/>
            <a:ext cx="201168" cy="201168"/>
          </a:xfrm>
          <a:prstGeom prst="ellipse">
            <a:avLst/>
          </a:prstGeom>
          <a:solidFill>
            <a:srgbClr val="E7567F"/>
          </a:solidFill>
          <a:ln w="1524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45336" y="5257800"/>
            <a:ext cx="201168" cy="201168"/>
          </a:xfrm>
          <a:prstGeom prst="ellipse">
            <a:avLst/>
          </a:prstGeom>
          <a:solidFill>
            <a:srgbClr val="8C70E8"/>
          </a:solidFill>
          <a:ln w="1524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9384" y="5257800"/>
            <a:ext cx="201168" cy="201168"/>
          </a:xfrm>
          <a:prstGeom prst="ellipse">
            <a:avLst/>
          </a:prstGeom>
          <a:solidFill>
            <a:srgbClr val="4DC2B3"/>
          </a:solidFill>
          <a:ln w="1524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13432" y="5257800"/>
            <a:ext cx="201168" cy="201168"/>
          </a:xfrm>
          <a:prstGeom prst="ellipse">
            <a:avLst/>
          </a:prstGeom>
          <a:solidFill>
            <a:srgbClr val="E7C070"/>
          </a:solidFill>
          <a:ln w="1524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7480" y="5257800"/>
            <a:ext cx="201168" cy="201168"/>
          </a:xfrm>
          <a:prstGeom prst="ellipse">
            <a:avLst/>
          </a:prstGeom>
          <a:solidFill>
            <a:srgbClr val="E77D47"/>
          </a:solidFill>
          <a:ln w="1524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81528" y="5257800"/>
            <a:ext cx="201168" cy="201168"/>
          </a:xfrm>
          <a:prstGeom prst="ellipse">
            <a:avLst/>
          </a:prstGeom>
          <a:solidFill>
            <a:srgbClr val="E7567F"/>
          </a:solidFill>
          <a:ln w="1524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65576" y="5257800"/>
            <a:ext cx="201168" cy="201168"/>
          </a:xfrm>
          <a:prstGeom prst="ellipse">
            <a:avLst/>
          </a:prstGeom>
          <a:solidFill>
            <a:srgbClr val="8C70E8"/>
          </a:solidFill>
          <a:ln w="1524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第1章 〜 第8章  /  10分で巡るダイジェスト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AGENDA / 本日の流れ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目次</a:t>
            </a:r>
            <a:r>
              <a:rPr sz="27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　― 半年間の物語を、8つの章で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29384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" y="2050084"/>
            <a:ext cx="362102" cy="362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4208" y="184708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半日でプロトタイプ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対話でコードが形になる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38544" y="1929384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_m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4" y="2050084"/>
            <a:ext cx="362102" cy="3621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4928" y="184708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チームの作法を覚える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CLAUDE.md と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209544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_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" y="3330244"/>
            <a:ext cx="362102" cy="3621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4208" y="312724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計画してから走る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Plan mode と TDD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38544" y="3209544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244" y="3330244"/>
            <a:ext cx="362102" cy="3621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4928" y="312724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15分で10万行を把握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巨大コードの読解とバグ特定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489704"/>
            <a:ext cx="603504" cy="60350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_bra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524" y="4610404"/>
            <a:ext cx="362102" cy="3621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4208" y="440740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並列開発と人の目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Subagent / git worktree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5196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38544" y="4489704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_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244" y="4610404"/>
            <a:ext cx="362102" cy="362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24928" y="440740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AIのコードをAIが review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hooks と MCP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32119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7824" y="5769863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e_peo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524" y="5890564"/>
            <a:ext cx="362102" cy="3621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64208" y="5687567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見える化でチームへ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押しつけない普及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532119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38544" y="5769863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_gradu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9244" y="5890564"/>
            <a:ext cx="362102" cy="36210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24928" y="5687567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AIと歩む未来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人に残る“判断する力”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INTRO / Claude Code 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“補完”ではなく、</a:t>
            </a:r>
            <a:r>
              <a:rPr sz="27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“エージェント”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日本語で指示すると、複数ファイルをまたいで設計・実装・修正まで自分で進めてくれる、ターミナルで動く開発パートナーです。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182B36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5" y="279806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4320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従来の補完ツール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次の「1行」を予測して提案する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今開いているファイルの中が主戦場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判断と組み立ては、すべて人間の仕事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便利だが、作業は人が回し続ける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3774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6831" y="2670048"/>
            <a:ext cx="640080" cy="64008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7" y="279806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34071" y="274320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エージェント（Claude Code）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352044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「何をしたいか」を日本語で伝えるだけ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複数ファイルを横断して自律的に作業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計画・実装・テスト・修正まで一気通貫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人は“判断”に集中できる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/ 二週間の宿題と、先輩の一言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半日で、プロトタイプが動いた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「2週間でデモを」。途方に暮れる田中さんに、先輩が一言。対話でREST APIを組み立てると――その日のうちに動いた。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1912" y="2587752"/>
            <a:ext cx="658368" cy="658368"/>
          </a:xfrm>
          <a:prstGeom prst="ellipse">
            <a:avLst/>
          </a:prstGeom>
          <a:solidFill>
            <a:srgbClr val="CF7143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雛形を作る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Spring Boot 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プロジェクト構成を提案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399" y="2788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25695" y="2587752"/>
            <a:ext cx="658368" cy="658368"/>
          </a:xfrm>
          <a:prstGeom prst="ellipse">
            <a:avLst/>
          </a:prstGeom>
          <a:solidFill>
            <a:srgbClr val="CF4E74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5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項目を足す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「項目を追加して」で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関連ファイルを一括生成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3" y="2788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69480" y="2587752"/>
            <a:ext cx="658368" cy="658368"/>
          </a:xfrm>
          <a:prstGeom prst="ellipse">
            <a:avLst/>
          </a:prstGeom>
          <a:solidFill>
            <a:srgbClr val="7E65D2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検証を入れる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バリデーションと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テストを自動で追加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788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2587752"/>
            <a:ext cx="658368" cy="658368"/>
          </a:xfrm>
          <a:prstGeom prst="ellipse">
            <a:avLst/>
          </a:prstGeom>
          <a:solidFill>
            <a:srgbClr val="46AEA3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3264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形を整える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レスポンス形式を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全体で統一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920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084064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08760" y="48920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見積もり 2週間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実働 半日でプロトタイプ完成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/ 返ってきたレビューと、チームの作法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ルールは一度書けば、</a:t>
            </a:r>
            <a:r>
              <a:rPr sz="27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勝手に守ってくれる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「動く。けれど“チームのコード”ではない」。規約違反だらけの指摘…。答えは、ルールを一枚にまとめた CLAUDE.md でした。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035040" cy="2788920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871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📄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## コーディング規約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82696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  命名 : lowerCamelCase / UpperCamelCase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21024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  例外 : 素の RuntimeException は禁止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9352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  層構成 : Controller → Service →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79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  DTOとEntityを分離（Entityを直接返さない）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36008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  ログ : println禁止 → SLF4J を使う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286000"/>
            <a:ext cx="4602175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2542032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_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900" y="2662732"/>
            <a:ext cx="362102" cy="3621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2615184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Skills（カスタムコマンド）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383280"/>
            <a:ext cx="4053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/review … 規約・安全性を自動チェック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/test … 正常・異常・境界値を自動生成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よく使う指示を“技”として登録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チーム全員が同じ品質で書ける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毎回ルールを説明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規約違反ゼロ・レビュー指摘が激減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/ いきなり書かせない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まず“計画”、それから走る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本番品質へ引き上げたい。でもテストはほぼゼロ。Shift+Tab の Plan mode で計画を立ててから、テストを量産する。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42032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" y="266273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61518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Plan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3756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いきなりコードを書かず、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分析と段取りだけを先に作る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AIが“優先順位”まで提案：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① 中核ロジックのテスト → ② 検証追加 → ③ 例外処理の統一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86000"/>
            <a:ext cx="5287975" cy="2788920"/>
          </a:xfrm>
          <a:prstGeom prst="roundRect">
            <a:avLst>
              <a:gd name="adj" fmla="val 6000"/>
            </a:avLst>
          </a:prstGeom>
          <a:solidFill>
            <a:srgbClr val="2B27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20"/>
            <a:ext cx="4739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AI生成テストの「8割／2割」法則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246120"/>
            <a:ext cx="3645164" cy="457200"/>
          </a:xfrm>
          <a:prstGeom prst="roundRect">
            <a:avLst>
              <a:gd name="adj" fmla="val 30000"/>
            </a:avLst>
          </a:prstGeom>
          <a:solidFill>
            <a:srgbClr val="54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11724" y="3246120"/>
            <a:ext cx="865571" cy="457200"/>
          </a:xfrm>
          <a:prstGeom prst="roundRect">
            <a:avLst>
              <a:gd name="adj" fmla="val 4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246120"/>
            <a:ext cx="36451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1724" y="3246120"/>
            <a:ext cx="8655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886200"/>
            <a:ext cx="45564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8割：そのまま使える（AIが量を担当）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2割：業務ロジックを人が判断して直す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テスト整備に数週間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1週間で本番品質へ引き上げ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/ 十万行の地図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15分で、</a:t>
            </a:r>
            <a:r>
              <a:rPr sz="2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10万行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の全体像をつかむ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前任者は、もういない。800ファイル・10万行の基幹システム。「全体構造を説明して」の一言で、地図が描かれた。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633472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" y="275417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487168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全体構造を可視化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パッケージ構成・API一覧・ドメイン関連図を自動生成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4096512"/>
            <a:ext cx="603504" cy="60350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" y="4217212"/>
            <a:ext cx="362102" cy="362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950208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バグの原因を即特定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スタックトレースを貼るだけで N+1クエリを指摘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86000"/>
            <a:ext cx="5150815" cy="2761488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7B334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487168"/>
            <a:ext cx="4602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N+1クエリ問題とは？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063240"/>
            <a:ext cx="1554480" cy="566928"/>
          </a:xfrm>
          <a:prstGeom prst="roundRect">
            <a:avLst>
              <a:gd name="adj" fmla="val 18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06324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1リクエスト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10896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3768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40696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40" y="34564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73768" y="34564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950208"/>
            <a:ext cx="2499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…クエリが件数ぶん爆発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434840"/>
            <a:ext cx="45107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→ JOIN FETCH でまとめて1回に。原因特定はわずか1分。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全体把握に2時間以上＋原因調査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把握15分・原因特定1分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/ 並列で挑む、ひとつの過ち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並列で進める。</a:t>
            </a:r>
            <a:r>
              <a:rPr sz="27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でも、最後は人が見る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Subagent で手分けし、git worktree で緊急対応も並行。ただしAIの“やりすぎ”が潜むことも――人のレビューは欠かせない。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4871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git worktree ＝ 作業場を分ける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2944368"/>
            <a:ext cx="1554480" cy="502920"/>
          </a:xfrm>
          <a:prstGeom prst="roundRect">
            <a:avLst>
              <a:gd name="adj" fmla="val 16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944368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1つのリポジトリ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67328"/>
            <a:ext cx="2194560" cy="749808"/>
          </a:xfrm>
          <a:prstGeom prst="roundRect">
            <a:avLst>
              <a:gd name="adj" fmla="val 12000"/>
            </a:avLst>
          </a:prstGeom>
          <a:solidFill>
            <a:srgbClr val="48B6A9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67328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作業場A</a:t>
            </a:r>
          </a:p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大規模リファクタ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767328"/>
            <a:ext cx="2194560" cy="749808"/>
          </a:xfrm>
          <a:prstGeom prst="roundRect">
            <a:avLst>
              <a:gd name="adj" fmla="val 12000"/>
            </a:avLst>
          </a:prstGeom>
          <a:solidFill>
            <a:srgbClr val="D87644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767328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作業場B</a:t>
            </a:r>
          </a:p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緊急hotfix（15分）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切り替えで混乱しない。両方そのまま進む。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286000"/>
            <a:ext cx="5150815" cy="2788920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0" y="2542032"/>
            <a:ext cx="566928" cy="566928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h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945" y="2655417"/>
            <a:ext cx="340156" cy="3401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52360" y="2615184"/>
            <a:ext cx="4053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AI出力レビューの“儀式”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337560"/>
            <a:ext cx="46021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git diff で変更を必ず目視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「意図どおりか」を1点ずつ確認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影響範囲を grep で洗い出す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学びは CLAUDE.md に書き足す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AIの過剰な“統一”で型崩れ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人のレビューで未然に防ぐ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/ AIのコードは、AIにレビューさせる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仕組みで、品質を自動化する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チームに広がり、レビューが追いつかない。ならばAIにレビューさせ、品質チェックを“自動の関所”にする。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542032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" y="266273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633472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AIレビュー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10128"/>
            <a:ext cx="2953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セキュリティ・作り込み過ぎ・テスト漏れを自動指摘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2542032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276" y="2662732"/>
            <a:ext cx="362102" cy="3621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0096" y="2633472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310128"/>
            <a:ext cx="2953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実行の前後で自動チェック＆整形。通らなければ止める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542032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0" y="2662732"/>
            <a:ext cx="362102" cy="3621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52560" y="2633472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MCP連携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310128"/>
            <a:ext cx="2953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Jira等の外部ツールと接続し、PR説明まで自動生成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7つのピースが噛み合うと…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CLAUDE.md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1368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7143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01368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62656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3944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23944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Subagent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85231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4E74"/>
          </a:solidFill>
          <a:ln w="1270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1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hooks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19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19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MCP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07807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7807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3" y="47274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7735" y="4672584"/>
            <a:ext cx="2606040" cy="566928"/>
          </a:xfrm>
          <a:prstGeom prst="roundRect">
            <a:avLst>
              <a:gd name="adj" fmla="val 20000"/>
            </a:avLst>
          </a:prstGeom>
          <a:solidFill>
            <a:srgbClr val="6D58B7"/>
          </a:solidFill>
          <a:ln w="12700">
            <a:solidFill>
              <a:srgbClr val="9A7BF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5" y="4672584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チームの開発プロセス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/ 号令ではなく、開発ログ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“便利だから使って”では、人は動かない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正面からの号令は逆効果。田中さんは淡々と成果を共有し続けた。3週間で、チームの半数が自然に動き出す。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42032"/>
            <a:ext cx="585216" cy="585216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spe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2659075"/>
            <a:ext cx="351129" cy="3511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261518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広げ方は“見える化”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3756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#ai-dev-log に成果を淡々と投稿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「2時間→30分」と数字で示す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セキュリティ指針もAIと作成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押しつけないから、人が乗ってくる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86000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2B192C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28600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2956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2時間 → 30分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27832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172733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22783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テスト生成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27832"/>
            <a:ext cx="2956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1日 → 2時間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69664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2B1E25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169664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リファクタ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69664"/>
            <a:ext cx="2956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4週間 → 2週間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正面から「使って」→ 無反応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3週間でチーム半数が自走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/ AIと歩む、エンジニアの未来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変わるもの。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そして、人に残るもの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「全部AIがやる時代では？」――不安に、先輩は答える。手で書く価値は下がる。でも“構造を見て判断する力”は残る。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302126"/>
          </a:solidFill>
          <a:ln w="12700">
            <a:solidFill>
              <a:srgbClr val="FF8A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手で書く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4215" y="28346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301A2E"/>
          </a:solidFill>
          <a:ln w="12700">
            <a:solidFill>
              <a:srgbClr val="FF5E8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587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コードを読む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246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5" y="28346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46AEA3"/>
          </a:solidFill>
          <a:ln w="20320">
            <a:solidFill>
              <a:srgbClr val="54D6C4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587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↑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構造を見る力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46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最後まで残る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10652760" cy="86868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52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「手を動かす力」</a:t>
            </a:r>
            <a:r>
              <a:rPr sz="19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  ×  </a:t>
            </a:r>
            <a:r>
              <a:rPr sz="17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「AIを使う力」</a:t>
            </a:r>
            <a:r>
              <a:rPr sz="19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  =  </a:t>
            </a:r>
            <a:r>
              <a:rPr sz="17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これからのエンジニアの価値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IMPACT / 数字で見る半年間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“使ってみたい”の、たしかな理由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11095"/>
            <a:ext cx="548640" cy="548640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20824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36192" y="1929384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プロトタイプ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2週間</a:t>
            </a:r>
            <a:r>
              <a:rPr sz="14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半日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911095"/>
            <a:ext cx="548640" cy="54864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020824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48656" y="1929384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10万行の把握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478024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2時間+</a:t>
            </a:r>
            <a:r>
              <a:rPr sz="14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15分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2" y="1911095"/>
            <a:ext cx="548640" cy="54864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m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20824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61120" y="1929384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バグ原因特定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478024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数時間</a:t>
            </a:r>
            <a:r>
              <a:rPr sz="14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1分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593592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_t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70332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36192" y="3611880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テスト整備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数週間</a:t>
            </a: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1週間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0288" y="3593592"/>
            <a:ext cx="548640" cy="54864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_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703320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48656" y="3611880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バグ修正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160520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2時間</a:t>
            </a:r>
            <a:r>
              <a:rPr sz="14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30分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02752" y="3593592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e_peo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703320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1120" y="3611880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チーム普及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160520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号令×</a:t>
            </a: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3週で半数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GUIDE / 2026年のツール使い分け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道具は、適材適所で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141F2D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97380"/>
            <a:ext cx="548640" cy="54864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00710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691640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GitHub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日常のコード補完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91640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書きながら次の一行を提案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16352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21628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022092"/>
            <a:ext cx="548640" cy="54864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_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7" y="313182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2816352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Cursor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16352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UIベースの対話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16352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エディタ上で対話しながら編集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41064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82348"/>
          </a:solidFill>
          <a:ln w="22860">
            <a:solidFill>
              <a:srgbClr val="9A7BF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146804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7" y="4256532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0200" y="3941064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41064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深い対話と設計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41064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設計相談・大規模変更・自動化の主役</a:t>
            </a:r>
          </a:p>
        </p:txBody>
      </p:sp>
      <p:pic>
        <p:nvPicPr>
          <p:cNvPr id="23" name="Picture 22" descr="e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4087368"/>
            <a:ext cx="292608" cy="2926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0080" y="5065776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21F27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271516"/>
            <a:ext cx="548640" cy="54864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_boo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7" y="5381244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00200" y="5065776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Web版 Claude 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065776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一般的な調べもの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65776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知識の確認・アイデア出し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itle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960120"/>
            <a:ext cx="5852160" cy="941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難しい設定より先に、まず話しかけてみる。それが第一歩。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1972" y="2935224"/>
            <a:ext cx="658368" cy="658368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645" y="3066897"/>
            <a:ext cx="395020" cy="395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368503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①  インストールして話しかける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2336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やりたいことを日本語で伝える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4436" y="2935224"/>
            <a:ext cx="658368" cy="658368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109" y="3066897"/>
            <a:ext cx="395020" cy="3950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5424" y="368503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②  CLAUDE.md を置く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02336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チームの約束を一枚にまとめる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86900" y="2935224"/>
            <a:ext cx="658368" cy="658368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8573" y="3066897"/>
            <a:ext cx="395020" cy="3950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7888" y="368503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③  /plan で段取りから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02336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いきなり書かず、計画してから走る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10927080" cy="914400"/>
          </a:xfrm>
          <a:prstGeom prst="roundRect">
            <a:avLst>
              <a:gd name="adj" fmla="val 14000"/>
            </a:avLst>
          </a:prstGeom>
          <a:solidFill>
            <a:srgbClr val="282348"/>
          </a:solidFill>
          <a:ln w="12700">
            <a:solidFill>
              <a:srgbClr val="6250A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927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E9E9F2"/>
                </a:solidFill>
                <a:latin typeface="Yu Mincho"/>
                <a:ea typeface="Yu Mincho"/>
                <a:cs typeface="Yu Mincho"/>
              </a:rPr>
              <a:t>さあ、あなたの夕暮れのオフィスでも。</a:t>
            </a:r>
            <a:r>
              <a:rPr sz="1800" b="1" i="0">
                <a:solidFill>
                  <a:srgbClr val="FFD479"/>
                </a:solidFill>
                <a:latin typeface="Yu Mincho"/>
                <a:ea typeface="Yu Mincho"/>
                <a:cs typeface="Yu Mincho"/>
              </a:rPr>
              <a:t>  まずは、対話から。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