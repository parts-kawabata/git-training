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は第1章から第8章を最初から復習するためのリファレンス資料です。物語のダイジェストではなく、各章の用語・操作手順・仕組み・学びを構造的に整理しています。巻末に用語集とコマンド早見表を付けました。順番に見ても、必要な章だけ参照しても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資料の構成です。まず基礎としてClaude Codeの位置づけと前提用語を確認し、続いて第1章から第8章を、課題・操作手順・仕組み・学びの順に復習します。最後に全用語集、7つのピースの早見表、コマンドのチートシート、そして共通原則をまとめています。各章は同じ型で並んでいるので、気になる章から拾い読みも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年間の全体マップです。第1〜3章が“個人として使いこなす”段階、第4〜6章が“大規模コードとチーム品質”、第7・8章が“チーム展開と将来像”。各章の1行サマリを頭に入れてから詳細に入ると、迷子にな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本編に入る前の基礎用語です。物語の題材は、Spring BootとJavaで作る工数管理ツール。REST APIはアプリ同士の窓口、CRUDはデータ操作の4基本、エンティティはDBの1行、JSONはやり取りの書式です。ここを押さえておくと、第1章以降の手順がすっと頭に入ります。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Codeの位置づけを確認します。補完ツールは次の一行を予測する道具で、設計や組み立ては人間の仕事。対してClaude Codeはエージェントで、プロジェクト全体を理解し、複数ファイルをまたいで設計から実装・テストまで自分で進めます。人間の役割が“手を動かす”から“判断する”へ移る――この視点が全8章の共通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本編に入る前に、田中さんがClaude Codeに“何を指示していたか”を整理します。ポイントは、難しい専門用語はいらないこと。やりたいことを日本語で頼むだけです。その指示は大きく6種類。ゼロから作ってもらう、既存コードを直す・足す、コードやバグを調べてもらう、形を整えてもらう、コードを点検してもらう、そしてよく使う指示を仕組み化する。左が実際の指示例、右がその“やさしい言い換え”です。この6つの視点を持っておくと、次からの各章の手順がぐっと読みやす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章の手順です。やり取りはこの4ステップ。雛形を作り、項目を足し、検証を入れ、レスポンスの形を整える。すべて日本語の対話で、提案を見て一箇所だけ直すというキャッチボールで進みます。ポイントは、生成物を必ず自分の目で確認すること。結果、2週間の見積もりが半日で動くプロトタイプ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章の用語と学びです。CRUDやバリデーション、補完ツールとエージェントの違いを押さえましょう。学びの核心は3つ。AIの提案は鵜呑みにせず自分でレビューする、修正は具体的に指示する、設計方針や条件は自分で言語化して渡す。AIに丸投げするのではなく、判断の主導権は人が握る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第2章の手順です。チームの規約をCLAUDE.mdに一枚で書き、プロジェクトルートに置きます。Claude Codeは起動時にこれを自動で読み、最初から規約どおりに書きます。さらにSkills、つまりカスタムコマンドで、/reviewや/testといった定型作業を一語で呼び出せます。コマンドは.claude/commands/に置いてGitで共有でき、$ARGUMENTSに対象ファイル名が差し込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章の仕組みです。CLAUDE.mdはホーム、プロジェクトルート、サブディレクトリの3階層に置け、複数あればマージされ、深い階層ほど優先されます。チーム共有はCLAUDE.md、個人用はGit管理しないCLAUDE.local.md。書き方のコツは、良い例と悪い例を添える、禁止には理由を書く、前提情報を先頭に、そして短く保つこと。これは人の暗黙知の言語化にも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章の用語と学びです。CLAUDE.mdとCLAUDE.local.md、CustomException、Optional型、DTOとEntityの分離、そしてSkillsと$ARGUMENTS。学びは、規約を書くこと自体がチームの暗黙知の言語化であること、全体ルールは共有・個人の好みはローカル、禁止は理由まで書く、そしてルールで教えSkillsで定型化する、という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第3章の手順です。本番品質にはテストが要りますが、いきなり書かせず、Shift+TabでPlan modeに切り替えて計画から始めます。流れは計画→承認→実行。下のように頼むと、AIは問題点をバリデーション不足・エラーハンドリング・テスト不足の3つに整理し、さらに優先順位――まず中核ロジックのテストから――まで提案してく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章の核、8割2割の法則です。AI生成テストの約8割――CRUDの正常異常系、null検証、境界値、フレームワーク定型――はそのまま使えます。残り2割は、工数は0.5時間刻みといった業務固有ルールや暗黙の前提、複雑なエッジケースで、人が判断して直す。AIが量、人が質。計画してテストを書き実装する流れは、自然とテスト駆動開発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章の手順です。未知の巨大コードは『全体構造を説明して』の一言で、パッケージ構成やAPI一覧、ドメイン関連図が地図のように描かれます。バグ調査はスタックトレースを貼って『原因は？』と聞くだけ。AIはコードを追ってN+1クエリを特定し、JOIN FETCHでの修正案を提示、テスト実行や影響範囲の確認まで任せられます。把握は15分、特定は1分でした。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第4章の用語と学びです。スタックトレース、N+1クエリ問題、JOIN FETCH、ドメインモデル、レイヤードアーキテクチャ、逆引きを押さえましょう。学びは、まず全体構造を聞く、バグはトレースを貼るだけ、Bash操作も任せる、そしてAIが描いた地図は信じきらず自分の足で確かめる、という姿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第5章の手順です。git worktreeで作業場を分けると、1つのリポジトリを別ディレクトリ＝別ブランチとして同時に開けます。リファクタの最中に本番障害が来ても、別の作業場でhotfixして戻れる。Subagentに段階的なリファクタを並列で任せつつ、出力は必ず右の5項目でレビューします。特にスコープ外への影響をgrepで確認するのが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第5章の仕組みと学びです。Subagentは内部で別エージェントを並列起動し、影響範囲分析やテスト生成を同時に進めます。git worktreeは1つのリポジトリを複数フォルダに展開し、別ブランチを並行操作できる。ただしAIは“統一的に”直しすぎてシグネチャを変え、対象外を壊すことがある。便利でも、diffを見るレビューだけは絶対に省かない――それが教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章の手順です。増え続けるAI生成PRには、AIにレビューさせます。セキュリティ、過剰な複雑さ、テスト漏れ、規約違反、性能の5観点を指定すると、該当コードと改善案をセットで返します。さらにMCPでJiraとつなげばPR説明を自動生成、READMEやAPI仕様書も生成できます。機械的チェックはAIに任せ、人は設計判断に集中。レビュー時間は半分以下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章の仕組み、hooksです。settings.jsonに書くと、ツール実行の前後に自分のスクリプトを割り込ませられます。PreToolUseは実行前で、lintやテストを走らせ、終了コード2で処理をブロック。PostToolUseは実行後で、自動フォーマットをかけます。matcherで対象ツールを指定し、settings.jsonをGit共有すれば、チーム全員のClaude Codeに同じ品質の関所がかかります。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第6章のまとめ、7つのピースです。CLAUDE.md、Skills、Plan mode、Subagent、hooks、MCP、ドキュメント生成。これらは単体でなく、組み合わさって初めて力を発揮し、個人のAIスキルをチームの開発プロセスへ昇華させます。学びは、AIを一次フィルタにして人は設計判断に集中、そして機能単位でなくワークフローとして設計する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章の手順です。号令での推進は反発を招きました。そこで田中さんは、Slackの#ai-dev-logに成果を淡々と投稿。バグ修正2時間が30分、といった数字は雄弁で、3週間で半数が自分から使い始めました。避けたいのは3つのアンチパターン――強制導入、ツール信仰、セキュリティ無視。押しつけず、成果で示すのが普及の鍵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第7章の仕組みです。安心して広げるためのセキュリティ指針は3点。禁止事項を具体的に決める、レビューや出典明記のフローを定義する、インシデント対応を想定しておく。応用のAgent Teamsは、Subagentが同種タスクの並列なのに対し、調査・実装・テストと役割分担して協働する仕組み。依存関係や情報共有がある仕事に向きます。導入は仕組みと文化の両輪です。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章、AIと歩む未来です。佐藤さんが示した価値の図式――コードを書く価値も読む価値も下がるが、システム全体を立体的に組み立てる“構造を見る力”は人に最後まで残る。ツールは適材適所で、Copilotは補完、Cursorは対話的編集、Web版は調べもの、そして設計や自動化の主役がClaude Code。道具は変わっても、使い分けの考え方は持ち越せます。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章の結びです。AIが進化しても残る力は3つ。問いを立てる力、品質を判断する力、そして何を作るか・品質に責任を持つ覚悟。エンジニアの価値は、手を動かす力とAIを使う力の掛け算で高まります。AIは一方的に使う道具ではなく協働の相手。人が問いを立て、AIが手を動かし、人が判断する――この姿勢こそ、ツールが変わっても変わらない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ここで全8章を一気に振り返ります。AIはもう一人のエンジニア、CLAUDE.mdとSkillsでのオンボーディング、Plan modeと8割2割、巨大コードの探索とデバッグ、Subagentとworktreeでの並列と検証、hooksとMCPでの仕組み化、成果で示すチーム展開、そして残る判断力。通底するのは“AI＝ツール×人間の判断”という協働スタイ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用語集の前半、運用・ワークフロー系です。CLAUDE.mdとローカル版、Skills、$ARGUMENTS、Plan mode、Subagent、git worktree、hooks、MCP、Agent Teams。Claude Codeをチームで使いこなすための中心的な言葉が並びます。迷ったらこのページに戻ってください。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用語集の後半、技術・設計系です。CRUDやDTO/Entityの分離、Optional型、テストの3観点、JUnit5とMockito、N+1問題とJOIN FETCH、Checkstyleとフォーマッタ、フックの種類、そして8割2割法則。コードレビューや品質の話で出てくる言葉をまとめています。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7つのピースの早見表です。規約はCLAUDE.md、定型作業はSkills、大きな変更前はPlan mode、並列実装はSubagentとworktree、品質ゲートはhooks、外部連携はMCP、文書は自動生成。どの場面でどれを使うかを一覧にしました。これらを“ワークフロー”として組み合わせるのがチーム運用の肝です。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コマンドと置き場所の早見表です。Plan modeはShift+Tab、レビューは/review、テストは/test、作業場を分けるならgit worktree add、MCP登録はclaude mcp add。置き場所は、CLAUDE.mdはルート、個人用はlocal、Skillsはcommands、hooksはsettings.json。実際に手を動かすとき、ここだけ見れば思い出せます。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すべてのツールに共通する3原則です。何を作るかは人間が決める、AIの出力は必ずレビューする、ルールはCLAUDE.mdで言語化する。この3つは、ツールが世代交代しても変わりません。AIはツールであり、人間の判断と掛け合わせて初めて価値になる――復習の締めくくりとして、ここを覚えて帰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復習はここまでです。あとは手を動かして確かめるだけ。計画から始め、CLAUDE.mdにルールを置き、出力は必ずレビューする。この3つを意識すれば、今日振り返った内容はそのまま実践に変わります。まずは、対話から。お疲れさま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32.png"/><Relationship Id="rId9" Type="http://schemas.openxmlformats.org/officeDocument/2006/relationships/image" Target="../media/image7.png"/><Relationship Id="rId10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6" Type="http://schemas.openxmlformats.org/officeDocument/2006/relationships/image" Target="../media/image33.png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4617720" cy="4248302"/>
          </a:xfrm>
          <a:prstGeom prst="rect">
            <a:avLst/>
          </a:prstGeom>
        </p:spPr>
      </p:pic>
      <p:pic>
        <p:nvPicPr>
          <p:cNvPr id="4" name="Picture 3" descr="title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83080"/>
            <a:ext cx="5989320" cy="1790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234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R E V I E W   ・   第1〜8章リファレンス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 i="0">
                <a:solidFill>
                  <a:srgbClr val="E9E9F2"/>
                </a:solidFill>
                <a:latin typeface="Yu Mincho"/>
                <a:ea typeface="Yu Mincho"/>
                <a:cs typeface="Yu Mincho"/>
              </a:rPr>
              <a:t>開発ガイド 総復習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用語・操作手順・仕組み・学びを、章ごとに整理。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巻末に用語集とチートシート付き。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Claude Code 開発ガイド  /  全8章リファレンス資料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HOW TO USE / この資料の構成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読み方と、全体の構成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boo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5" y="2093976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39" y="198424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① 基礎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39" y="24688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Claude Codeとは／前提キーワードを確認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965960"/>
            <a:ext cx="640080" cy="64008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093976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52360" y="198424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② 各章 (1〜8)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4688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課題→操作手順→仕組み→学び の順で復習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611880"/>
            <a:ext cx="640080" cy="64008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scro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5" y="3739896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39" y="363016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③ 用語集・早見表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39" y="41148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全用語、7つのピース、コマンド早見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375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3611880"/>
            <a:ext cx="640080" cy="64008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_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3739896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52360" y="363016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④ 共通原則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148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ツールが変わっても残る考え方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1A2F3A"/>
          </a:solidFill>
          <a:ln w="13970">
            <a:solidFill>
              <a:srgbClr val="347C7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_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093208"/>
            <a:ext cx="420624" cy="4206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08760" y="493776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各章は「課題 → 操作手順（実プロンプト）→ 仕組み → 学び」で統一。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OVERVIEW / 半年の全体マップ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8章で何を学んだか（1行ダイジェスト）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883664"/>
            <a:ext cx="603504" cy="603504"/>
          </a:xfrm>
          <a:prstGeom prst="ellipse">
            <a:avLst/>
          </a:prstGeom>
          <a:solidFill>
            <a:srgbClr val="CF7143"/>
          </a:solidFill>
          <a:ln w="1778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1828800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対話でプロトタイプ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2週間の宿題 → 半日で動くAPI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6832" y="1883664"/>
            <a:ext cx="603504" cy="603504"/>
          </a:xfrm>
          <a:prstGeom prst="ellipse">
            <a:avLst/>
          </a:prstGeom>
          <a:solidFill>
            <a:srgbClr val="CFAC67"/>
          </a:solidFill>
          <a:ln w="1778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88366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1828800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CLAUDE.md と Skills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規約を一度書けば自動で守られる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5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108959"/>
            <a:ext cx="603504" cy="603504"/>
          </a:xfrm>
          <a:prstGeom prst="ellipse">
            <a:avLst/>
          </a:prstGeom>
          <a:solidFill>
            <a:srgbClr val="7E65D2"/>
          </a:solidFill>
          <a:ln w="1778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0895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054096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Plan mode と TDD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計画してから／テストは8割2割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71215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56832" y="3108959"/>
            <a:ext cx="603504" cy="603504"/>
          </a:xfrm>
          <a:prstGeom prst="ellipse">
            <a:avLst/>
          </a:prstGeom>
          <a:solidFill>
            <a:srgbClr val="46AEA3"/>
          </a:solidFill>
          <a:ln w="1778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108959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3054096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巨大コードの読解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10万行を15分で把握・N+1を特定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96511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4334255"/>
            <a:ext cx="603504" cy="603504"/>
          </a:xfrm>
          <a:prstGeom prst="ellipse">
            <a:avLst/>
          </a:prstGeom>
          <a:solidFill>
            <a:srgbClr val="CF4E74"/>
          </a:solidFill>
          <a:ln w="1778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34255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27939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並列開発と検証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Subagent/worktree＋レビューの儀式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96511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56832" y="4334255"/>
            <a:ext cx="603504" cy="603504"/>
          </a:xfrm>
          <a:prstGeom prst="ellipse">
            <a:avLst/>
          </a:prstGeom>
          <a:solidFill>
            <a:srgbClr val="CF7143"/>
          </a:solidFill>
          <a:ln w="1778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4334255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427939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品質を仕組み化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AIレビュー・hooks・MCP・自動文書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21807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5559551"/>
            <a:ext cx="603504" cy="603504"/>
          </a:xfrm>
          <a:prstGeom prst="ellipse">
            <a:avLst/>
          </a:prstGeom>
          <a:solidFill>
            <a:srgbClr val="7E65D2"/>
          </a:solidFill>
          <a:ln w="1778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55955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5504688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チームへ展開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号令でなく成果の見える化で普及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21807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56832" y="5559551"/>
            <a:ext cx="603504" cy="603504"/>
          </a:xfrm>
          <a:prstGeom prst="ellipse">
            <a:avLst/>
          </a:prstGeom>
          <a:solidFill>
            <a:srgbClr val="CFAC67"/>
          </a:solidFill>
          <a:ln w="1778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555955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8" y="5504688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 </a:t>
            </a: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AIと歩む未来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残るのは問いを立て判断する力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BASICS / 前提キーワード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まず押さえる、基礎の言葉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356616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REST API</a:t>
            </a: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アプリ同士がデータをやり取りする「窓口」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Spring Boot</a:t>
            </a: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Javaでサーバーを手早く作る定番フレームワーク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エンティティ</a:t>
            </a: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DBの1行を表すデータの入れ物（Project等）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CRUD</a:t>
            </a: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作成・読取・更新・削除＝データ操作の4基本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JSON</a:t>
            </a: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アプリ間でデータをやり取りする共通の書式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リファクタリング</a:t>
            </a: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動きを変えずにコードの形を整え直すこと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1A2F3A"/>
          </a:solidFill>
          <a:ln w="13970">
            <a:solidFill>
              <a:srgbClr val="347C7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96128"/>
            <a:ext cx="4206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544068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Java/Spring Bootの工数管理ツールを題材に、第1章から物語が始まる。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INTRO / Claude Codeとは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“補完”ではなく、</a:t>
            </a:r>
            <a:r>
              <a:rPr sz="2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“エージェント”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182B36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57400"/>
            <a:ext cx="621792" cy="621792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2181758"/>
            <a:ext cx="373075" cy="373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4208" y="21305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補完ツール（Copilot等）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800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78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今開いているファイルの「次の1行」を予測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78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エディタの中が主戦場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78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設計・組み立ては人間がやる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178308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6831" y="2057400"/>
            <a:ext cx="621792" cy="621792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90" y="2181758"/>
            <a:ext cx="373075" cy="373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0" y="21305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エージェント（Claude Code）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2880360"/>
            <a:ext cx="4800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78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プロジェクト全体を理解して動く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78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複数ファイルをまたぎ設計→実装→テスト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78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「次にやるべきこと」を考えて実行する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397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_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96128"/>
            <a:ext cx="420624" cy="4206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08760" y="544068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人は「手を動かす係」から「判断する係」へ。これが全章を貫くテーマ。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HOW HE USED IT / 田中さんの“指示”の中身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 Codeに、何をお願いしていた？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難しい専門用語はいらない。“やりたいこと”を日本語で頼むだけ。その指示は、大きく6種類に分けられる。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指示の種類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938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実際の指示（例）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938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これは何をお願いしている？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13432"/>
            <a:ext cx="420624" cy="42062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_ham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" y="2397556"/>
            <a:ext cx="252374" cy="2523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2402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作ってもらう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4069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「Spring BootでAPIの雛形を作って」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ゼロから土台や機能を生成する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66644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2939796"/>
            <a:ext cx="420624" cy="42062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m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" y="3023920"/>
            <a:ext cx="252374" cy="2523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2866644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直す・足す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66644"/>
            <a:ext cx="4069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「hoursに0〜24のチェックを追加して」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66644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既存コードに条件や項目を足す・直す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93008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3566160"/>
            <a:ext cx="420624" cy="42062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_m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" y="3650284"/>
            <a:ext cx="252374" cy="25237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1600" y="349300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調べてもらう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93008"/>
            <a:ext cx="4069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「全体構造を説明して」「原因を特定して」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493008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コードの把握やバグ原因の調査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19372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672" y="4192524"/>
            <a:ext cx="420624" cy="42062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_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" y="4276648"/>
            <a:ext cx="252374" cy="25237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71600" y="4119372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整えてもらう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119372"/>
            <a:ext cx="4069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「統一形式にリファクタして」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119372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動きは変えず形をきれいに整える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45736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4672" y="4818888"/>
            <a:ext cx="420624" cy="42062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" y="4903012"/>
            <a:ext cx="252374" cy="25237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4745736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点検してもらう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745736"/>
            <a:ext cx="4069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「この差分をレビューして」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745736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規約・安全性・テスト漏れをチェック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72100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4672" y="5445252"/>
            <a:ext cx="420624" cy="42062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e_ge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796" y="5529376"/>
            <a:ext cx="252374" cy="25237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71600" y="537210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仕組み化する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372100"/>
            <a:ext cx="4069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「/test」「CLAUDE.md・hooksに登録」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537210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よく使う指示をコマンド化・自動化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/ 二週間の宿題と、先輩の一言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対話でプロトタイプを組み上げる</a:t>
            </a:r>
            <a:r>
              <a:rPr sz="26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　― 課題と手順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課題：「2週間でデモを」。設計→実装→テストを一人で。対話で骨組みから作り、半日で動かした。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雛形を作る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48840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「Spring BootでREST APIの雛形を作って」→ 構成・依存・エンティティ設計を提案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7180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項目を足す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71800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「TimeEntryにdescriptionを追加して」→ Entity/Repository/Service/Controllerを生成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9476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検証を入れる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794760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「hoursに0より大・24以下のバリデーションを」→ アノテーション＋テストを追加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640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61772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形を整える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617720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「レスポンスを統一形式にリファクタして」→ 共通ラッパー＋全Controller一括修正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40680"/>
            <a:ext cx="10927080" cy="822960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62356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08760" y="5440680"/>
            <a:ext cx="9921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5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見積もり 2週間</a:t>
            </a: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18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半日でプロトタイプ完成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/ 用語と学び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覚えておきたい言葉と教訓</a:t>
            </a:r>
            <a:r>
              <a:rPr sz="26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　― 用語・学び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400800" cy="361188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キーワード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9436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CRUD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作成・読取・更新・削除＝データ操作の4基本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H2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お試し用の軽量データベース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バリデーション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入力値が正しいか検査する仕組み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リファクタリング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動きを変えず形を整え直すこと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補完ツール vs エージェント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次の1行 vs 次にやるべきこと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00200"/>
            <a:ext cx="4343400" cy="3611880"/>
          </a:xfrm>
          <a:prstGeom prst="roundRect">
            <a:avLst>
              <a:gd name="adj" fmla="val 5000"/>
            </a:avLst>
          </a:prstGeom>
          <a:solidFill>
            <a:srgbClr val="2B1E25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52360" y="1828800"/>
            <a:ext cx="512064" cy="51206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72" y="1931212"/>
            <a:ext cx="307238" cy="307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2440" y="188366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この章の学び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2514600"/>
            <a:ext cx="38404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75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AIの提案は鵜呑みにせず、自分でレビュー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75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直したい箇所は具体的に指示する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75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設計方針や条件は自分で言語化して渡す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/ 返ってきたレビューと、チームの作法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CLAUDE.md と Skills</a:t>
            </a:r>
            <a:r>
              <a:rPr sz="2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　― 課題と手順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課題：動くが「チームの書き方」ではない。規約を毎回伝えるのは非現実的。ルールそのものをAIに覚えさせる。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6035040" cy="2743200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8600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CLAUDE.md（プロジェクトルートに置く）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670048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## コーディング規約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980944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命名 : lowerCamelCase / UpperCamelCase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291840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例外 : 素のRuntimeException禁止→CustomException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602736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層 : Controller→Service→Repository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913632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DTOとEntityを分離 / 戻り値はOptional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224528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禁止 : println→SLF4J, SQL直書き禁止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103120"/>
            <a:ext cx="4739335" cy="274320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2331720"/>
            <a:ext cx="548640" cy="548640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_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244144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18120" y="2395728"/>
            <a:ext cx="3733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Skills（カスタムコマンド）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3063240"/>
            <a:ext cx="419069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708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/review … 規約・安全性を自動チェック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708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/test … 正常・異常・境界値を生成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708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.claude/commands/ に置きGitで共有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708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$ARGUMENTS に対象ファイル名が入る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10927080" cy="822960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25780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074920"/>
            <a:ext cx="9921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5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毎回ルールを説明</a:t>
            </a: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18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最初から規約どおり・指摘が激減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/ 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CLAUDE.md の読み込みと書き方</a:t>
            </a:r>
            <a:r>
              <a:rPr sz="2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　― 仕組み・コラム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配置と読み込み優先順位（深い階層ほど優先・マージ適用）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760720" cy="603504"/>
          </a:xfrm>
          <a:prstGeom prst="roundRect">
            <a:avLst>
              <a:gd name="adj" fmla="val 14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39495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~/CLAUDE.md</a:t>
            </a:r>
            <a:r>
              <a:rPr sz="10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   ユーザー全体の共通設定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78608"/>
            <a:ext cx="5257800" cy="603504"/>
          </a:xfrm>
          <a:prstGeom prst="roundRect">
            <a:avLst>
              <a:gd name="adj" fmla="val 14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78608"/>
            <a:ext cx="4892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&lt;root&gt;/CLAUDE.md</a:t>
            </a:r>
            <a:r>
              <a:rPr sz="10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   プロジェクト共通の規約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328416"/>
            <a:ext cx="4754879" cy="603504"/>
          </a:xfrm>
          <a:prstGeom prst="roundRect">
            <a:avLst>
              <a:gd name="adj" fmla="val 14000"/>
            </a:avLst>
          </a:prstGeom>
          <a:solidFill>
            <a:srgbClr val="CF7143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328416"/>
            <a:ext cx="43891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&lt;subdir&gt;/CLAUDE.md</a:t>
            </a:r>
            <a:r>
              <a:rPr sz="10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   モジュール固有・最優先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共有 = CLAUDE.md（Git管理）／個人 = CLAUDE.local.md（.gitignore）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783080"/>
            <a:ext cx="4937760" cy="3246120"/>
          </a:xfrm>
          <a:prstGeom prst="roundRect">
            <a:avLst>
              <a:gd name="adj" fmla="val 6000"/>
            </a:avLst>
          </a:prstGeom>
          <a:solidFill>
            <a:srgbClr val="2B27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99339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効果的な書き方 4つのコツ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606040"/>
            <a:ext cx="4434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75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良い例・悪い例を必ず添える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75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禁止事項には「理由」も書く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75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技術スタック・全体構成を先頭に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75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A4で1〜2ページに短く保つ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352F2E"/>
          </a:solidFill>
          <a:ln w="1397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96128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544068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CLAUDE.mdは“AIのための文章”であり、人の暗黙知の言語化・新人資料にもなる。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/ 用語と学び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チームの作法を支える言葉</a:t>
            </a:r>
            <a:r>
              <a:rPr sz="2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　― 用語・学び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400800" cy="361188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943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CLAUDE.md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規約を書く申し送り書。起動時に自動読込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CLAUDE.local.md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個人用設定。Git共有しない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CustomException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自作例外。種類ごとにHTTPコードを切替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Optional型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「値が無いかも」を安全に表す入れ物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DTOとEntityの分離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外向きの形とDBの形を分け内部を隠す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Skills / $ARGUMENTS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定型指示を/コマンド化／引数の差込口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00200"/>
            <a:ext cx="4343400" cy="3611880"/>
          </a:xfrm>
          <a:prstGeom prst="roundRect">
            <a:avLst>
              <a:gd name="adj" fmla="val 5000"/>
            </a:avLst>
          </a:prstGeom>
          <a:solidFill>
            <a:srgbClr val="2B27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0" y="1828800"/>
            <a:ext cx="512064" cy="51206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72" y="1931212"/>
            <a:ext cx="307238" cy="307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188366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この章の学び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514600"/>
            <a:ext cx="38404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CLAUDE.md書きは暗黙知の言語化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全体ルールは共有、好みはローカルに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禁止は理由まで書いて初めて効く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ルールで教え、Skillsで定型化する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/ いきなり書かせない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Plan mode で計画してから走る</a:t>
            </a:r>
            <a:r>
              <a:rPr sz="2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　― 課題と手順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課題：本番品質へ。でもテストがほぼゼロ。一人で全部書くと膨大。まず計画を立てる。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252143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Plan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Shift+Tab 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計画を立てる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25420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A186FD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214884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1A2F3A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1648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269748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計画をレビュー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971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して承認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6" y="25420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A186FD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3216" y="2148840"/>
            <a:ext cx="3063240" cy="1234440"/>
          </a:xfrm>
          <a:prstGeom prst="roundRect">
            <a:avLst>
              <a:gd name="adj" fmla="val 8000"/>
            </a:avLst>
          </a:prstGeom>
          <a:solidFill>
            <a:srgbClr val="352327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実行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69748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承認どおりに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2971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実装する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10927080" cy="1234440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9624"/>
            <a:ext cx="10469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あなた（Plan modeで）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3784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このプロトタイプを本番品質にする改善計画を立てて。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設計の問題点・テストの優先順位・リファクタの順序を整理して。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1208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397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367528"/>
            <a:ext cx="42062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8760" y="521208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AIは問題点を3分類し、優先順位（中核ロジックのテストが最優先）まで提案。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/ 8割2割の法則と用語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テストはAIと分業する</a:t>
            </a:r>
            <a:r>
              <a:rPr sz="2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　― 仕組み・学び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8741664" cy="502920"/>
          </a:xfrm>
          <a:prstGeom prst="roundRect">
            <a:avLst>
              <a:gd name="adj" fmla="val 30000"/>
            </a:avLst>
          </a:prstGeom>
          <a:solidFill>
            <a:srgbClr val="54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36608" y="1691640"/>
            <a:ext cx="2130551" cy="502920"/>
          </a:xfrm>
          <a:prstGeom prst="roundRect">
            <a:avLst>
              <a:gd name="adj" fmla="val 4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87416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80% そのまま使える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608" y="1691640"/>
            <a:ext cx="213055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72733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8割：AIに任せられる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9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CRUDの正常系・異常系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9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null/空文字/型不一致の検証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9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明示的な境界値・FW定型パターン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231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2B1E25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2割：人が判断して直す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3580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9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業務固有ルール（工数0.5h刻み等）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9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コードに無い暗黙の前提条件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9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複数条件が絡むエッジケース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JUnit5 / Mockito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テスト用フレームワーク／ニセモノ部品で対象を切り出す道具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397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367528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521208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AIが量を、人が質を。「計画→テスト→実装」はTDDの変形になる。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/ 十万行の地図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巨大コードを15分で把握する</a:t>
            </a:r>
            <a:r>
              <a:rPr sz="26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　― 課題と手順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課題：前任者はいない。800ファイル以上・10万行。2時間読んでも全体像は霧の中。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49240" cy="1371600"/>
          </a:xfrm>
          <a:prstGeom prst="roundRect">
            <a:avLst>
              <a:gd name="adj" fmla="val 10000"/>
            </a:avLst>
          </a:prstGeom>
          <a:solidFill>
            <a:srgbClr val="182B36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❯ 全体把握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006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このリポジトリの全体構造を説明して。主要パッケージ・エントリーポイント・データフロー・ドメインモデルを図示して。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11880"/>
            <a:ext cx="5349240" cy="1371600"/>
          </a:xfrm>
          <a:prstGeom prst="roundRect">
            <a:avLst>
              <a:gd name="adj" fmla="val 10000"/>
            </a:avLst>
          </a:prstGeom>
          <a:solidFill>
            <a:srgbClr val="301A2E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58184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❯ バグ調査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006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（スタックトレースを貼付）原因を特定して。関連コードを探索し、修正案を提示。修正後テストも実行して。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349240" cy="292608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286000"/>
            <a:ext cx="530352" cy="530352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392070"/>
            <a:ext cx="318211" cy="3182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23408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Claude Code の動き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97180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パッケージ構成・API一覧・関連図を生成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コードから規約を逆引きしCLAUDE.md化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追跡の末に N+1クエリ問題を特定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JOIN FETCH/@EntityGraph 修正を提案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テスト実行・影響範囲確認まで委任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927080" cy="822960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39496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8760" y="5212080"/>
            <a:ext cx="9921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5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全体把握に2時間以上＋調査</a:t>
            </a: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18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把握15分・原因特定は1分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/ 用語と学び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巨大コード読解の言葉</a:t>
            </a:r>
            <a:r>
              <a:rPr sz="26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　― 用語・学び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400800" cy="361188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943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スタックトレース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エラーに至った処理の道筋（足跡）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N+1クエリ問題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一覧取得後、件数ぶんSQLが爆発する性能問題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JOIN FETCH/@EntityGraph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関連を1回でまとめ取りしN+1を防ぐ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ドメインモデル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業務上の“もの”をコードで表す中心構造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レイヤードアーキテクチャ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Controller→Service→Repositoryの層構成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逆引き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コードから規約を読み取り文章化する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00200"/>
            <a:ext cx="4343400" cy="3611880"/>
          </a:xfrm>
          <a:prstGeom prst="roundRect">
            <a:avLst>
              <a:gd name="adj" fmla="val 5000"/>
            </a:avLst>
          </a:prstGeom>
          <a:solidFill>
            <a:srgbClr val="172733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0" y="1828800"/>
            <a:ext cx="512064" cy="51206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72" y="1931212"/>
            <a:ext cx="307238" cy="307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188366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この章の学び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514600"/>
            <a:ext cx="38404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まず「全体構造を説明して」から始める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バグはスタックトレースを貼るだけ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テスト実行やログ確認もAIに委任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地図は信じきらず自分の足で確かめる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/ 並列で挑む大規模リファクタ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Subagent と git worktree</a:t>
            </a:r>
            <a:r>
              <a:rPr sz="26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　― 課題と手順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課題：数十ファイルのリファクタを2週間で。一人では重い。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4884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git worktree（作業場を分ける）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514600"/>
            <a:ext cx="4882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git worktree add ../proj-refactor 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807208"/>
            <a:ext cx="4882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    feature/refactor-order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099816"/>
            <a:ext cx="4882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# 別ディレクトリ＝別ブランチで同時作業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486400" cy="1325880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3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93776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OrderServiceを段階的にリファクタして。①影響範囲分析②インターフェース統一③実装整理。各段階を報告して。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65960"/>
            <a:ext cx="5212080" cy="2926080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2194560"/>
            <a:ext cx="530352" cy="530352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_h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470" y="2300630"/>
            <a:ext cx="318211" cy="3182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69480" y="22494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AI出力レビューの5チェック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88036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78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変更範囲は指示どおりか（スコープ）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78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意図しないシグネチャ変更はないか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78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対象外モジュールへの影響は（grep）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78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1コミット=1変更になっているか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78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CLAUDE.mdの規約に沿っているか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20640"/>
            <a:ext cx="10927080" cy="822960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_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30352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120640"/>
            <a:ext cx="9921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5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リファクタ中の緊急対応</a:t>
            </a: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18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worktreeで別作業場・hotfixを並行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/ 仕組みと学び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並列の力と、レビューの線引き</a:t>
            </a:r>
            <a:r>
              <a:rPr sz="26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　― 仕組み・学び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512064" cy="51206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" y="1931212"/>
            <a:ext cx="307238" cy="3072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36192" y="188366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Subagent（Task tool）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内部で別エージェントを並列起動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影響範囲分析・テスト生成を同時進行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指示外の影響まではカバーしない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1828800"/>
            <a:ext cx="512064" cy="51206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2" y="1931212"/>
            <a:ext cx="307238" cy="3072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14032" y="188366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git worktree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1リポジトリを複数フォルダに同時展開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フォルダごとに別ブランチを操作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stashの戻し忘れ事故から解放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シグネチャ / Optional&lt;T&gt;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メソッドの顔つき（名前・引数・戻り値）／包み方が食い違うと実行時に壊れる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7492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351C30"/>
          </a:solidFill>
          <a:ln w="13970">
            <a:solidFill>
              <a:srgbClr val="933A5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h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230368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507492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Subagent・worktreeは“AIチームメンバー”。だがレビューだけは怠らない。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/ AIのコードはAIにレビューさせる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品質を仕組み化する</a:t>
            </a:r>
            <a:r>
              <a:rPr sz="26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　― 課題と手順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課題：チームのAI生成PRが積み上がり、レビューが追いつかない。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852160" cy="1783080"/>
          </a:xfrm>
          <a:prstGeom prst="roundRect">
            <a:avLst>
              <a:gd name="adj" fmla="val 10000"/>
            </a:avLst>
          </a:prstGeom>
          <a:solidFill>
            <a:srgbClr val="221E3F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❯ AIレビュー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30352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このPRの差分をレビューして。①セキュリティ②過剰な複雑さ③テスト漏れ④CLAUDE.md違反⑤性能。該当コードと改善案をセットで。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852160" cy="868680"/>
          </a:xfrm>
          <a:prstGeom prst="roundRect">
            <a:avLst>
              <a:gd name="adj" fmla="val 8000"/>
            </a:avLst>
          </a:prstGeom>
          <a:solidFill>
            <a:srgbClr val="221E3F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5394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→ 機械的チェックはAIが処理。人は設計判断に集中し、レビュー時間は半分以下に。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057400"/>
            <a:ext cx="4846320" cy="283464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2402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さらに自動生成も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788920"/>
            <a:ext cx="4297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69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MCPでJira連携→PR説明を自動生成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69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README を生成（API一覧・設定・依存）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69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API仕様書を生成（型・例・curl）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69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/update-docs で文書を最新化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10927080" cy="822960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2578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5074920"/>
            <a:ext cx="9921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5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PRレビューが時間を溶かす</a:t>
            </a: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18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AIが一次フィルタ・レビュー半減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/ 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hooks ― 品質の自動ゲート</a:t>
            </a:r>
            <a:r>
              <a:rPr sz="26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　― 仕組み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943600" cy="3246120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28800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8A4C"/>
                </a:solidFill>
                <a:latin typeface="Consolas"/>
                <a:ea typeface="Consolas"/>
                <a:cs typeface="Consolas"/>
              </a:rPr>
              <a:t>.claude/settings.json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1214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"hooks":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500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  "PreToolUse": [{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5786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9BAD0"/>
                </a:solidFill>
                <a:latin typeface="Consolas"/>
                <a:ea typeface="Consolas"/>
                <a:cs typeface="Consolas"/>
              </a:rPr>
              <a:t>    "matcher": "Bash",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8072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    "hooks": [{ "type": "command",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0358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      "command": "pre-commit-check.sh" 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2644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  }],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4930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  "PostToolUse": [{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7216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9BAD0"/>
                </a:solidFill>
                <a:latin typeface="Consolas"/>
                <a:ea typeface="Consolas"/>
                <a:cs typeface="Consolas"/>
              </a:rPr>
              <a:t>    "matcher": "Write|Edit",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9502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    "hooks": [{ "type": "command",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1788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      "command": "format-java.sh" }]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4074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  }]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636008"/>
            <a:ext cx="534009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1645920"/>
            <a:ext cx="4830775" cy="32461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1828800"/>
            <a:ext cx="4282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フックポイント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2331720"/>
            <a:ext cx="42821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PreToolUse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実行前。lint/テスト/静的解析。終了コード2でブロック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PostToolUse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実行後。自動フォーマット・import整理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3749039"/>
            <a:ext cx="4282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matcher は対象ツール名（正規表現可）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69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settings.json をGit共有で全員に同じ関所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352327"/>
          </a:solidFill>
          <a:ln w="13970">
            <a:solidFill>
              <a:srgbClr val="935338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_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276088"/>
            <a:ext cx="42062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8760" y="512064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hooksは“CI/CDのローカル版”。コミット前に機械的な問題を自動で潰す。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/ 7つのピースと学び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個人技を“チームの仕組み”へ</a:t>
            </a:r>
            <a:r>
              <a:rPr sz="26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　― コラム・学び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CLAUDE.md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691640"/>
            <a:ext cx="1143000" cy="502920"/>
          </a:xfrm>
          <a:prstGeom prst="roundRect">
            <a:avLst>
              <a:gd name="adj" fmla="val 25000"/>
            </a:avLst>
          </a:prstGeom>
          <a:solidFill>
            <a:srgbClr val="CF7143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691640"/>
            <a:ext cx="1143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Plan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69164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916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Subagent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1143000" cy="502920"/>
          </a:xfrm>
          <a:prstGeom prst="roundRect">
            <a:avLst>
              <a:gd name="adj" fmla="val 25000"/>
            </a:avLst>
          </a:prstGeom>
          <a:solidFill>
            <a:srgbClr val="CF4E74"/>
          </a:solidFill>
          <a:ln w="1270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1143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hooks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91640"/>
            <a:ext cx="1143000" cy="50292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691640"/>
            <a:ext cx="1143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9164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916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ドキュメント生成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→ 組み合わさると「個人のAIスキル」が「チームの開発プロセス」へ昇華する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26080"/>
            <a:ext cx="6400800" cy="228600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54680"/>
            <a:ext cx="5943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hooks / 品質ゲート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実行前後の自動チェック＝通らないと進めない関所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MCP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Jira等の外部ツールとClaude Codeをつなぐ接続口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オーバーエンジニアリング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要件に対し作り込み・複雑にしすぎた状態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926080"/>
            <a:ext cx="4343400" cy="2286000"/>
          </a:xfrm>
          <a:prstGeom prst="roundRect">
            <a:avLst>
              <a:gd name="adj" fmla="val 5000"/>
            </a:avLst>
          </a:prstGeom>
          <a:solidFill>
            <a:srgbClr val="2B1E25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31272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この章の学び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361188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6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AIが一次フィルタ、人は設計判断へ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6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hooksでレビュー前に問題を潰す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6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MCPで開発エコシステムのハブに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66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機能でなく“ワークフロー”で設計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/ 号令ではなく、開発ログ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見える化でチームに広げる</a:t>
            </a:r>
            <a:r>
              <a:rPr sz="2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　― 課題と手順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課題：「便利だから使って」では人は動かない。号令は反発を招いた。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530352" cy="530352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spe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392070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23408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#ai-dev-log に淡々と投稿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301A2E"/>
          </a:solidFill>
          <a:ln w="12700">
            <a:solidFill>
              <a:srgbClr val="873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17520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バグ修正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2時間 → 30分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182B36"/>
          </a:solidFill>
          <a:ln w="12700">
            <a:solidFill>
              <a:srgbClr val="31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621024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テスト生成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21024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1日 → 2時間（20/24本流用）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24528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224528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リファクタ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24528"/>
            <a:ext cx="29260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見積4週間 → 2週間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0574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2286000"/>
            <a:ext cx="530352" cy="530352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392070"/>
            <a:ext cx="318211" cy="31821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23760" y="234086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避けたい3アンチパターン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97180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強制導入：号令で義務化→反発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ツール信仰：万能視→得意苦手を無視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19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セキュリティ無視：指針なしは危険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10927080" cy="822960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_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303520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08760" y="5120640"/>
            <a:ext cx="9921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5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正面から「使って」→ 無反応</a:t>
            </a: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18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3週間でチーム半数が自走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/ 仕組みと学び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セキュリティ指針と Agent Teams</a:t>
            </a:r>
            <a:r>
              <a:rPr sz="2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　― 仕組み・学び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172733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530352" cy="530352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934870"/>
            <a:ext cx="318211" cy="318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188366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セキュリティ指針 3点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678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禁止事項を明確に（個人情報・APIキー・本番接続）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678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フローを定義（認証系は2名レビュー・出典明記）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678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13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インシデント対応を想定（即報告→鍵ローテ）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105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Subagent と Agent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3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Subagent</a:t>
            </a:r>
            <a:r>
              <a:rPr sz="113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3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同種タスクを並列実行。親→子の一方向。「5クラスのテストを同時生成」など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3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Agent Teams</a:t>
            </a:r>
            <a:r>
              <a:rPr sz="113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3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役割分担（調査/実装/テスト）で協働。依存や情報共有がある仕事向け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397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_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27448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457200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技術導入は仕組みと文化の両輪。押しつけず、成果で示し、安心して使える環境を。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/ AIと歩む未来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変わるもの、人に残るもの</a:t>
            </a:r>
            <a:r>
              <a:rPr sz="2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　― 価値とツール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302126"/>
          </a:solidFill>
          <a:ln w="12700">
            <a:solidFill>
              <a:srgbClr val="FF8A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コードを書く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27" y="20574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301A2E"/>
          </a:solidFill>
          <a:ln w="12700">
            <a:solidFill>
              <a:srgbClr val="FF5E8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470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コードを読む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957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7" y="20574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46AEA3"/>
          </a:solidFill>
          <a:ln w="20320">
            <a:solidFill>
              <a:srgbClr val="54D6C4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8470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↑ </a:t>
            </a:r>
            <a:r>
              <a:rPr sz="1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構造を見る力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957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最後まで残る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ツール使い分け（2026）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10927080" cy="457200"/>
          </a:xfrm>
          <a:prstGeom prst="roundRect">
            <a:avLst>
              <a:gd name="adj" fmla="val 8000"/>
            </a:avLst>
          </a:prstGeom>
          <a:solidFill>
            <a:srgbClr val="141F2D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GitHub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61188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日常のコード補完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23944"/>
            <a:ext cx="10927080" cy="457200"/>
          </a:xfrm>
          <a:prstGeom prst="roundRect">
            <a:avLst>
              <a:gd name="adj" fmla="val 8000"/>
            </a:avLst>
          </a:prstGeom>
          <a:solidFill>
            <a:srgbClr val="221628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Cursor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123944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UIベースの対話的編集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36008"/>
            <a:ext cx="10927080" cy="457200"/>
          </a:xfrm>
          <a:prstGeom prst="roundRect">
            <a:avLst>
              <a:gd name="adj" fmla="val 8000"/>
            </a:avLst>
          </a:prstGeom>
          <a:solidFill>
            <a:srgbClr val="282348"/>
          </a:solidFill>
          <a:ln w="2032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3600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636008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深い対話・設計・自動化の主役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48072"/>
            <a:ext cx="10927080" cy="457200"/>
          </a:xfrm>
          <a:prstGeom prst="roundRect">
            <a:avLst>
              <a:gd name="adj" fmla="val 8000"/>
            </a:avLst>
          </a:prstGeom>
          <a:solidFill>
            <a:srgbClr val="221F27"/>
          </a:solidFill>
          <a:ln w="12700">
            <a:solidFill>
              <a:srgbClr val="2C2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4807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Web版 Claude等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148072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一般的な調べもの・概念理解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/ 残る力と結び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ツールが変わっても残るもの</a:t>
            </a:r>
            <a:r>
              <a:rPr sz="2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　― 学び・結び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02152" cy="182880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1972" y="1920240"/>
            <a:ext cx="658368" cy="658368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645" y="2051913"/>
            <a:ext cx="395020" cy="395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269748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問いを立てる力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9067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何を必要とするかを明確に指示できる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91640"/>
            <a:ext cx="3502152" cy="182880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4436" y="1920240"/>
            <a:ext cx="658368" cy="658368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ey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09" y="2051913"/>
            <a:ext cx="395020" cy="3950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5424" y="269748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品質を判断する力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9067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出力が本当に正しいかを評価できる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502152" cy="182880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86900" y="1920240"/>
            <a:ext cx="658368" cy="658368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mus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573" y="2051913"/>
            <a:ext cx="395020" cy="3950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7888" y="269748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責任を持つ覚悟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09067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何を作るか・品質に責任を持つ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10927080" cy="96012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94760"/>
            <a:ext cx="10927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エンジニアの価値 ＝ </a:t>
            </a:r>
            <a:r>
              <a:rPr sz="16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手を動かす力</a:t>
            </a:r>
            <a:r>
              <a:rPr sz="18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 × </a:t>
            </a:r>
            <a:r>
              <a:rPr sz="1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AIを使う力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352F2E"/>
          </a:solidFill>
          <a:ln w="1397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_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184648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08760" y="502920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AIは道具ではなく“協働”相手。人が問いを立て、AIが手を動かし、人が判断する。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RECAP / 半年の総復習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8章の学びを一気に振り返る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F7143"/>
          </a:solidFill>
          <a:ln w="1651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AIは“もう一人のエンジニア”。設計から協働、最終判断は人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CFAC67"/>
          </a:solidFill>
          <a:ln w="1651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1284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CLAUDE.mdとSkillsで、AIへのオンボーディングが品質を変える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79776"/>
            <a:ext cx="457200" cy="457200"/>
          </a:xfrm>
          <a:prstGeom prst="ellipse">
            <a:avLst/>
          </a:prstGeom>
          <a:solidFill>
            <a:srgbClr val="7E65D2"/>
          </a:solidFill>
          <a:ln w="1651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79776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Plan modeで計画。テストは量をAIに、判断を人に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46AEA3"/>
          </a:solidFill>
          <a:ln w="1651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4670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巨大コードも探索・デバッグを任せ、人は判断に集中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CF4E74"/>
          </a:solidFill>
          <a:ln w="1651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13632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Subagent/worktreeで並列。だが“信頼と検証”の線引き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CF7143"/>
          </a:solidFill>
          <a:ln w="1651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80560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hooks・MCPで、個人の技をチームの仕組みへ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047488"/>
            <a:ext cx="457200" cy="457200"/>
          </a:xfrm>
          <a:prstGeom prst="ellipse">
            <a:avLst/>
          </a:prstGeom>
          <a:solidFill>
            <a:srgbClr val="7E65D2"/>
          </a:solidFill>
          <a:ln w="1651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474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4748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導入は押しつけず成果で示す。自走を促す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614416"/>
            <a:ext cx="457200" cy="457200"/>
          </a:xfrm>
          <a:prstGeom prst="ellipse">
            <a:avLst/>
          </a:prstGeom>
          <a:solidFill>
            <a:srgbClr val="CFAC67"/>
          </a:solidFill>
          <a:ln w="1651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144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614416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　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問いを立て品質を判断する力は残る。原則は不変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GLOSSARY 1 / 用語集（基盤・ワークフロー）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 Code 運用の言葉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40680" cy="361188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CLAUDE.md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規約を書く申し送り書。起動時に自動読込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CLAUDE.local.md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個人用設定。Git共有しない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Skills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定型指示を /名前 で呼ぶ仕組み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$ARGUMENTS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コマンド引数の差込口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Plan mode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実装せず分析・計画だけ（Shift+Tab）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49240" cy="361188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Subagent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内部で別エージェントを並列起動する機能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git worktree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1リポジトリを複数フォルダ＝別ブランチで開く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hooks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ツール実行の前後に処理を割り込ませる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MCP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外部ツール（Jira等）とつなぐ接続口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Agent Teams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役割分担した複数AIが協働する仕組み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GLOSSARY 2 / 用語集（技術・設計）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コードと品質の言葉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40680" cy="361188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CRUD / REST API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データ操作の4基本／アプリ間の窓口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DTOとEntityの分離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外向きの形とDBの形を分け内部を隠す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Optional型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「値が無いかも」を安全に表す入れ物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正常系/異常系/境界値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成功・失敗・ぎりぎりの値を試す観点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JUnit5 / Mockito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テストFW／ニセモノ部品で切り出す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49240" cy="361188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N+1クエリ問題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一覧後に件数ぶんSQLが爆発する性能問題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JOIN FETCH/@EntityGraph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関連を1回で取りN+1を防ぐ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Checkstyle / format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規約検査／自動整形ツール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PreToolUse/PostToolUse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ツール実行の前/後に走るフック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8割/2割法則</a:t>
            </a:r>
            <a:r>
              <a:rPr sz="12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AIテストは8割流用・2割を人が修正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WORKFLOW / 7つのピース早見表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いつ・何を使うか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700784"/>
            <a:ext cx="457200" cy="45720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92224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627632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27632"/>
            <a:ext cx="6217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規約・方針をAIに教える（第2章）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04288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377440"/>
            <a:ext cx="457200" cy="457200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46888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8760" y="2304288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304288"/>
            <a:ext cx="6217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定型作業を/コマンド化（第2章）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80944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054096"/>
            <a:ext cx="457200" cy="45720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145536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2980944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Plan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80944"/>
            <a:ext cx="6217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大きな変更前に計画を練る（第3章）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3730752"/>
            <a:ext cx="457200" cy="45720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_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822191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08760" y="3657600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Subagent / worktree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657600"/>
            <a:ext cx="6217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並列実装・同時作業（第4-5章）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34256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" y="4407408"/>
            <a:ext cx="457200" cy="45720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_g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498848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" y="4334256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334256"/>
            <a:ext cx="6217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コミット前後の品質ゲート（第6章）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10912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" y="5084064"/>
            <a:ext cx="457200" cy="45720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e_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517550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08760" y="5010912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5010912"/>
            <a:ext cx="6217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外部ツール連携（第6章）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687568"/>
            <a:ext cx="10927080" cy="603504"/>
          </a:xfrm>
          <a:prstGeom prst="roundRect">
            <a:avLst>
              <a:gd name="adj" fmla="val 10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" y="5760720"/>
            <a:ext cx="457200" cy="45720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e_scro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5852160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08760" y="5687568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ドキュメント生成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687568"/>
            <a:ext cx="6217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README/API仕様を自動化（第6章）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CHEAT SHEET / コマンド早見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よく使う操作・コマンド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28800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8A4C"/>
                </a:solidFill>
                <a:latin typeface="Consolas"/>
                <a:ea typeface="Consolas"/>
                <a:cs typeface="Consolas"/>
              </a:rPr>
              <a:t>操作・コマンド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157984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Shift+Tab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23160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  Plan mode の切り替え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688336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/review &lt;file&gt;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53512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  規約・安全性をAIレビュー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18688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/test &lt;target&gt;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83864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  正常/異常/境界のテスト生成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749039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git worktree add &lt;path&gt; &lt;branch&gt;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14216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  別ブランチを別フォルダで開く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279392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claude mcp add &lt;name&gt; -- &lt;cmd&gt;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44568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  MCPサーバーを登録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5257800" cy="3291840"/>
          </a:xfrm>
          <a:prstGeom prst="roundRect">
            <a:avLst>
              <a:gd name="adj" fmla="val 5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470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置き場所の早見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4754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CLAUDE.md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プロジェクトルート（チーム共有）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CLAUDE.local.md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.gitignore（個人用）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.claude/commands/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Skills（カスタムコマンド）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.claude/settings.json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hooks（品質ゲート）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~/.claude/</a:t>
            </a: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  —  </a:t>
            </a: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全プロジェクト共通の個人設定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PRINCIPLES / 共通原則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ツールが変わっても、変わらない3つ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2B1E25"/>
          </a:solidFill>
          <a:ln w="12700">
            <a:solidFill>
              <a:srgbClr val="935338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20240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" y="2040940"/>
            <a:ext cx="362102" cy="362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40" y="18836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「何を作るか」は人間が決める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0428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ドメインとユーザーを理解している人だけが決められる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39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172733"/>
          </a:solidFill>
          <a:ln w="12700">
            <a:solidFill>
              <a:srgbClr val="347C7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017520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ey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" y="3138220"/>
            <a:ext cx="362102" cy="362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298094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AIの出力は必ずレビューする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0156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そのままコミットしない。diffを見て判断する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2B272A"/>
          </a:solidFill>
          <a:ln w="1270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114800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m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" y="4235500"/>
            <a:ext cx="362102" cy="3621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407822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ルールはCLAUDE.mdで言語化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4988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チームの暗黙知を明文化し、AIと人で共有する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27080" cy="731520"/>
          </a:xfrm>
          <a:prstGeom prst="roundRect">
            <a:avLst>
              <a:gd name="adj" fmla="val 14000"/>
            </a:avLst>
          </a:prstGeom>
          <a:solidFill>
            <a:srgbClr val="1A2F3A"/>
          </a:solidFill>
          <a:ln w="13970">
            <a:solidFill>
              <a:srgbClr val="347C7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367528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212080"/>
            <a:ext cx="9921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学び　</a:t>
            </a: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 ＝ ツール × 人間の判断。世代交代を超えて機能する基本原則。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itle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1234440"/>
            <a:ext cx="5852160" cy="941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4884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復習はここまで。あとは、手を動かして確かめるだけ。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71800"/>
            <a:ext cx="3502152" cy="155448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80260" y="3191256"/>
            <a:ext cx="621792" cy="621792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618" y="3315614"/>
            <a:ext cx="373075" cy="373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388620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① 計画から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2153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Shift+Tab で段取りを立てる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971800"/>
            <a:ext cx="3502152" cy="155448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92724" y="3191256"/>
            <a:ext cx="621792" cy="621792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082" y="3315614"/>
            <a:ext cx="373075" cy="373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5424" y="388620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② ルールを置く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2153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CLAUDE.md にチームの約束を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971800"/>
            <a:ext cx="3502152" cy="155448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5188" y="3191256"/>
            <a:ext cx="621792" cy="621792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ey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546" y="3315614"/>
            <a:ext cx="373075" cy="373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7888" y="388620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③ 必ずレビュー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2153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diffを見て自分で判断する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D479"/>
                </a:solidFill>
                <a:latin typeface="Yu Mincho"/>
                <a:ea typeface="Yu Mincho"/>
                <a:cs typeface="Yu Mincho"/>
              </a:rPr>
              <a:t>まずは、対話から。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