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本日は『ストーリーで学ぶ Claude Code』20分版です。新人エンジニア・田中さんがAIの開発パートナー Claude Code と出会い、半年でチームの開発を変えていく物語を、実際のプロンプト例も交えてご紹介します。Claude Code を使ったことがない方にこそ、“今日から試してみたい”と思っていただける構成です。途中、よくある不安へのQ&amp;Aや、セキュリティとチーム運用の話も用意しています。それでは、夕暮れのオフィスから物語を始め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です。物語は8章構成。第1章から3章は“個人として使いこなす”段階、第4章から6章は“大規模なコードとチームの品質”、第7・8章は“チームへの広げ方とこれからのエンジニア像”を扱います。今回は要所で、実際にどう話しかけるとどう返ってくるかの“実演”スライドを挟みます。さらに導入の不安へのQ&amp;Aと、セキュリティ・チーム運用も。気になる章だけでも、きっと試したくなるは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語の登場人物です。主人公は若手エンジニアの田中優太さん。彼が『2週間でデモを』という無茶ぶりを受けるところから半年の物語が始まります。そばで導くのが先輩の佐藤美咲さん。要所でヒントをくれるメンター役です。そして、無茶ぶりとセキュリティの懸念を投げかける高橋部長、本番化・運用を託す河野PM。この4人の関係に注目しながら聞くと、技術の話がぐっと自分ごと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 Claude Code とは何か。よくある“コード補完”との違いがポイントです。補完ツールは次の一行を提案してくれますが、組み立てるのは人間。一方 Claude Code は“エージェント”。やりたいことを日本語で伝えると、複数のファイルをまたいで、設計から実装・テスト・修正までを自分で進めます。人間は手を動かす係から、“判断する係”に変わる。ここがこの物語全体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第1章。田中さんは部長から『2週間でデモを』と無茶な宿題を受けます。設計の入口で固まっていたところに、先輩の佐藤さんが『Claude Code は試した？』と。使い方はこの4ステップ。雛形を作り、項目を足し、検証を入れ、形を整える。すべて日本語の対話で進み、提案を見て一箇所だけ直す、というキャッチボール。結果、2週間の見積もりが半日で動くプロトタイプに。次のスライドで、実際にどう話しかけたのかを見てみ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第1章の実演です。左が実際に田中さんが打った日本語の指示。たったこれだけです。『雛形を作って』『項目を追加して』『バリデーションを足して』。右がClaude Codeの動き。一つの依頼で、エンティティからコントローラまで複数ファイルを横断して生成・修正し、テストまで書いてくれます。大事なのは、出てきた提案を見て一箇所だけ直す、というキャッチボール。全自動の丸投げではなく、人の意思が反映される。だから安心して使え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第1章で自信満々に出したコードに、レビューは“規約に沿っていない”の嵐。そこで登場するのが CLAUDE.md。命名や例外処理、層構成といったチームの約束を一枚にまとめて置いておくと、Claude Code が起動時に自動で読み込み、最初からルール通りに書いてくれます。さらに Skills を使えば、/review や /test の一言で定型作業が完了。次のスライドで、その使い方をもう少し具体的に見ます。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Skills、いわゆるカスタムコマンドの実演です。左のように /review とファイル名を打つだけで、規約・エラー処理・セキュリティ・性能・テスト容易性の5観点を自動でレビュー。/test なら正常系・異常系・境界値のテストを生成します。種明かしが右で、コマンドの中身はただのMarkdownファイル。よく使う指示文を書き、$ARGUMENTS に対象を受け取るだけ。これをGitで共有すれば、チーム全員が同じ品質のレビューを一発で呼び出せます。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第3章のテーマは“段取り”。プロトタイプを本番品質にするには大量のテストが要る。ここで Plan mode の出番です。Shift+Tab で切り替えると、AIはいきなり書かず、左のように頼めば、まず計画と優先順位を提案します。そしてテストを量産。面白いのが右の8割2割の法則で、生成テストの8割はそのまま使え、残り2割だけ業務知識で人が直す。AIが量、人が質。この分担で、数週間の作業が1週間に縮み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章は“他人の巨大コード”との格闘。前任者が辞め、800ファイル以上・10万行を引き継ぐことに。2時間読んでも全体像はつかめない。そこで『全体構造を説明して』。するとパッケージ構成やAPI一覧が地図のように描かれ、15分で頭に入りました。さらに本番のタイムアウト障害も、スタックトレースを貼るだけで“N+1クエリ”と即特定。1リクエストが裏で大量のクエリを呼ぶ典型バグです。次で実演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章の実演です。やることは本当にシンプル。左のように『全体構造を説明して』と聞くだけで、巨大なコードの地図が手に入ります。バグ調査も、エラーのスタックトレースをそのまま貼り付けて『原因は？』と聞くだけ。右のように、怪しい箇所を絞り込んでN+1クエリだと特定し、直し方まで提案します。未知のコードでも、全部読まずに、地図を片手に必要な所だけ深掘りできる。引き継ぎや既存システムの保守が一気に楽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第5章は“速さ”の章であり、“落とし穴”の章でもあります。Subagent で複数タスクを手分けし、git worktree で作業場を分ければ、大規模リファクタの最中に緊急修正が来ても、別の作業場で15分で対応して戻れる。ところが、AIが良かれと思って“統一的に”直しすぎ、想定外の型崩れを生んでいた。だからこそ最後は人が diff を見て判断する。この“レビューの儀式”が品質を守ります。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。便利さが評判になり、チーム中からAI生成コードのPRが押し寄せる。レビューが溶けていく…。佐藤さんの答えは『AIのコードは、AIにレビューさせればいい』。セキュリティや作り込み過ぎを自動で指摘させ、hooks で実行の前後に品質チェックを“関所”として挟み、MCP で Jira ともつなぐ。CLAUDE.md から始まった7つのpiecesが噛み合った瞬間、個人技が“チームの開発プロセス”へと昇華します。次で実演します。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第6章の実演です。左が hooks の設定例。settings.json に書くだけで、ファイルを編集する前に Checkstyle とテストを走らせ、通らなければ処理を止める。編集後には自動でフォーマットを整える。まさに品質の“関所”です。右上はAIレビューの指示例。観点を伝えるだけで指摘と改善案が返ります。さらにMCPでJiraなどと接続すれば、チケットからPR説明やドキュメントまで自動生成。機械的な作業は仕組みに任せ、人は設計の判断に集中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章は“人”の章。部長から『チーム全体で推進せよ』と号令が下りますが、正面から勧めると押しつけに見えて空回り。そこで田中さんは作戦を変えます。Slackの開発ログに、成果をただ淡々と投稿し続けた。『バグ修正が2時間から30分』といった数字は雄弁です。最初の3日は無反応でも、3週間でチームの半数が自分から使い始めた。人を動かすのは号令ではなく、結果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の壁の次は“人と組織”の壁。安心して広げるための話です。セキュリティはこの3原則。入力してはいけない情報を決め、出力は人が確認し、ガイドラインを共有する。これがあると経営層も納得して導入できます。一方で避けたいのが、号令での押しつけ、AIへの丸投げ、レビュー省略の3つ。応用編のAgent Teamsは、役割分担した複数のAIが協働する仕組みですが、まずはSubagentから。ルールと作法があるほど、安心して任せられるようになります。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章、第8章。『マルチエージェントでプロジェクトを丸ごと自動化』というニュースに、田中さんは『半年の努力が無価値になるのでは』と揺れます。佐藤さんの答えはこうです。手で書く価値も、読む価値さえも下がるかもしれない。けれど“システム全体を立体的に組み立て、これは正しいかと判断する力”は人に残る。手を動かす力とAIを使う力の掛け算こそ、これからのエンジニアの価値なんだ、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、初めての方からよくいただく不安にお答えします。『設定が難しそう』――大丈夫、まず話しかけるだけ。設定は後からで十分です。『スキルが落ちないか』――残るのは判断する力。むしろ価値は掛け算で高まります。『セキュリティが心配』――入力禁止情報を決め、出力を人が確認すれば安心です。『AIが間違えたら』――diffを見るレビューと、AIにレビューさせる仕組みで二重に守る。どれも、今日の物語の中で田中さんが実際に乗り越えてきた不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の効果を数字で振り返ります。プロトタイプは2週間が半日、10万行の把握は2時間超が15分、バグ原因特定は1分、テスト整備は1週間、日々のバグ修正は30分、そしてチーム普及は3週間で半数。どれも“ちょっと速くなった”ではなく、桁が変わっています。これが、Claude Code を一度使うと手放せなくなる理由です。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“じゃあ何を使えばいいの？”への答えがこちら。道具は適材適所です。日常の補完は Copilot、エディタ上の対話は Cursor、Web版は調べものに便利。そして設計相談や大規模な変更、自動化といった“深い仕事”の主役が Claude Code。今日お話しした物語は、すべてこの Claude Code が舞台でした。全部を使い分けてもいいし、まずは主役から触ってみるのもおすすめです。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最後に。Claude Code を始めるのに、難しい準備は要りません。まずインストールして、やりたいことを日本語で話しかけてみる。慣れてきたらチームの約束を CLAUDE.md に置き、/plan で段取りから始める。田中さんの物語は、たった一度の対話から始まりました。皆さんのオフィスでも、ぜひ今日、最初の一言をかけてみてください。ご清聴ありがとうございました。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4617720" cy="4248302"/>
          </a:xfrm>
          <a:prstGeom prst="rect">
            <a:avLst/>
          </a:prstGeom>
        </p:spPr>
      </p:pic>
      <p:pic>
        <p:nvPicPr>
          <p:cNvPr id="4" name="Picture 3" descr="title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989320" cy="1790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43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S T O R Y   D R I V E N   G U I D E   ・   20分でわかる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AIと歩む、エンジニアの半年間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126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新人エンジニア・田中優太が、AI開発パートナー “Claude Code” と出会い、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半年でチームを変えていく――全8章の物語を、実演を交えて。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4533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9384" y="5257800"/>
            <a:ext cx="201168" cy="201168"/>
          </a:xfrm>
          <a:prstGeom prst="ellipse">
            <a:avLst/>
          </a:prstGeom>
          <a:solidFill>
            <a:srgbClr val="4DC2B3"/>
          </a:solidFill>
          <a:ln w="1524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13432" y="5257800"/>
            <a:ext cx="201168" cy="201168"/>
          </a:xfrm>
          <a:prstGeom prst="ellipse">
            <a:avLst/>
          </a:prstGeom>
          <a:solidFill>
            <a:srgbClr val="E7C070"/>
          </a:solidFill>
          <a:ln w="1524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97480" y="5257800"/>
            <a:ext cx="201168" cy="201168"/>
          </a:xfrm>
          <a:prstGeom prst="ellipse">
            <a:avLst/>
          </a:prstGeom>
          <a:solidFill>
            <a:srgbClr val="E77D47"/>
          </a:solidFill>
          <a:ln w="1524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1528" y="5257800"/>
            <a:ext cx="201168" cy="201168"/>
          </a:xfrm>
          <a:prstGeom prst="ellipse">
            <a:avLst/>
          </a:prstGeom>
          <a:solidFill>
            <a:srgbClr val="E7567F"/>
          </a:solidFill>
          <a:ln w="1524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65576" y="5257800"/>
            <a:ext cx="201168" cy="201168"/>
          </a:xfrm>
          <a:prstGeom prst="ellipse">
            <a:avLst/>
          </a:prstGeom>
          <a:solidFill>
            <a:srgbClr val="8C70E8"/>
          </a:solidFill>
          <a:ln w="1524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第1章 〜 第8章  ＋  実演・Q&amp;A  /  20分のフルツアー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AGENDA / 本日の流れ（20分）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目次</a:t>
            </a: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　― 半年間の物語を、8つの章＋実演で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2938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" y="2050084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4208" y="184708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半日でプロトタイプ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対話＋実演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38544" y="1929384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_m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4" y="2050084"/>
            <a:ext cx="362102" cy="3621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4928" y="184708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チームの作法を覚える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CLAUDE.md／Skills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209544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_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24" y="3330244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4208" y="312724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計画してから走る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Plan mode／TDD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38544" y="3209544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244" y="3330244"/>
            <a:ext cx="362102" cy="3621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4928" y="312724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15分で10万行を把握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読解＋実演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489704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bra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24" y="4610404"/>
            <a:ext cx="362102" cy="36210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4208" y="440740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並列開発と人の目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Subagent／worktree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5196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38544" y="4489704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244" y="4610404"/>
            <a:ext cx="362102" cy="362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24928" y="4407408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AIのコードをAIが review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hooks／MCP＋実演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7824" y="5769863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e_peo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524" y="5890564"/>
            <a:ext cx="362102" cy="3621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664208" y="5687567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見える化でチームへ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＋セキュリティ運用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532119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38544" y="5769863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e_gradua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244" y="5890564"/>
            <a:ext cx="362102" cy="36210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24928" y="5687567"/>
            <a:ext cx="4251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 </a:t>
            </a: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AIと歩む未来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＋Q&amp;A・まとめ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CHARACTERS / この物語の主役たち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登場人物</a:t>
            </a: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　― 半年を共にする4人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27080" cy="1371600"/>
          </a:xfrm>
          <a:prstGeom prst="roundRect">
            <a:avLst>
              <a:gd name="adj" fmla="val 7000"/>
            </a:avLst>
          </a:prstGeom>
          <a:solidFill>
            <a:srgbClr val="332226"/>
          </a:solidFill>
          <a:ln w="12700">
            <a:solidFill>
              <a:srgbClr val="935338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田中 優太</a:t>
            </a:r>
            <a:r>
              <a:rPr sz="13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― 主人公・若手エンジニア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「2週間でデモを」の無茶ぶりから始まる半年。戸惑いながらClaude Codeを学び、やがてチームを動かす存在へ。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502152" cy="219456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81304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佐藤 美咲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4416552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頼れる先輩・メンター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1032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要所でヒントをくれる導き手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3246120"/>
            <a:ext cx="3502152" cy="219456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381304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高橋 部長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416552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上司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491032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無茶ぶりとセキュリティ懸念の発信源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246120"/>
            <a:ext cx="3502152" cy="219456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81304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河野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416552"/>
            <a:ext cx="3172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プロジェクト管理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910328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本番化・運用を田中に託す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INTRO / Claude Code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“補完”ではなく、</a:t>
            </a:r>
            <a:r>
              <a:rPr sz="2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“エージェント”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4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日本語で指示すると、複数ファイルをまたいで設計・実装・修正まで自分で進めてくれる、ターミナルで動く開発パートナーです。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182B36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5" y="2798064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4320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従来の補完ツール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次の「1行」を予測して提案する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今開いているファイルの中が主戦場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判断と組み立ては、すべて人間の仕事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便利だが、作業は人が回し続ける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23774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1" y="2670048"/>
            <a:ext cx="640080" cy="64008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7" y="279806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34071" y="274320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エージェント（Claude Code）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352044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「何をしたいか」を日本語で伝えるだけ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複数ファイルを横断して自律的に作業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計画・実装・テスト・修正まで一気通貫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83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人は“判断”に集中できる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/ 二週間の宿題と、先輩の一言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半日で、プロトタイプが動いた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「2週間でデモを」。途方に暮れる田中さんに、先輩が一言。対話でREST APIを組み立てると――その日のうちに動いた。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1912" y="2587752"/>
            <a:ext cx="658368" cy="658368"/>
          </a:xfrm>
          <a:prstGeom prst="ellipse">
            <a:avLst/>
          </a:prstGeom>
          <a:solidFill>
            <a:srgbClr val="CF7143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雛形を作る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Spring Boot 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プロジェクト構成を提案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399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25695" y="2587752"/>
            <a:ext cx="658368" cy="658368"/>
          </a:xfrm>
          <a:prstGeom prst="ellipse">
            <a:avLst/>
          </a:prstGeom>
          <a:solidFill>
            <a:srgbClr val="CF4E74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5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項目を足す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1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「項目を追加して」で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関連ファイルを一括生成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3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69480" y="2587752"/>
            <a:ext cx="658368" cy="658368"/>
          </a:xfrm>
          <a:prstGeom prst="ellipse">
            <a:avLst/>
          </a:prstGeom>
          <a:solidFill>
            <a:srgbClr val="7E65D2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検証を入れる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バリデーションと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テストを自動で追加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788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FC935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2331720"/>
            <a:ext cx="2542032" cy="21488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13264" y="2587752"/>
            <a:ext cx="658368" cy="658368"/>
          </a:xfrm>
          <a:prstGeom prst="ellipse">
            <a:avLst/>
          </a:prstGeom>
          <a:solidFill>
            <a:srgbClr val="46AEA3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3264" y="258775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355848"/>
            <a:ext cx="2267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形を整える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59" y="3749039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レスポンス形式を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59" y="4041648"/>
            <a:ext cx="23225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全体で統一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e_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084064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08760" y="48920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見積もり 2週間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実働 半日でプロトタイプ完成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第1章 ─ 実演 / 対話でAPIが組み上がる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こう話しかけると、こう返ってくる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あなたの入力（例）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665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Spring Boot で REST API を作りたい。プロジェクトの雛形を作成して。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53512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99816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TimeEntry に description フィールドを追加して。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86783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33087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62271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hours に「0より大きく24以下」のバリデーションを追加して。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54480"/>
            <a:ext cx="4693615" cy="3346704"/>
          </a:xfrm>
          <a:prstGeom prst="roundRect">
            <a:avLst>
              <a:gd name="adj" fmla="val 6000"/>
            </a:avLst>
          </a:prstGeom>
          <a:solidFill>
            <a:srgbClr val="221E3F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783080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892807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82128" y="1847088"/>
            <a:ext cx="3596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Claude Code がやったこと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560320"/>
            <a:ext cx="41449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構成を提案 → 承認で雛形を一括生成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Entity／Repository／Service／Controller を横断生成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1つの依頼で関連4ファイルをまたいで修正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アノテーション追加＋テストコードも自動生成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927080" cy="713232"/>
          </a:xfrm>
          <a:prstGeom prst="roundRect">
            <a:avLst>
              <a:gd name="adj" fmla="val 16000"/>
            </a:avLst>
          </a:prstGeom>
          <a:solidFill>
            <a:srgbClr val="352327"/>
          </a:solidFill>
          <a:ln w="13970">
            <a:solidFill>
              <a:srgbClr val="935338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120640"/>
            <a:ext cx="9921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ポイントは“提案を見て一箇所直すだけ”。全部お任せでも、丸投げでもない。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/ 返ってきたレビューと、チームの作法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ルールは一度書けば、</a:t>
            </a:r>
            <a:r>
              <a:rPr sz="2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勝手に守ってくれる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「動く。けれど“チームのコード”ではない」。規約違反だらけの指摘…。答えは、ルールを一枚にまとめた CLAUDE.md でした。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035040" cy="2788920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871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📄 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## コーディング規約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82696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命名 : lowerCamelCase / UpperCamelCase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21024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例外 : 素の RuntimeException は禁止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9352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層構成 : Controller → Service →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79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  DTOとEntityを分離（Entityを直接返さない）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36008"/>
            <a:ext cx="539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ログ : println禁止 → SLF4J を使う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286000"/>
            <a:ext cx="4602175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542032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0" y="2662732"/>
            <a:ext cx="362102" cy="3621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2615184"/>
            <a:ext cx="3413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Skills（カスタムコマンド）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383280"/>
            <a:ext cx="4053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/review … 規約・安全性を自動チェック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/test … 正常・異常・境界値を自動生成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よく使う指示を“技”として登録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チーム全員が同じ品質で書ける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毎回ルールを説明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規約違反ゼロ・レビュー指摘が激減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第2章 ─ 実演 / 一度書けば、ずっと効く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Skills（カスタムコマンド）の使い方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コマンド一発で（例）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943600" cy="749808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5394960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/review TimeEntryService.java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→ 規約・エラー処理・セキュリティ・性能・テスト容易性の5観点で指摘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5943600" cy="749808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9242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5394960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/test UserService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→ 正常系2・異常系2・境界値1以上のテストを自動生成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554480"/>
            <a:ext cx="4693615" cy="3346704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1755648"/>
            <a:ext cx="4144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📄 .claude/commands/review.md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2286000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以下の観点でレビューしてください：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2670048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1. コーディング規約の遵守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054096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2. エラーハンドリング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3438144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3. セキュリティ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3822191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4. パフォーマンス / テスト容易性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4206240"/>
            <a:ext cx="40535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FF8A4C"/>
                </a:solidFill>
                <a:latin typeface="Consolas"/>
                <a:ea typeface="Consolas"/>
                <a:cs typeface="Consolas"/>
              </a:rPr>
              <a:t>対象ファイル: $ARGUMENTS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20640"/>
            <a:ext cx="10927080" cy="713232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397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_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266944"/>
            <a:ext cx="420624" cy="4206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08760" y="5120640"/>
            <a:ext cx="9921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“技”を一度登録すれば、チーム全員が同じコマンド・同じ品質で動ける。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第3章 / いきなり書かせない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まず“計画”、それから走る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本番品質へ引き上げたい。でもテストはほぼゼロ。Shift+Tab の Plan mode で計画を立ててから、テストを量産する。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5349240" cy="2907792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450591"/>
            <a:ext cx="566928" cy="566928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" y="2563977"/>
            <a:ext cx="340156" cy="3401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505456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Plan mode（Shift+Tab）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45536"/>
            <a:ext cx="4800600" cy="1078992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21024"/>
            <a:ext cx="4251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本番品質にする改善計画を立てて。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問題点と優先順位を整理して。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34256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→ AIが優先順位まで提案：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① 中核ロジックのテスト → ② 検証追加 → ③ 例外処理の統一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12848"/>
            <a:ext cx="5287975" cy="2907792"/>
          </a:xfrm>
          <a:prstGeom prst="roundRect">
            <a:avLst>
              <a:gd name="adj" fmla="val 6000"/>
            </a:avLst>
          </a:prstGeom>
          <a:solidFill>
            <a:srgbClr val="2B272A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739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AI生成テストの「8割／2割」法則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127248"/>
            <a:ext cx="3645164" cy="457200"/>
          </a:xfrm>
          <a:prstGeom prst="roundRect">
            <a:avLst>
              <a:gd name="adj" fmla="val 30000"/>
            </a:avLst>
          </a:prstGeom>
          <a:solidFill>
            <a:srgbClr val="54D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11724" y="3127248"/>
            <a:ext cx="865571" cy="457200"/>
          </a:xfrm>
          <a:prstGeom prst="roundRect">
            <a:avLst>
              <a:gd name="adj" fmla="val 4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127248"/>
            <a:ext cx="36451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1724" y="3127248"/>
            <a:ext cx="8655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0F1020"/>
                </a:solidFill>
                <a:latin typeface="Yu Gothic"/>
                <a:ea typeface="Yu Gothic"/>
                <a:cs typeface="Yu Gothic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785615"/>
            <a:ext cx="45564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8割：そのまま使える（AIが量を担当）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2割：業務ロジックを人が判断して直す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テスト整備に数週間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1週間で本番品質へ引き上げ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/ 十万行の地図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15分で、</a:t>
            </a:r>
            <a:r>
              <a:rPr sz="2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10万行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の全体像をつかむ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前任者は、もういない。800ファイル以上・10万行の基幹システム。「全体構造を説明して」の一言で、地図が描かれた。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3347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" y="275417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487168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全体構造を可視化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パッケージ構成・API一覧・ドメイン関連図を自動生成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5486400" cy="1298448"/>
          </a:xfrm>
          <a:prstGeom prst="roundRect">
            <a:avLst>
              <a:gd name="adj" fmla="val 9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4096512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" y="4217212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950208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バグの原因を即特定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スタックトレースを貼るだけで N+1クエリを指摘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5150815" cy="2761488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7B334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487168"/>
            <a:ext cx="4602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N+1クエリ問題とは？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06324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063240"/>
            <a:ext cx="1554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1リクエスト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10896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3768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0696" y="29992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3456432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36B41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950208"/>
            <a:ext cx="2499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…クエリが件数ぶん爆発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34840"/>
            <a:ext cx="45107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→ JOIN FETCH でまとめて1回に。原因特定はわずか1分。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全体把握に2時間以上＋原因調査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把握15分・原因特定1分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第4章 ─ 実演 / 巨大コードを“読む”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貼るだけ・聞くだけで、地図とバグが見える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あなたの入力（例）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943600" cy="1078992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665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394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このリポジトリの全体構造を説明して。主要なパッケージとAPIを図で。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5943600" cy="1078992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0098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53949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（スタックトレースを貼り付け）この本番エラーの原因は？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54480"/>
            <a:ext cx="4693615" cy="3346704"/>
          </a:xfrm>
          <a:prstGeom prst="roundRect">
            <a:avLst>
              <a:gd name="adj" fmla="val 6000"/>
            </a:avLst>
          </a:prstGeom>
          <a:solidFill>
            <a:srgbClr val="221E3F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1783080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892807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82128" y="1847088"/>
            <a:ext cx="3596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Claude Code の答え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560320"/>
            <a:ext cx="41449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パッケージ構成・API一覧・関連図を提示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怪しい箇所を絞り込み「N+1クエリ」と特定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JOIN FETCH で1回にまとめる修正を提案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793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「テスト実行して」で影響範囲も確認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10927080" cy="713232"/>
          </a:xfrm>
          <a:prstGeom prst="roundRect">
            <a:avLst>
              <a:gd name="adj" fmla="val 16000"/>
            </a:avLst>
          </a:prstGeom>
          <a:solidFill>
            <a:srgbClr val="1A2F3A"/>
          </a:solidFill>
          <a:ln w="1397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8760" y="5120640"/>
            <a:ext cx="9921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コードを全部読まなくていい。地図を片手に、必要な所だけ深く見る。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第5章 / 並列で挑む、ひとつの過ち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並列で進める。</a:t>
            </a:r>
            <a:r>
              <a:rPr sz="2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でも、最後は人が見る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Subagent で手分けし、git worktree で緊急対応も並行。ただしAIの“やりすぎ”が潜むことも――人のレビューは欠かせない。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871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git worktree ＝ 作業場を分ける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2944368"/>
            <a:ext cx="1554480" cy="502920"/>
          </a:xfrm>
          <a:prstGeom prst="roundRect">
            <a:avLst>
              <a:gd name="adj" fmla="val 16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944368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1つのリポジトリ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48B6A9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作業場A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大規模リファクタ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67328"/>
            <a:ext cx="2194560" cy="749808"/>
          </a:xfrm>
          <a:prstGeom prst="roundRect">
            <a:avLst>
              <a:gd name="adj" fmla="val 12000"/>
            </a:avLst>
          </a:prstGeom>
          <a:solidFill>
            <a:srgbClr val="D87644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767328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作業場B</a:t>
            </a:r>
          </a:p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緊急hotfix（15分）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切り替えで混乱しない。両方そのまま進む。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286000"/>
            <a:ext cx="5150815" cy="2788920"/>
          </a:xfrm>
          <a:prstGeom prst="roundRect">
            <a:avLst>
              <a:gd name="adj" fmla="val 6000"/>
            </a:avLst>
          </a:prstGeom>
          <a:solidFill>
            <a:srgbClr val="27172A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0" y="2542032"/>
            <a:ext cx="566928" cy="566928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h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945" y="2655417"/>
            <a:ext cx="340156" cy="340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360" y="2615184"/>
            <a:ext cx="4053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AI出力レビューの“儀式”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337560"/>
            <a:ext cx="46021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 diff で変更を必ず目視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「意図どおりか」を1点ずつ確認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影響範囲を grep で洗い出す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793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8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学びは CLAUDE.md に書き足す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AIの過剰な“統一”で型崩れ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人のレビューで未然に防ぐ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/ AIのコードは、AIにレビューさせる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仕組みで、品質を自動化する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チームに広がり、レビューが追いつかない。ならばAIにレビューさせ、品質チェックを“自動の関所”にする。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542032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" y="2662732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AIレビュー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セキュリティ・作り込み過ぎ・テスト漏れを自動指摘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542032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276" y="2662732"/>
            <a:ext cx="362102" cy="3621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0096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実行の前後で自動チェック＆整形。通らなければ止める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2286000"/>
            <a:ext cx="3502152" cy="178308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542032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0" y="2662732"/>
            <a:ext cx="362102" cy="3621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2560" y="2633472"/>
            <a:ext cx="2404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MCP連携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310128"/>
            <a:ext cx="29535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Jira等の外部ツールと接続し、PR説明まで自動生成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7つのピースが噛み合うと…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CLAUDE.md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1368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7143"/>
          </a:solidFill>
          <a:ln w="1270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01368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62656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7E65D2"/>
          </a:solidFill>
          <a:ln w="1270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3944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23944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Subagent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85231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4E74"/>
          </a:solidFill>
          <a:ln w="1270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1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hooks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19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CFAC67"/>
          </a:solidFill>
          <a:ln w="1270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19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07807" y="4727448"/>
            <a:ext cx="1078992" cy="457200"/>
          </a:xfrm>
          <a:prstGeom prst="roundRect">
            <a:avLst>
              <a:gd name="adj" fmla="val 25000"/>
            </a:avLst>
          </a:prstGeom>
          <a:solidFill>
            <a:srgbClr val="46AEA3"/>
          </a:solidFill>
          <a:ln w="1270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472744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3" y="472744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7735" y="4672584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6D58B7"/>
          </a:solidFill>
          <a:ln w="1270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5" y="4672584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チームの開発プロセス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第6章 ─ 実演 / 品質を“仕組み”にする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hooks と AIレビューの設定例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943600" cy="3346704"/>
          </a:xfrm>
          <a:prstGeom prst="roundRect">
            <a:avLst>
              <a:gd name="adj" fmla="val 5000"/>
            </a:avLst>
          </a:prstGeom>
          <a:solidFill>
            <a:srgbClr val="13152A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📄 .claude/settings.json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128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"hooks":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8259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"PreToolUse": [{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52344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Consolas"/>
                <a:ea typeface="Consolas"/>
                <a:cs typeface="Consolas"/>
              </a:rPr>
              <a:t>     "matcher": "Edit|Write",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02209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54D6C4"/>
                </a:solidFill>
                <a:latin typeface="Consolas"/>
                <a:ea typeface="Consolas"/>
                <a:cs typeface="Consolas"/>
              </a:rPr>
              <a:t>     "command": "checkstyle &amp;&amp; mvn test"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91839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9A7BFF"/>
                </a:solidFill>
                <a:latin typeface="Consolas"/>
                <a:ea typeface="Consolas"/>
                <a:cs typeface="Consolas"/>
              </a:rPr>
              <a:t>  }],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561587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"PostToolUse": [{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831335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Consolas"/>
                <a:ea typeface="Consolas"/>
                <a:cs typeface="Consolas"/>
              </a:rPr>
              <a:t>     "matcher": "Edit|Write",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101083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FFD479"/>
                </a:solidFill>
                <a:latin typeface="Consolas"/>
                <a:ea typeface="Consolas"/>
                <a:cs typeface="Consolas"/>
              </a:rPr>
              <a:t>     "command": "google-java-format"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37083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FF5E8A"/>
                </a:solidFill>
                <a:latin typeface="Consolas"/>
                <a:ea typeface="Consolas"/>
                <a:cs typeface="Consolas"/>
              </a:rPr>
              <a:t>  }]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640579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E9E9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54480"/>
            <a:ext cx="4693615" cy="1371600"/>
          </a:xfrm>
          <a:prstGeom prst="roundRect">
            <a:avLst>
              <a:gd name="adj" fmla="val 10000"/>
            </a:avLst>
          </a:prstGeom>
          <a:solidFill>
            <a:srgbClr val="30212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700784"/>
            <a:ext cx="4236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❯ あなた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29967"/>
            <a:ext cx="41449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この差分をレビューして。セキュリティ・作り込み過ぎ・テスト漏れの観点で。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063240"/>
            <a:ext cx="4693615" cy="182880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05472" y="3291840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01568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63840" y="3355848"/>
            <a:ext cx="3687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MCP 連携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77639"/>
            <a:ext cx="41449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744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Jira のチケット情報を自動取得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744" b="0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PR説明・README・API仕様書も自動生成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20640"/>
            <a:ext cx="10927080" cy="713232"/>
          </a:xfrm>
          <a:prstGeom prst="roundRect">
            <a:avLst>
              <a:gd name="adj" fmla="val 16000"/>
            </a:avLst>
          </a:prstGeom>
          <a:solidFill>
            <a:srgbClr val="252143"/>
          </a:solidFill>
          <a:ln w="1397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266944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8760" y="5120640"/>
            <a:ext cx="9921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機械的なチェックは“仕組み”に任せ、人は設計判断に集中できる。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第7章 / 号令ではなく、開発ログ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“便利だから使って”では、人は動かない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正面からの号令は逆効果。田中さんは淡々と成果を共有し続けた。3週間で、チームの半数が自然に動き出す。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42032"/>
            <a:ext cx="585216" cy="585216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_spe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659075"/>
            <a:ext cx="351129" cy="3511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61518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広げ方は“見える化”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3756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#ai-dev-log に成果を淡々と投稿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「2時間→30分」と数字で示す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セキュリティ指針もAIと作成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806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0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押しつけないから、人が乗ってくる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286000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92C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286000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2時間 → 30分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27832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22783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テスト生成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27832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1日 → 2時間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169664"/>
            <a:ext cx="5150815" cy="822960"/>
          </a:xfrm>
          <a:prstGeom prst="roundRect">
            <a:avLst>
              <a:gd name="adj" fmla="val 10000"/>
            </a:avLst>
          </a:prstGeom>
          <a:solidFill>
            <a:srgbClr val="2B1E25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169664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リファクタ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69664"/>
            <a:ext cx="2956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7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4週間 → 2週間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49240"/>
            <a:ext cx="10927080" cy="841248"/>
          </a:xfrm>
          <a:prstGeom prst="roundRect">
            <a:avLst>
              <a:gd name="adj" fmla="val 16000"/>
            </a:avLst>
          </a:prstGeom>
          <a:solidFill>
            <a:srgbClr val="352F2E"/>
          </a:solidFill>
          <a:ln w="15240">
            <a:solidFill>
              <a:srgbClr val="937B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349240"/>
            <a:ext cx="9921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効果   </a:t>
            </a:r>
            <a:r>
              <a:rPr sz="16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正面から「使って」→ 無反応</a:t>
            </a: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0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3週間でチーム半数が自走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TEAM / 安心して広げるために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セキュリティと、チーム導入の作法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172733"/>
          </a:solidFill>
          <a:ln w="12700">
            <a:solidFill>
              <a:srgbClr val="317372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" y="2178100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27632" y="2167128"/>
            <a:ext cx="2404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セキュリティ3原則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入力してはいけない情報を明確化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AIの出力は人が必ず確認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ガイドラインをチームで共有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7830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2B192C"/>
          </a:solidFill>
          <a:ln w="12700">
            <a:solidFill>
              <a:srgbClr val="87375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26864" y="2057400"/>
            <a:ext cx="603504" cy="603504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564" y="2178100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0096" y="2167128"/>
            <a:ext cx="2404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避けたい3アンチパターン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上から号令で押しつける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AIに丸投げして検証しない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レビューの儀式を省略する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83080"/>
            <a:ext cx="3502152" cy="3200400"/>
          </a:xfrm>
          <a:prstGeom prst="roundRect">
            <a:avLst>
              <a:gd name="adj" fmla="val 6000"/>
            </a:avLst>
          </a:prstGeom>
          <a:solidFill>
            <a:srgbClr val="1F1C3A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9328" y="2057400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028" y="2178100"/>
            <a:ext cx="362102" cy="362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52560" y="2167128"/>
            <a:ext cx="2404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Agent Teams（応用）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971800"/>
            <a:ext cx="29077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役割分担した複数AIが協働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大きな仕事を分担して進める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775" b="0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250" b="0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まずは Subagent から試す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27080" cy="713232"/>
          </a:xfrm>
          <a:prstGeom prst="roundRect">
            <a:avLst>
              <a:gd name="adj" fmla="val 16000"/>
            </a:avLst>
          </a:prstGeom>
          <a:solidFill>
            <a:srgbClr val="1A2F3A"/>
          </a:solidFill>
          <a:ln w="13970">
            <a:solidFill>
              <a:srgbClr val="347C7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5358384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08760" y="5212080"/>
            <a:ext cx="9921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ルールと作法があるほど、経営層も現場も“安心して任せられる”。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第8章 / AIと歩む、エンジニアの未来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変わるもの。</a:t>
            </a: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そして、人に残るもの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「全部AIがやる時代では？」――不安に、先輩は答える。手で書く価値は下がる。でも“構造を見て判断する力”は残る。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2126"/>
          </a:solidFill>
          <a:ln w="12700">
            <a:solidFill>
              <a:srgbClr val="FF8A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手で書く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28346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301A2E"/>
          </a:solidFill>
          <a:ln w="12700">
            <a:solidFill>
              <a:srgbClr val="FF5E8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↓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コードを読む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価値は下がる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5" y="2834639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A991FC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3317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46AEA3"/>
          </a:solidFill>
          <a:ln w="20320">
            <a:solidFill>
              <a:srgbClr val="54D6C4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587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↑ </a:t>
            </a:r>
            <a:r>
              <a:rPr sz="1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構造を見る力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最後まで残る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52760" cy="868680"/>
          </a:xfrm>
          <a:prstGeom prst="roundRect">
            <a:avLst>
              <a:gd name="adj" fmla="val 14000"/>
            </a:avLst>
          </a:prstGeom>
          <a:solidFill>
            <a:srgbClr val="252143"/>
          </a:solidFill>
          <a:ln w="12700">
            <a:solidFill>
              <a:srgbClr val="5B4A9A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52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7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「手を動かす力」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×  </a:t>
            </a:r>
            <a:r>
              <a:rPr sz="17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「AIを使う力」</a:t>
            </a:r>
            <a:r>
              <a:rPr sz="19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  =  </a:t>
            </a:r>
            <a:r>
              <a:rPr sz="17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これからのエンジニアの価値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Q &amp; A / よくある不安に答えます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“使ったことがない”あなたへ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440680" cy="173736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79"/>
            <a:ext cx="603504" cy="603504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" y="2132380"/>
            <a:ext cx="362102" cy="362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2048255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Q. </a:t>
            </a: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設定が難しそう…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24912"/>
            <a:ext cx="48188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A.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まず話しかけるだけでOK。CLAUDE.mdや細かい設定は、慣れてから後づけで十分。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440680" cy="173736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2011679"/>
            <a:ext cx="603504" cy="603504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us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0" y="2132380"/>
            <a:ext cx="362102" cy="362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06640" y="2048255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Q. </a:t>
            </a: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スキルが落ちない？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724912"/>
            <a:ext cx="48188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A.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残るのは“構造を見て判断する力”。手を動かす力×AIを使う力で、むしろ価値は上がる。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75887"/>
            <a:ext cx="5440680" cy="173736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950207"/>
            <a:ext cx="603504" cy="603504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" y="4070908"/>
            <a:ext cx="362102" cy="3621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45920" y="3986783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Q. </a:t>
            </a: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セキュリティが心配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63440"/>
            <a:ext cx="48188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25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A.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入力禁止の情報を決め、出力を人が確認するガイドラインで管理すれば安心。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75887"/>
            <a:ext cx="5440680" cy="1737360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3950207"/>
            <a:ext cx="603504" cy="603504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5820" y="4070908"/>
            <a:ext cx="362102" cy="3621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6640" y="3986783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Q. </a:t>
            </a:r>
            <a:r>
              <a:rPr sz="14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AIが間違えたら？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4663440"/>
            <a:ext cx="48188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</a:pPr>
            <a:r>
              <a:rPr sz="125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A. </a:t>
            </a:r>
            <a:r>
              <a:rPr sz="12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diffを見るレビューの儀式＋“AIのコードはAIにレビュー”で、品質を二重に守る。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IMPACT / 数字で見る半年間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“使ってみたい”の、たしかな理由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11095"/>
            <a:ext cx="548640" cy="548640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20824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192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プロトタイプ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2週間</a:t>
            </a:r>
            <a:r>
              <a:rPr sz="14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8A4C"/>
                </a:solidFill>
                <a:latin typeface="Yu Gothic"/>
                <a:ea typeface="Yu Gothic"/>
                <a:cs typeface="Yu Gothic"/>
              </a:rPr>
              <a:t>半日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911095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020824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48656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10万行の把握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2時間+</a:t>
            </a:r>
            <a:r>
              <a:rPr sz="14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15分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691640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2752" y="1911095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m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20824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1929384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バグ原因特定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478024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数時間</a:t>
            </a:r>
            <a:r>
              <a:rPr sz="14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1分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_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03320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36192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テスト整備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数週間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1週間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2544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0288" y="3593592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e_c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703320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248656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バグ修正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2時間</a:t>
            </a:r>
            <a:r>
              <a:rPr sz="14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30分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374136"/>
            <a:ext cx="3502152" cy="1481328"/>
          </a:xfrm>
          <a:prstGeom prst="roundRect">
            <a:avLst>
              <a:gd name="adj" fmla="val 7000"/>
            </a:avLst>
          </a:prstGeom>
          <a:solidFill>
            <a:srgbClr val="1B1E36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02752" y="3593592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e_peo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3703320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61120" y="3611880"/>
            <a:ext cx="2496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チーム普及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160520"/>
            <a:ext cx="29535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8688A8"/>
                </a:solidFill>
                <a:latin typeface="Yu Gothic"/>
                <a:ea typeface="Yu Gothic"/>
                <a:cs typeface="Yu Gothic"/>
              </a:rPr>
              <a:t>号令×</a:t>
            </a:r>
            <a:r>
              <a:rPr sz="14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  →  </a:t>
            </a:r>
            <a:r>
              <a:rPr sz="21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3週で半数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GUIDE / 2026年のツール使い分け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002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道具は、適材適所で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141F2D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97380"/>
            <a:ext cx="548640" cy="548640"/>
          </a:xfrm>
          <a:prstGeom prst="ellipse">
            <a:avLst/>
          </a:prstGeom>
          <a:solidFill>
            <a:srgbClr val="1E3B44"/>
          </a:solidFill>
          <a:ln w="19050">
            <a:solidFill>
              <a:srgbClr val="54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m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00710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200" y="1691640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GitHub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54D6C4"/>
                </a:solidFill>
                <a:latin typeface="Yu Gothic"/>
                <a:ea typeface="Yu Gothic"/>
                <a:cs typeface="Yu Gothic"/>
              </a:rPr>
              <a:t>日常のコード補完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91640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書きながら次の一行を提案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16352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628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022092"/>
            <a:ext cx="548640" cy="548640"/>
          </a:xfrm>
          <a:prstGeom prst="ellipse">
            <a:avLst/>
          </a:prstGeom>
          <a:solidFill>
            <a:srgbClr val="432137"/>
          </a:solidFill>
          <a:ln w="19050">
            <a:solidFill>
              <a:srgbClr val="FF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_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7" y="313182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2816352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16352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5E8A"/>
                </a:solidFill>
                <a:latin typeface="Yu Gothic"/>
                <a:ea typeface="Yu Gothic"/>
                <a:cs typeface="Yu Gothic"/>
              </a:rPr>
              <a:t>UIベースの対話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16352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エディタ上で対話しながら編集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41064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82348"/>
          </a:solidFill>
          <a:ln w="22860">
            <a:solidFill>
              <a:srgbClr val="9A7BF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146804"/>
            <a:ext cx="548640" cy="548640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e_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7" y="4256532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00200" y="3941064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41064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9A7BFF"/>
                </a:solidFill>
                <a:latin typeface="Yu Gothic"/>
                <a:ea typeface="Yu Gothic"/>
                <a:cs typeface="Yu Gothic"/>
              </a:rPr>
              <a:t>深い対話と設計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41064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設計相談・大規模変更・自動化の主役</a:t>
            </a:r>
          </a:p>
        </p:txBody>
      </p:sp>
      <p:pic>
        <p:nvPicPr>
          <p:cNvPr id="23" name="Picture 22" descr="e_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4087368"/>
            <a:ext cx="292608" cy="2926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0080" y="5065776"/>
            <a:ext cx="10927080" cy="960120"/>
          </a:xfrm>
          <a:prstGeom prst="roundRect">
            <a:avLst>
              <a:gd name="adj" fmla="val 7000"/>
            </a:avLst>
          </a:prstGeom>
          <a:solidFill>
            <a:srgbClr val="221F27"/>
          </a:solidFill>
          <a:ln w="12700">
            <a:solidFill>
              <a:srgbClr val="2C2F50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271516"/>
            <a:ext cx="548640" cy="548640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_boo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7" y="5381244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00200" y="5065776"/>
            <a:ext cx="2926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Web版 Claude 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065776"/>
            <a:ext cx="23774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D479"/>
                </a:solidFill>
                <a:latin typeface="Yu Gothic"/>
                <a:ea typeface="Yu Gothic"/>
                <a:cs typeface="Yu Gothic"/>
              </a:rPr>
              <a:t>一般的な調べもの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065776"/>
            <a:ext cx="434339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知識の確認・アイデア出し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0" i="0">
                <a:solidFill>
                  <a:srgbClr val="8688A8"/>
                </a:solidFill>
                <a:latin typeface="Consolas"/>
                <a:ea typeface="Consolas"/>
                <a:cs typeface="Consolas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itle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960120"/>
            <a:ext cx="5852160" cy="941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783080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難しい設定より先に、まず話しかけてみる。それが第一歩。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4D36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1972" y="2935224"/>
            <a:ext cx="658368" cy="658368"/>
          </a:xfrm>
          <a:prstGeom prst="ellipse">
            <a:avLst/>
          </a:prstGeom>
          <a:solidFill>
            <a:srgbClr val="432A29"/>
          </a:solidFill>
          <a:ln w="19050">
            <a:solidFill>
              <a:srgbClr val="FF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_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645" y="3066897"/>
            <a:ext cx="395020" cy="395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①  インストールして話しかける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やりたいことを日本語で伝える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87724C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4436" y="2935224"/>
            <a:ext cx="658368" cy="658368"/>
          </a:xfrm>
          <a:prstGeom prst="ellipse">
            <a:avLst/>
          </a:prstGeom>
          <a:solidFill>
            <a:srgbClr val="433B33"/>
          </a:solidFill>
          <a:ln w="19050">
            <a:solidFill>
              <a:srgbClr val="FFD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_m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109" y="3066897"/>
            <a:ext cx="395020" cy="3950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5424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②  CLAUDE.md を置く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チームの約束を一枚にまとめる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697480"/>
            <a:ext cx="3502152" cy="1691640"/>
          </a:xfrm>
          <a:prstGeom prst="roundRect">
            <a:avLst>
              <a:gd name="adj" fmla="val 8000"/>
            </a:avLst>
          </a:prstGeom>
          <a:solidFill>
            <a:srgbClr val="1B1E36"/>
          </a:solidFill>
          <a:ln w="12700">
            <a:solidFill>
              <a:srgbClr val="54458F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86900" y="2935224"/>
            <a:ext cx="658368" cy="658368"/>
          </a:xfrm>
          <a:prstGeom prst="ellipse">
            <a:avLst/>
          </a:prstGeom>
          <a:solidFill>
            <a:srgbClr val="2D2751"/>
          </a:solidFill>
          <a:ln w="19050">
            <a:solidFill>
              <a:srgbClr val="9A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_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8573" y="3066897"/>
            <a:ext cx="395020" cy="3950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47888" y="3685032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E9E9F2"/>
                </a:solidFill>
                <a:latin typeface="Yu Gothic"/>
                <a:ea typeface="Yu Gothic"/>
                <a:cs typeface="Yu Gothic"/>
              </a:rPr>
              <a:t>③  /plan で段取りから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023360"/>
            <a:ext cx="31363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0" i="0">
                <a:solidFill>
                  <a:srgbClr val="B9BAD0"/>
                </a:solidFill>
                <a:latin typeface="Yu Gothic"/>
                <a:ea typeface="Yu Gothic"/>
                <a:cs typeface="Yu Gothic"/>
              </a:rPr>
              <a:t>いきなり書かず、計画してから走る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10927080" cy="914400"/>
          </a:xfrm>
          <a:prstGeom prst="roundRect">
            <a:avLst>
              <a:gd name="adj" fmla="val 14000"/>
            </a:avLst>
          </a:prstGeom>
          <a:solidFill>
            <a:srgbClr val="282348"/>
          </a:solidFill>
          <a:ln w="12700">
            <a:solidFill>
              <a:srgbClr val="6250A5"/>
            </a:solidFill>
          </a:ln>
          <a:effectLst>
            <a:outerShdw blurRad="139700" dist="63500" dir="27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27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E9E9F2"/>
                </a:solidFill>
                <a:latin typeface="Yu Mincho"/>
                <a:ea typeface="Yu Mincho"/>
                <a:cs typeface="Yu Mincho"/>
              </a:rPr>
              <a:t>さあ、あなたの夕暮れのオフィスでも。</a:t>
            </a:r>
            <a:r>
              <a:rPr sz="1800" b="1" i="0">
                <a:solidFill>
                  <a:srgbClr val="FFD479"/>
                </a:solidFill>
                <a:latin typeface="Yu Mincho"/>
                <a:ea typeface="Yu Mincho"/>
                <a:cs typeface="Yu Mincho"/>
              </a:rPr>
              <a:t>  まずは、対話から。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