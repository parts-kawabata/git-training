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05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874519"/>
            <a:ext cx="1042416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Git を復習しよう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FD6E4"/>
                </a:solidFill>
                <a:latin typeface="Yu Gothic"/>
                <a:ea typeface="Yu Gothic"/>
                <a:cs typeface="Yu Gothic"/>
              </a:rPr>
              <a:t>『わかばちゃんと学ぶ Git使い方入門』 総まとめ ─ 自己復習用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77639"/>
            <a:ext cx="1371600" cy="420624"/>
          </a:xfrm>
          <a:prstGeom prst="roundRect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3716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① 基礎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3977639"/>
            <a:ext cx="1371600" cy="420624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3977639"/>
            <a:ext cx="13716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② 個人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3977639"/>
            <a:ext cx="1371600" cy="420624"/>
          </a:xfrm>
          <a:prstGeom prst="roundRect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3977639"/>
            <a:ext cx="13716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③ チーム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3977639"/>
            <a:ext cx="1371600" cy="420624"/>
          </a:xfrm>
          <a:prstGeom prst="roundRect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3977639"/>
            <a:ext cx="13716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④ 実用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989320"/>
            <a:ext cx="10424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4B8"/>
                </a:solidFill>
                <a:latin typeface="Yu Gothic"/>
                <a:ea typeface="Yu Gothic"/>
                <a:cs typeface="Yu Gothic"/>
              </a:rPr>
              <a:t>各章の最後に ○× / 穴埋めの確認クイズ付き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全体像 ─ 4ステップで積み上げる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基礎 → 個人 → チーム → 実用 の順に学習。各章末に確認クイズ。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2670048" cy="356616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965960"/>
            <a:ext cx="658368" cy="658368"/>
          </a:xfrm>
          <a:prstGeom prst="ellipse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788920"/>
            <a:ext cx="221284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6CB0"/>
                </a:solidFill>
                <a:latin typeface="Yu Gothic"/>
                <a:ea typeface="Yu Gothic"/>
                <a:cs typeface="Yu Gothic"/>
              </a:rPr>
              <a:t>基礎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108960"/>
            <a:ext cx="221284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Gitって何？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749040"/>
            <a:ext cx="219456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Git / GitHub とは何か。バージョン管理でバックアップ地獄から解放される。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91640"/>
            <a:ext cx="2670048" cy="356616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0" y="1965960"/>
            <a:ext cx="658368" cy="65836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965960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788920"/>
            <a:ext cx="221284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Yu Gothic"/>
                <a:ea typeface="Yu Gothic"/>
                <a:cs typeface="Yu Gothic"/>
              </a:rPr>
              <a:t>個人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3108960"/>
            <a:ext cx="221284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個人でGit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3749040"/>
            <a:ext cx="219456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コミット・ステージング・チェックアウト。集中型と分散型の違い。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691640"/>
            <a:ext cx="2670048" cy="356616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965960"/>
            <a:ext cx="658368" cy="658368"/>
          </a:xfrm>
          <a:prstGeom prst="ellipse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965960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788920"/>
            <a:ext cx="221284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3936C"/>
                </a:solidFill>
                <a:latin typeface="Yu Gothic"/>
                <a:ea typeface="Yu Gothic"/>
                <a:cs typeface="Yu Gothic"/>
              </a:rPr>
              <a:t>チーム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108960"/>
            <a:ext cx="221284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複数人でGit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749040"/>
            <a:ext cx="219456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ブランチ・マージ・プッシュ / プル・プルリク・コンフリクト対応。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0848" y="1691640"/>
            <a:ext cx="2670048" cy="356616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0" y="1965960"/>
            <a:ext cx="658368" cy="658368"/>
          </a:xfrm>
          <a:prstGeom prst="ellipse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965960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2788920"/>
            <a:ext cx="221284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E4DB3"/>
                </a:solidFill>
                <a:latin typeface="Yu Gothic"/>
                <a:ea typeface="Yu Gothic"/>
                <a:cs typeface="Yu Gothic"/>
              </a:rPr>
              <a:t>実用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3108960"/>
            <a:ext cx="221284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実用Git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3749040"/>
            <a:ext cx="219456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リバート・リベース・reset 3種・reflog・スタッシュなど困った時の技。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1965960"/>
            <a:ext cx="1554480" cy="457200"/>
          </a:xfrm>
          <a:prstGeom prst="roundRect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554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CHAPTER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06040"/>
            <a:ext cx="1042416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Git って何？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657600"/>
            <a:ext cx="103327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FD6E4"/>
                </a:solidFill>
                <a:latin typeface="Yu Gothic"/>
                <a:ea typeface="Yu Gothic"/>
                <a:cs typeface="Yu Gothic"/>
              </a:rPr>
              <a:t>〜 バージョン管理の基礎を押さえる 〜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4572000"/>
            <a:ext cx="128016" cy="128016"/>
          </a:xfrm>
          <a:prstGeom prst="ellipse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4443984"/>
            <a:ext cx="3108960" cy="384048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6BFD2"/>
                </a:solidFill>
                <a:latin typeface="Yu Gothic"/>
                <a:ea typeface="Yu Gothic"/>
                <a:cs typeface="Yu Gothic"/>
              </a:rPr>
              <a:t>バージョン管理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4572000"/>
            <a:ext cx="128016" cy="128016"/>
          </a:xfrm>
          <a:prstGeom prst="ellipse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4443984"/>
            <a:ext cx="3108960" cy="384048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6BFD2"/>
                </a:solidFill>
                <a:latin typeface="Yu Gothic"/>
                <a:ea typeface="Yu Gothic"/>
                <a:cs typeface="Yu Gothic"/>
              </a:rPr>
              <a:t>GitとGitHub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0" y="4572000"/>
            <a:ext cx="128016" cy="128016"/>
          </a:xfrm>
          <a:prstGeom prst="ellipse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4443984"/>
            <a:ext cx="3108960" cy="384048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6BFD2"/>
                </a:solidFill>
                <a:latin typeface="Yu Gothic"/>
                <a:ea typeface="Yu Gothic"/>
                <a:cs typeface="Yu Gothic"/>
              </a:rPr>
              <a:t>リポジトリ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34440" cy="365760"/>
          </a:xfrm>
          <a:prstGeom prst="roundRect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384048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この章の要点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078992"/>
            <a:ext cx="82296" cy="82296"/>
          </a:xfrm>
          <a:prstGeom prst="ellipse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602736" cy="489204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602736" cy="566928"/>
          </a:xfrm>
          <a:prstGeom prst="roundRect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351129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Git と GitHub の違い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21408"/>
            <a:ext cx="3145536" cy="3977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D6CB0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Git＝ファイルの変更履歴を記録・管理するバージョン管理システム（手元で動く）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D6CB0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GitHub＝クラウド上でコードを共有・レビュー・PRできる“協働の場”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D6CB0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Gitがあると：履歴記録／過去へ復元／並行作業／マージ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D6CB0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GitHubがないと：クラウドBK・共有・プルリクができない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371600"/>
            <a:ext cx="3602736" cy="489204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34256" y="1371600"/>
            <a:ext cx="3602736" cy="566928"/>
          </a:xfrm>
          <a:prstGeom prst="roundRect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371600"/>
            <a:ext cx="351129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バージョン管理で変わること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21408"/>
            <a:ext cx="3145536" cy="3977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D6CB0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手動バックアップの山から解放される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D6CB0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いつでも好きな時点にファイルを戻せる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D6CB0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変更理由がコメントで残り、前任者不在でも追える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D6CB0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容量に困らず、細かい単位で記録できる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71600"/>
            <a:ext cx="3602736" cy="489204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9872" y="1371600"/>
            <a:ext cx="3602736" cy="566928"/>
          </a:xfrm>
          <a:prstGeom prst="roundRect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371600"/>
            <a:ext cx="351129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覚え方のコツ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121408"/>
            <a:ext cx="3145536" cy="3977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D6CB0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Git＝タイムマシン（手元の履歴）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D6CB0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GitHub＝みんなで集まる広場（共有・会話）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D6CB0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“.git”という半透明フォルダがリポジトリの証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34440" cy="365760"/>
          </a:xfrm>
          <a:prstGeom prst="roundRect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384048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重要用語のまとめ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078992"/>
            <a:ext cx="82296" cy="82296"/>
          </a:xfrm>
          <a:prstGeom prst="ellipse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1672" cy="402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51760"/>
                <a:gridCol w="843991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用語</a:t>
                      </a:r>
                    </a:p>
                  </a:txBody>
                  <a:tcPr anchor="ctr" marL="137160" marR="91440" marT="25400" marB="25400">
                    <a:solidFill>
                      <a:srgbClr val="3D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自分の言葉での説明</a:t>
                      </a:r>
                    </a:p>
                  </a:txBody>
                  <a:tcPr anchor="ctr" marL="137160" marR="91440" marT="25400" marB="25400">
                    <a:solidFill>
                      <a:srgbClr val="3D6CB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3D6CB0"/>
                          </a:solidFill>
                          <a:latin typeface="Yu Gothic"/>
                          <a:ea typeface="Yu Gothic"/>
                          <a:cs typeface="Yu Gothic"/>
                        </a:rPr>
                        <a:t>Git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変更履歴を細かく記録・管理でき、任意の時点へ復元・複数人の編集統合ができる仕組み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3D6CB0"/>
                          </a:solidFill>
                          <a:latin typeface="Yu Gothic"/>
                          <a:ea typeface="Yu Gothic"/>
                          <a:cs typeface="Yu Gothic"/>
                        </a:rPr>
                        <a:t>GitHub</a:t>
                      </a:r>
                    </a:p>
                  </a:txBody>
                  <a:tcPr anchor="ctr" marL="137160" marR="109728" marT="25400" marB="25400"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チームでレビューや話し合いができる、コミュニケーションの場</a:t>
                      </a:r>
                    </a:p>
                  </a:txBody>
                  <a:tcPr anchor="ctr" marL="137160" marR="109728" marT="25400" marB="25400">
                    <a:solidFill>
                      <a:srgbClr val="ECEE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3D6CB0"/>
                          </a:solidFill>
                          <a:latin typeface="Yu Gothic"/>
                          <a:ea typeface="Yu Gothic"/>
                          <a:cs typeface="Yu Gothic"/>
                        </a:rPr>
                        <a:t>バージョン管理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ファイルの変更履歴を記録・管理し、過去の状態に戻せる仕組み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3D6CB0"/>
                          </a:solidFill>
                          <a:latin typeface="Yu Gothic"/>
                          <a:ea typeface="Yu Gothic"/>
                          <a:cs typeface="Yu Gothic"/>
                        </a:rPr>
                        <a:t>リポジトリ</a:t>
                      </a:r>
                    </a:p>
                  </a:txBody>
                  <a:tcPr anchor="ctr" marL="137160" marR="109728" marT="25400" marB="25400"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変更履歴を記録する入れ物。コード以外にExcel・Word・画像なども管理できる</a:t>
                      </a:r>
                    </a:p>
                  </a:txBody>
                  <a:tcPr anchor="ctr" marL="137160" marR="109728" marT="25400" marB="25400">
                    <a:solidFill>
                      <a:srgbClr val="ECEE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3D6CB0"/>
                          </a:solidFill>
                          <a:latin typeface="Yu Gothic"/>
                          <a:ea typeface="Yu Gothic"/>
                          <a:cs typeface="Yu Gothic"/>
                        </a:rPr>
                        <a:t>ブランチ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本流から分岐した“作業用のコピー”。並行作業に役立つ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3D6CB0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コミット</a:t>
                      </a:r>
                    </a:p>
                  </a:txBody>
                  <a:tcPr anchor="ctr" marL="137160" marR="109728" marT="25400" marB="25400"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ファイルの変更内容をGitの履歴に保存する操作／その記録</a:t>
                      </a:r>
                    </a:p>
                  </a:txBody>
                  <a:tcPr anchor="ctr" marL="137160" marR="109728" marT="25400" marB="25400">
                    <a:solidFill>
                      <a:srgbClr val="ECEE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3D6CB0"/>
                          </a:solidFill>
                          <a:latin typeface="Yu Gothic"/>
                          <a:ea typeface="Yu Gothic"/>
                          <a:cs typeface="Yu Gothic"/>
                        </a:rPr>
                        <a:t>SourceTree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Git操作をGUIで行えるツール。初心者でも扱いやすい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34440" cy="365760"/>
          </a:xfrm>
          <a:prstGeom prst="roundRect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384048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確認クイズ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078992"/>
            <a:ext cx="82296" cy="82296"/>
          </a:xfrm>
          <a:prstGeom prst="ellipse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1672" cy="148132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27632"/>
            <a:ext cx="914400" cy="402336"/>
          </a:xfrm>
          <a:prstGeom prst="roundRect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914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Q1 ○×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517904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Gitさえあれば、PCが壊れてもクラウドから復元できる。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240280"/>
            <a:ext cx="95097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答え： </a:t>
            </a:r>
            <a:r>
              <a:rPr sz="1250" b="1">
                <a:solidFill>
                  <a:srgbClr val="D62D2D"/>
                </a:solidFill>
                <a:latin typeface="Yu Gothic"/>
                <a:ea typeface="Yu Gothic"/>
                <a:cs typeface="Yu Gothic"/>
              </a:rPr>
              <a:t>×</a:t>
            </a:r>
            <a:r>
              <a:rPr sz="11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  クラウドBKはGitHub等のリモートが必要。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99232"/>
            <a:ext cx="11091672" cy="148132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255264"/>
            <a:ext cx="914400" cy="402336"/>
          </a:xfrm>
          <a:prstGeom prst="roundRect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55264"/>
            <a:ext cx="914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Q2 穴埋め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145536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ファイルの変更内容をGitの履歴に保存する操作を〔　　〕という。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867912"/>
            <a:ext cx="95097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答え： </a:t>
            </a:r>
            <a:r>
              <a:rPr sz="1250" b="1">
                <a:solidFill>
                  <a:srgbClr val="3D6CB0"/>
                </a:solidFill>
                <a:latin typeface="Yu Gothic"/>
                <a:ea typeface="Yu Gothic"/>
                <a:cs typeface="Yu Gothic"/>
              </a:rPr>
              <a:t>コミット</a:t>
            </a:r>
            <a:r>
              <a:rPr sz="11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 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26864"/>
            <a:ext cx="11091672" cy="148132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882896"/>
            <a:ext cx="914400" cy="402336"/>
          </a:xfrm>
          <a:prstGeom prst="roundRect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82896"/>
            <a:ext cx="914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Q3 ○×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773168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リポジトリにはソースコードのほか、Excelや画像も入れられる。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495544"/>
            <a:ext cx="95097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答え： </a:t>
            </a:r>
            <a:r>
              <a:rPr sz="1250" b="1">
                <a:solidFill>
                  <a:srgbClr val="2A9D8F"/>
                </a:solidFill>
                <a:latin typeface="Yu Gothic"/>
                <a:ea typeface="Yu Gothic"/>
                <a:cs typeface="Yu Gothic"/>
              </a:rPr>
              <a:t>○</a:t>
            </a:r>
            <a:r>
              <a:rPr sz="11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  いろいろなファイルを管理できる。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1965960"/>
            <a:ext cx="1554480" cy="4572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554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06040"/>
            <a:ext cx="1042416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個人でGitを使ってみよう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657600"/>
            <a:ext cx="103327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FD6E4"/>
                </a:solidFill>
                <a:latin typeface="Yu Gothic"/>
                <a:ea typeface="Yu Gothic"/>
                <a:cs typeface="Yu Gothic"/>
              </a:rPr>
              <a:t>〜 コミットを実際に体験する 〜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4572000"/>
            <a:ext cx="128016" cy="12801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4443984"/>
            <a:ext cx="3108960" cy="384048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6BFD2"/>
                </a:solidFill>
                <a:latin typeface="Yu Gothic"/>
                <a:ea typeface="Yu Gothic"/>
                <a:cs typeface="Yu Gothic"/>
              </a:rPr>
              <a:t>ステージング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4572000"/>
            <a:ext cx="128016" cy="12801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4443984"/>
            <a:ext cx="3108960" cy="384048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6BFD2"/>
                </a:solidFill>
                <a:latin typeface="Yu Gothic"/>
                <a:ea typeface="Yu Gothic"/>
                <a:cs typeface="Yu Gothic"/>
              </a:rPr>
              <a:t>コミット/チェックアウト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0" y="4572000"/>
            <a:ext cx="128016" cy="12801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4443984"/>
            <a:ext cx="3108960" cy="384048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6BFD2"/>
                </a:solidFill>
                <a:latin typeface="Yu Gothic"/>
                <a:ea typeface="Yu Gothic"/>
                <a:cs typeface="Yu Gothic"/>
              </a:rPr>
              <a:t>分散型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34440" cy="36576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384048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この章の要点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078992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602736" cy="489204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602736" cy="56692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351129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コミットの流れ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21408"/>
            <a:ext cx="3145536" cy="3977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作業ツリー →(add)→ ステージング →(commit)→ リポジトリ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ステージングエリアに移すことで変更を小分けにコミットできる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まだコミットしたくない変更を分けて置ける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VSCodeなら「git init」でリポジトリ作成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371600"/>
            <a:ext cx="3602736" cy="489204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34256" y="1371600"/>
            <a:ext cx="3602736" cy="56692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371600"/>
            <a:ext cx="351129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チェックアウト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21408"/>
            <a:ext cx="3145536" cy="3977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過去のコミットにも最新のコミットにも移動できる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戻したいコミットをダブルクリック→OKで移動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“今どのコミットにいるか”を切り替えるだけの操作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71600"/>
            <a:ext cx="3602736" cy="489204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9872" y="1371600"/>
            <a:ext cx="3602736" cy="56692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371600"/>
            <a:ext cx="351129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集中型 vs 分散型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121408"/>
            <a:ext cx="3145536" cy="3977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集中型：1つのリポジトリをみんなで共有（CVS・Subversion）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分散型：各自がPCにリポジトリを持つ（Git・Mercurial）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分散型は他人に影響を与えず自分の中で整理・復元できる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34440" cy="36576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384048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重要用語のまとめ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078992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1672" cy="39684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51760"/>
                <a:gridCol w="8439912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用語</a:t>
                      </a:r>
                    </a:p>
                  </a:txBody>
                  <a:tcPr anchor="ctr" marL="137160" marR="91440" marT="25400" marB="25400"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自分の言葉での説明</a:t>
                      </a:r>
                    </a:p>
                  </a:txBody>
                  <a:tcPr anchor="ctr" marL="137160" marR="91440" marT="25400" marB="25400">
                    <a:solidFill>
                      <a:srgbClr val="2A9D8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A9D8F"/>
                          </a:solidFill>
                          <a:latin typeface="Yu Gothic"/>
                          <a:ea typeface="Yu Gothic"/>
                          <a:cs typeface="Yu Gothic"/>
                        </a:rPr>
                        <a:t>ステージングエリア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コミット前に変更を一時的に置く場所。小分けコミットに使える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A9D8F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コミットID</a:t>
                      </a:r>
                    </a:p>
                  </a:txBody>
                  <a:tcPr anchor="ctr" marL="137160" marR="109728" marT="25400" marB="25400"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コミット内容から生成される40桁の英数字。コミットを一意に指す</a:t>
                      </a:r>
                    </a:p>
                  </a:txBody>
                  <a:tcPr anchor="ctr" marL="137160" marR="109728" marT="25400" marB="25400">
                    <a:solidFill>
                      <a:srgbClr val="ECEE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A9D8F"/>
                          </a:solidFill>
                          <a:latin typeface="Yu Gothic"/>
                          <a:ea typeface="Yu Gothic"/>
                          <a:cs typeface="Yu Gothic"/>
                        </a:rPr>
                        <a:t>ブランチ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特定のコミットIDを指し示しているだけのもの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A9D8F"/>
                          </a:solidFill>
                          <a:latin typeface="Yu Gothic"/>
                          <a:ea typeface="Yu Gothic"/>
                          <a:cs typeface="Yu Gothic"/>
                        </a:rPr>
                        <a:t>チェックアウト</a:t>
                      </a:r>
                    </a:p>
                  </a:txBody>
                  <a:tcPr anchor="ctr" marL="137160" marR="109728" marT="25400" marB="25400"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過去／最新のコミットへ移動する操作</a:t>
                      </a:r>
                    </a:p>
                  </a:txBody>
                  <a:tcPr anchor="ctr" marL="137160" marR="109728" marT="25400" marB="25400">
                    <a:solidFill>
                      <a:srgbClr val="ECEE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A9D8F"/>
                          </a:solidFill>
                          <a:latin typeface="Yu Gothic"/>
                          <a:ea typeface="Yu Gothic"/>
                          <a:cs typeface="Yu Gothic"/>
                        </a:rPr>
                        <a:t>集中型VCS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ひとつのリポジトリを共有する方式（CVS・Subversion）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A9D8F"/>
                          </a:solidFill>
                          <a:latin typeface="Yu Gothic"/>
                          <a:ea typeface="Yu Gothic"/>
                          <a:cs typeface="Yu Gothic"/>
                        </a:rPr>
                        <a:t>分散型VCS</a:t>
                      </a:r>
                    </a:p>
                  </a:txBody>
                  <a:tcPr anchor="ctr" marL="137160" marR="109728" marT="25400" marB="25400"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各自がリポジトリを持つ方式（Git・Mercurial）。他人に影響せず作業できる</a:t>
                      </a:r>
                    </a:p>
                  </a:txBody>
                  <a:tcPr anchor="ctr" marL="137160" marR="109728" marT="25400" marB="25400"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34440" cy="36576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384048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確認クイズ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078992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1672" cy="148132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27632"/>
            <a:ext cx="914400" cy="40233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914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Q1 穴埋め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517904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コミット内容から生成される40桁の英数字を〔　　〕という。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240280"/>
            <a:ext cx="95097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答え： </a:t>
            </a:r>
            <a:r>
              <a:rPr sz="1250" b="1">
                <a:solidFill>
                  <a:srgbClr val="2A9D8F"/>
                </a:solidFill>
                <a:latin typeface="Yu Gothic"/>
                <a:ea typeface="Yu Gothic"/>
                <a:cs typeface="Yu Gothic"/>
              </a:rPr>
              <a:t>コミットID</a:t>
            </a:r>
            <a:r>
              <a:rPr sz="11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 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99232"/>
            <a:ext cx="11091672" cy="148132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255264"/>
            <a:ext cx="914400" cy="40233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55264"/>
            <a:ext cx="914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Q2 ○×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145536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分散型バージョン管理では、各自のPCにリポジトリを持つ。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867912"/>
            <a:ext cx="95097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答え： </a:t>
            </a:r>
            <a:r>
              <a:rPr sz="1250" b="1">
                <a:solidFill>
                  <a:srgbClr val="2A9D8F"/>
                </a:solidFill>
                <a:latin typeface="Yu Gothic"/>
                <a:ea typeface="Yu Gothic"/>
                <a:cs typeface="Yu Gothic"/>
              </a:rPr>
              <a:t>○</a:t>
            </a:r>
            <a:r>
              <a:rPr sz="11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  他人に影響せず自分の中で整理・復元できる。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26864"/>
            <a:ext cx="11091672" cy="148132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882896"/>
            <a:ext cx="914400" cy="40233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82896"/>
            <a:ext cx="914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Q3 穴埋め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773168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コミット前に変更を一時的に置く場所を〔　　　〕という。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495544"/>
            <a:ext cx="95097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答え： </a:t>
            </a:r>
            <a:r>
              <a:rPr sz="1250" b="1">
                <a:solidFill>
                  <a:srgbClr val="2A9D8F"/>
                </a:solidFill>
                <a:latin typeface="Yu Gothic"/>
                <a:ea typeface="Yu Gothic"/>
                <a:cs typeface="Yu Gothic"/>
              </a:rPr>
              <a:t>ステージングエリア</a:t>
            </a:r>
            <a:r>
              <a:rPr sz="11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1965960"/>
            <a:ext cx="1554480" cy="457200"/>
          </a:xfrm>
          <a:prstGeom prst="roundRect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554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06040"/>
            <a:ext cx="1042416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複数人でGitを使ってみよう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657600"/>
            <a:ext cx="103327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FD6E4"/>
                </a:solidFill>
                <a:latin typeface="Yu Gothic"/>
                <a:ea typeface="Yu Gothic"/>
                <a:cs typeface="Yu Gothic"/>
              </a:rPr>
              <a:t>〜 チーム開発のワークフロー 〜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4572000"/>
            <a:ext cx="128016" cy="128016"/>
          </a:xfrm>
          <a:prstGeom prst="ellipse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4443984"/>
            <a:ext cx="3108960" cy="384048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6BFD2"/>
                </a:solidFill>
                <a:latin typeface="Yu Gothic"/>
                <a:ea typeface="Yu Gothic"/>
                <a:cs typeface="Yu Gothic"/>
              </a:rPr>
              <a:t>フォーク/クローン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4572000"/>
            <a:ext cx="128016" cy="128016"/>
          </a:xfrm>
          <a:prstGeom prst="ellipse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4443984"/>
            <a:ext cx="3108960" cy="384048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6BFD2"/>
                </a:solidFill>
                <a:latin typeface="Yu Gothic"/>
                <a:ea typeface="Yu Gothic"/>
                <a:cs typeface="Yu Gothic"/>
              </a:rPr>
              <a:t>ブランチ/マージ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0" y="4572000"/>
            <a:ext cx="128016" cy="128016"/>
          </a:xfrm>
          <a:prstGeom prst="ellipse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4443984"/>
            <a:ext cx="3108960" cy="384048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6BFD2"/>
                </a:solidFill>
                <a:latin typeface="Yu Gothic"/>
                <a:ea typeface="Yu Gothic"/>
                <a:cs typeface="Yu Gothic"/>
              </a:rPr>
              <a:t>プルリク/コンフリクト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34440" cy="365760"/>
          </a:xfrm>
          <a:prstGeom prst="roundRect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384048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チーム開発の流れ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078992"/>
            <a:ext cx="82296" cy="82296"/>
          </a:xfrm>
          <a:prstGeom prst="ellipse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456432" cy="141732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8096" y="1856232"/>
            <a:ext cx="457200" cy="457200"/>
          </a:xfrm>
          <a:prstGeom prst="ellipse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56232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801368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フォーク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2999232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公開リポを自分のクラウドにコピー</a:t>
            </a:r>
          </a:p>
        </p:txBody>
      </p:sp>
      <p:sp>
        <p:nvSpPr>
          <p:cNvPr id="11" name="Chevron 10"/>
          <p:cNvSpPr/>
          <p:nvPr/>
        </p:nvSpPr>
        <p:spPr>
          <a:xfrm>
            <a:off x="4041648" y="2226564"/>
            <a:ext cx="146304" cy="164592"/>
          </a:xfrm>
          <a:prstGeom prst="chevron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1600200"/>
            <a:ext cx="3456432" cy="141732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07408" y="1856232"/>
            <a:ext cx="457200" cy="457200"/>
          </a:xfrm>
          <a:prstGeom prst="ellipse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856232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801368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クローン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2386584"/>
            <a:ext cx="2999232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リモートを自分のPCにダウンロード</a:t>
            </a:r>
          </a:p>
        </p:txBody>
      </p:sp>
      <p:sp>
        <p:nvSpPr>
          <p:cNvPr id="17" name="Chevron 16"/>
          <p:cNvSpPr/>
          <p:nvPr/>
        </p:nvSpPr>
        <p:spPr>
          <a:xfrm>
            <a:off x="7680960" y="2226564"/>
            <a:ext cx="146304" cy="164592"/>
          </a:xfrm>
          <a:prstGeom prst="chevron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45552" y="1600200"/>
            <a:ext cx="3456432" cy="141732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0" y="1856232"/>
            <a:ext cx="457200" cy="457200"/>
          </a:xfrm>
          <a:prstGeom prst="ellipse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856232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1801368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ブランチ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386584"/>
            <a:ext cx="2999232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作業用に分岐して他へ影響させない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520440"/>
            <a:ext cx="3456432" cy="141732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" y="3776472"/>
            <a:ext cx="457200" cy="457200"/>
          </a:xfrm>
          <a:prstGeom prst="ellipse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776472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3721608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コミット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4306824"/>
            <a:ext cx="2999232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変更を履歴に保存</a:t>
            </a:r>
          </a:p>
        </p:txBody>
      </p:sp>
      <p:sp>
        <p:nvSpPr>
          <p:cNvPr id="28" name="Chevron 27"/>
          <p:cNvSpPr/>
          <p:nvPr/>
        </p:nvSpPr>
        <p:spPr>
          <a:xfrm>
            <a:off x="4041648" y="4146804"/>
            <a:ext cx="146304" cy="164592"/>
          </a:xfrm>
          <a:prstGeom prst="chevron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06240" y="3520440"/>
            <a:ext cx="3456432" cy="141732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07408" y="3776472"/>
            <a:ext cx="457200" cy="457200"/>
          </a:xfrm>
          <a:prstGeom prst="ellipse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07408" y="3776472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721608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プッシュ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3984" y="4306824"/>
            <a:ext cx="2999232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変更をリモートに反映</a:t>
            </a:r>
          </a:p>
        </p:txBody>
      </p:sp>
      <p:sp>
        <p:nvSpPr>
          <p:cNvPr id="34" name="Chevron 33"/>
          <p:cNvSpPr/>
          <p:nvPr/>
        </p:nvSpPr>
        <p:spPr>
          <a:xfrm>
            <a:off x="7680960" y="4146804"/>
            <a:ext cx="146304" cy="164592"/>
          </a:xfrm>
          <a:prstGeom prst="chevron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845552" y="3520440"/>
            <a:ext cx="3456432" cy="141732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046720" y="3776472"/>
            <a:ext cx="457200" cy="457200"/>
          </a:xfrm>
          <a:prstGeom prst="ellipse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3776472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22792" y="3721608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プルリク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83296" y="4306824"/>
            <a:ext cx="2999232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取り込みを依頼→レビュー→マージ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8064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3936C"/>
                </a:solidFill>
                <a:latin typeface="Yu Gothic"/>
                <a:ea typeface="Yu Gothic"/>
                <a:cs typeface="Yu Gothic"/>
              </a:rPr>
              <a:t>マージ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＝分岐したブランチを統合する作業。 </a:t>
            </a:r>
            <a:r>
              <a:rPr sz="1300" b="1">
                <a:solidFill>
                  <a:srgbClr val="43936C"/>
                </a:solidFill>
                <a:latin typeface="Yu Gothic"/>
                <a:ea typeface="Yu Gothic"/>
                <a:cs typeface="Yu Gothic"/>
              </a:rPr>
              <a:t>プル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＝リモートの変更をローカルに取り込む（フェッチ＋マージ）。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34440" cy="365760"/>
          </a:xfrm>
          <a:prstGeom prst="roundRect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384048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重要用語のまとめ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078992"/>
            <a:ext cx="82296" cy="82296"/>
          </a:xfrm>
          <a:prstGeom prst="ellipse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1672" cy="402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51760"/>
                <a:gridCol w="843991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用語</a:t>
                      </a:r>
                    </a:p>
                  </a:txBody>
                  <a:tcPr anchor="ctr" marL="137160" marR="91440" marT="25400" marB="25400">
                    <a:solidFill>
                      <a:srgbClr val="4393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自分の言葉での説明</a:t>
                      </a:r>
                    </a:p>
                  </a:txBody>
                  <a:tcPr anchor="ctr" marL="137160" marR="91440" marT="25400" marB="25400">
                    <a:solidFill>
                      <a:srgbClr val="43936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43936C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フォーク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他人の公開リモートリポジトリを、自分のアカウントのクラウドにコピーする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43936C"/>
                          </a:solidFill>
                          <a:latin typeface="Yu Gothic"/>
                          <a:ea typeface="Yu Gothic"/>
                          <a:cs typeface="Yu Gothic"/>
                        </a:rPr>
                        <a:t>クローン</a:t>
                      </a:r>
                    </a:p>
                  </a:txBody>
                  <a:tcPr anchor="ctr" marL="137160" marR="109728" marT="25400" marB="25400"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クラウド上のリモートリポジトリを、自分のPCにダウンロードする</a:t>
                      </a:r>
                    </a:p>
                  </a:txBody>
                  <a:tcPr anchor="ctr" marL="137160" marR="109728" marT="25400" marB="25400">
                    <a:solidFill>
                      <a:srgbClr val="ECEE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43936C"/>
                          </a:solidFill>
                          <a:latin typeface="Yu Gothic"/>
                          <a:ea typeface="Yu Gothic"/>
                          <a:cs typeface="Yu Gothic"/>
                        </a:rPr>
                        <a:t>masterブランチ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最初から存在する“本流”。最新のソースを保つのがおすすめ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43936C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プッシュ</a:t>
                      </a:r>
                    </a:p>
                  </a:txBody>
                  <a:tcPr anchor="ctr" marL="137160" marR="109728" marT="25400" marB="25400"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変更をリモートリポジトリに反映させる操作</a:t>
                      </a:r>
                    </a:p>
                  </a:txBody>
                  <a:tcPr anchor="ctr" marL="137160" marR="109728" marT="25400" marB="25400">
                    <a:solidFill>
                      <a:srgbClr val="ECEE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43936C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プル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リモートの変更をローカルに引っ張ってくる操作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43936C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コンフリクト</a:t>
                      </a:r>
                    </a:p>
                  </a:txBody>
                  <a:tcPr anchor="ctr" marL="137160" marR="109728" marT="25400" marB="25400"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同じ行を同時に別々に修正したときに起こる衝突。行が違えば起きない</a:t>
                      </a:r>
                    </a:p>
                  </a:txBody>
                  <a:tcPr anchor="ctr" marL="137160" marR="109728" marT="25400" marB="25400">
                    <a:solidFill>
                      <a:srgbClr val="ECEE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43936C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プルリクエスト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自分の変更を取り込んでもらうよう依頼し、確認後にマージしてもらう</a:t>
                      </a:r>
                    </a:p>
                  </a:txBody>
                  <a:tcPr anchor="ctr" marL="137160" marR="109728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34440" cy="365760"/>
          </a:xfrm>
          <a:prstGeom prst="roundRect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384048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コンフリクトの読み方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078992"/>
            <a:ext cx="82296" cy="82296"/>
          </a:xfrm>
          <a:prstGeom prst="ellipse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6675120" cy="4206240"/>
          </a:xfrm>
          <a:prstGeom prst="roundRect">
            <a:avLst/>
          </a:prstGeom>
          <a:solidFill>
            <a:srgbClr val="1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6126480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08A5D"/>
                </a:solidFill>
                <a:latin typeface="Consolas"/>
                <a:ea typeface="Consolas"/>
                <a:cs typeface="Consolas"/>
              </a:rPr>
              <a:t>&lt;&lt;&lt;&lt;&lt;&lt;&lt; HEAD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FD6E4"/>
                </a:solidFill>
                <a:latin typeface="Consolas"/>
                <a:ea typeface="Consolas"/>
                <a:cs typeface="Consolas"/>
              </a:rPr>
              <a:t>  今チェックアウト中のブランチの変更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A93A6"/>
                </a:solidFill>
                <a:latin typeface="Consolas"/>
                <a:ea typeface="Consolas"/>
                <a:cs typeface="Consolas"/>
              </a:rPr>
              <a:t>  （＝自分側の変更）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7E8AA0"/>
                </a:solidFill>
                <a:latin typeface="Consolas"/>
                <a:ea typeface="Consolas"/>
                <a:cs typeface="Consolas"/>
              </a:rPr>
              <a:t>=======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FD6E4"/>
                </a:solidFill>
                <a:latin typeface="Consolas"/>
                <a:ea typeface="Consolas"/>
                <a:cs typeface="Consolas"/>
              </a:rPr>
              <a:t>  取り込もうとしたブランチの変更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A93A6"/>
                </a:solidFill>
                <a:latin typeface="Consolas"/>
                <a:ea typeface="Consolas"/>
                <a:cs typeface="Consolas"/>
              </a:rPr>
              <a:t>  （＝相手側の変更）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08A5D"/>
                </a:solidFill>
                <a:latin typeface="Consolas"/>
                <a:ea typeface="Consolas"/>
                <a:cs typeface="Consolas"/>
              </a:rPr>
              <a:t>&gt;&gt;&gt;&gt;&gt;&gt;&gt; news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417320"/>
            <a:ext cx="4187952" cy="420624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80" y="1737360"/>
            <a:ext cx="3657600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43936C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4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同じ行を同時に別々に直すと発生する。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43936C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4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行が違えば、同じファイルでも自動でマージされコンフリクトは起きない。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43936C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4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==== の上が自分側、下が取り込む相手側。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43936C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4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どちらを残すか手で選び、目印の行を消して保存→コミットで解決。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34440" cy="365760"/>
          </a:xfrm>
          <a:prstGeom prst="roundRect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384048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確認クイズ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078992"/>
            <a:ext cx="82296" cy="82296"/>
          </a:xfrm>
          <a:prstGeom prst="ellipse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1672" cy="148132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27632"/>
            <a:ext cx="914400" cy="402336"/>
          </a:xfrm>
          <a:prstGeom prst="roundRect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914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Q1 ○×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517904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同じファイルでも、編集した行が違えばコンフリクトは起きない。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240280"/>
            <a:ext cx="95097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答え： </a:t>
            </a:r>
            <a:r>
              <a:rPr sz="1250" b="1">
                <a:solidFill>
                  <a:srgbClr val="2A9D8F"/>
                </a:solidFill>
                <a:latin typeface="Yu Gothic"/>
                <a:ea typeface="Yu Gothic"/>
                <a:cs typeface="Yu Gothic"/>
              </a:rPr>
              <a:t>○</a:t>
            </a:r>
            <a:r>
              <a:rPr sz="11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  行が違えば自動でマージされる。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99232"/>
            <a:ext cx="11091672" cy="148132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255264"/>
            <a:ext cx="914400" cy="402336"/>
          </a:xfrm>
          <a:prstGeom prst="roundRect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55264"/>
            <a:ext cx="914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Q2 穴埋め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145536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自分の変更を取り込んでもらうよう依頼する操作を〔　　　〕という。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867912"/>
            <a:ext cx="95097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答え： </a:t>
            </a:r>
            <a:r>
              <a:rPr sz="1250" b="1">
                <a:solidFill>
                  <a:srgbClr val="43936C"/>
                </a:solidFill>
                <a:latin typeface="Yu Gothic"/>
                <a:ea typeface="Yu Gothic"/>
                <a:cs typeface="Yu Gothic"/>
              </a:rPr>
              <a:t>プルリクエスト</a:t>
            </a:r>
            <a:r>
              <a:rPr sz="11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 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26864"/>
            <a:ext cx="11091672" cy="148132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882896"/>
            <a:ext cx="914400" cy="402336"/>
          </a:xfrm>
          <a:prstGeom prst="roundRect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82896"/>
            <a:ext cx="914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Q3 ○×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773168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クローンとは、リモートを自分のアカウントのクラウドにコピーすることだ。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495544"/>
            <a:ext cx="95097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答え： </a:t>
            </a:r>
            <a:r>
              <a:rPr sz="1250" b="1">
                <a:solidFill>
                  <a:srgbClr val="D62D2D"/>
                </a:solidFill>
                <a:latin typeface="Yu Gothic"/>
                <a:ea typeface="Yu Gothic"/>
                <a:cs typeface="Yu Gothic"/>
              </a:rPr>
              <a:t>×</a:t>
            </a:r>
            <a:r>
              <a:rPr sz="11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  それはフォーク。クローンはPCへのダウンロード。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1965960"/>
            <a:ext cx="1554480" cy="457200"/>
          </a:xfrm>
          <a:prstGeom prst="roundRect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554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CHAPTER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06040"/>
            <a:ext cx="1042416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実用Git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657600"/>
            <a:ext cx="103327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FD6E4"/>
                </a:solidFill>
                <a:latin typeface="Yu Gothic"/>
                <a:ea typeface="Yu Gothic"/>
                <a:cs typeface="Yu Gothic"/>
              </a:rPr>
              <a:t>〜 こんなときはどうすればいい？ 〜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4572000"/>
            <a:ext cx="128016" cy="128016"/>
          </a:xfrm>
          <a:prstGeom prst="ellipse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4443984"/>
            <a:ext cx="3108960" cy="384048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6BFD2"/>
                </a:solidFill>
                <a:latin typeface="Yu Gothic"/>
                <a:ea typeface="Yu Gothic"/>
                <a:cs typeface="Yu Gothic"/>
              </a:rPr>
              <a:t>やり直し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4572000"/>
            <a:ext cx="128016" cy="128016"/>
          </a:xfrm>
          <a:prstGeom prst="ellipse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4443984"/>
            <a:ext cx="3108960" cy="384048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6BFD2"/>
                </a:solidFill>
                <a:latin typeface="Yu Gothic"/>
                <a:ea typeface="Yu Gothic"/>
                <a:cs typeface="Yu Gothic"/>
              </a:rPr>
              <a:t>履歴の整理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0" y="4572000"/>
            <a:ext cx="128016" cy="128016"/>
          </a:xfrm>
          <a:prstGeom prst="ellipse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4443984"/>
            <a:ext cx="3108960" cy="384048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6BFD2"/>
                </a:solidFill>
                <a:latin typeface="Yu Gothic"/>
                <a:ea typeface="Yu Gothic"/>
                <a:cs typeface="Yu Gothic"/>
              </a:rPr>
              <a:t>一時退避・目印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34440" cy="365760"/>
          </a:xfrm>
          <a:prstGeom prst="roundRect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CHAPTER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384048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要点① やり直し系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078992"/>
            <a:ext cx="82296" cy="82296"/>
          </a:xfrm>
          <a:prstGeom prst="ellipse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602736" cy="489204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602736" cy="566928"/>
          </a:xfrm>
          <a:prstGeom prst="roundRect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351129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リバート (revert)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21408"/>
            <a:ext cx="3145536" cy="3977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8E4DB3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過去のコミットを消さずに打ち消す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8E4DB3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反対の内容で新規コミットを作る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8E4DB3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履歴が残るので安全なやり直し方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371600"/>
            <a:ext cx="3602736" cy="489204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34256" y="1371600"/>
            <a:ext cx="3602736" cy="566928"/>
          </a:xfrm>
          <a:prstGeom prst="roundRect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371600"/>
            <a:ext cx="351129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リセット (reset)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21408"/>
            <a:ext cx="3145536" cy="3977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8E4DB3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コミットを巻き戻す操作。3種類ある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8E4DB3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--soft / --mixed / --hard（次スライド）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8E4DB3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--hard は全部消える → 研修中は禁止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71600"/>
            <a:ext cx="3602736" cy="4892040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9872" y="1371600"/>
            <a:ext cx="3602736" cy="566928"/>
          </a:xfrm>
          <a:prstGeom prst="roundRect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371600"/>
            <a:ext cx="351129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reflog（救命手段）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121408"/>
            <a:ext cx="3145536" cy="3977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8E4DB3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自分が行った操作の履歴を見られる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8E4DB3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コミット・切替・書き換えの記録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8E4DB3"/>
                </a:solidFill>
                <a:latin typeface="Yu Gothic"/>
                <a:ea typeface="Yu Gothic"/>
                <a:cs typeface="Yu Gothic"/>
              </a:rPr>
              <a:t>•  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誤って消したブランチも復旧できる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34440" cy="365760"/>
          </a:xfrm>
          <a:prstGeom prst="roundRect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CHAPTER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384048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要点② 履歴の整理・その他の技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078992"/>
            <a:ext cx="82296" cy="82296"/>
          </a:xfrm>
          <a:prstGeom prst="ellipse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463040"/>
            <a:ext cx="3602736" cy="1536192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64792"/>
            <a:ext cx="146304" cy="146304"/>
          </a:xfrm>
          <a:prstGeom prst="ellipse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29626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リベース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76272"/>
            <a:ext cx="309981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履歴を一直線に整える。※IDが変わりプッシュ済みは危険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463040"/>
            <a:ext cx="3602736" cy="1536192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0288" y="1764792"/>
            <a:ext cx="146304" cy="146304"/>
          </a:xfrm>
          <a:prstGeom prst="ellipse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608" y="1645920"/>
            <a:ext cx="29626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スカッシュ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176272"/>
            <a:ext cx="309981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複数コミットを1つにまとめる（プッシュ前のみ）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463040"/>
            <a:ext cx="3602736" cy="1536192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57616" y="1764792"/>
            <a:ext cx="146304" cy="146304"/>
          </a:xfrm>
          <a:prstGeom prst="ellipse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31936" y="1645920"/>
            <a:ext cx="29626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スタッシュ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176272"/>
            <a:ext cx="309981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作業中の変更を一時的に退避し、後で復元する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182112"/>
            <a:ext cx="3602736" cy="1536192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483864"/>
            <a:ext cx="146304" cy="146304"/>
          </a:xfrm>
          <a:prstGeom prst="ellipse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364992"/>
            <a:ext cx="29626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チェリーピック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895344"/>
            <a:ext cx="309981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任意のコミットを今のブランチにコピーする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4256" y="3182112"/>
            <a:ext cx="3602736" cy="1536192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90288" y="3483864"/>
            <a:ext cx="146304" cy="146304"/>
          </a:xfrm>
          <a:prstGeom prst="ellipse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4608" y="3364992"/>
            <a:ext cx="29626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タグ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3895344"/>
            <a:ext cx="309981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重要なポイントに目印をつけ、後で探しやすくする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4" y="3182112"/>
            <a:ext cx="3602736" cy="1536192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57616" y="3483864"/>
            <a:ext cx="146304" cy="146304"/>
          </a:xfrm>
          <a:prstGeom prst="ellipse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31936" y="3364992"/>
            <a:ext cx="29626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フェッチ / プルーン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3895344"/>
            <a:ext cx="309981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リモートを取得（未反映）／消えたブランチを掃除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E4DB3"/>
                </a:solidFill>
                <a:latin typeface="Yu Gothic"/>
                <a:ea typeface="Yu Gothic"/>
                <a:cs typeface="Yu Gothic"/>
              </a:rPr>
              <a:t>detached HEAD</a:t>
            </a:r>
            <a:r>
              <a:rPr sz="13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 … どのブランチにも属さない“無所属”状態。コミットしても目印がなく、次に切り替えると戻れなくなるので注意。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34440" cy="365760"/>
          </a:xfrm>
          <a:prstGeom prst="roundRect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CHAPTER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384048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git reset 3種の比較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078992"/>
            <a:ext cx="82296" cy="82296"/>
          </a:xfrm>
          <a:prstGeom prst="ellipse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91672" cy="3108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11680"/>
                <a:gridCol w="1920240"/>
                <a:gridCol w="1920240"/>
                <a:gridCol w="1920240"/>
                <a:gridCol w="3319272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モード</a:t>
                      </a:r>
                    </a:p>
                  </a:txBody>
                  <a:tcPr anchor="ctr">
                    <a:solidFill>
                      <a:srgbClr val="8E4D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コミット</a:t>
                      </a:r>
                    </a:p>
                  </a:txBody>
                  <a:tcPr anchor="ctr">
                    <a:solidFill>
                      <a:srgbClr val="8E4D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ステージ</a:t>
                      </a:r>
                    </a:p>
                  </a:txBody>
                  <a:tcPr anchor="ctr">
                    <a:solidFill>
                      <a:srgbClr val="8E4D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作業ファイル</a:t>
                      </a:r>
                    </a:p>
                  </a:txBody>
                  <a:tcPr anchor="ctr">
                    <a:solidFill>
                      <a:srgbClr val="8E4D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危険度</a:t>
                      </a:r>
                    </a:p>
                  </a:txBody>
                  <a:tcPr anchor="ctr">
                    <a:solidFill>
                      <a:srgbClr val="8E4DB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8E4DB3"/>
                          </a:solidFill>
                          <a:latin typeface="Consolas"/>
                          <a:ea typeface="Consolas"/>
                          <a:cs typeface="Consolas"/>
                        </a:rPr>
                        <a:t>--soft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取り消す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残る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残る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A9D8F"/>
                          </a:solidFill>
                          <a:latin typeface="Yu Gothic"/>
                          <a:ea typeface="Yu Gothic"/>
                          <a:cs typeface="Yu Gothic"/>
                        </a:rPr>
                        <a:t>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8E4DB3"/>
                          </a:solidFill>
                          <a:latin typeface="Consolas"/>
                          <a:ea typeface="Consolas"/>
                          <a:cs typeface="Consolas"/>
                        </a:rPr>
                        <a:t>--mixed</a:t>
                      </a:r>
                    </a:p>
                  </a:txBody>
                  <a:tcPr anchor="ctr"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取り消す</a:t>
                      </a:r>
                    </a:p>
                  </a:txBody>
                  <a:tcPr anchor="ctr"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巻き戻る</a:t>
                      </a:r>
                    </a:p>
                  </a:txBody>
                  <a:tcPr anchor="ctr"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残る</a:t>
                      </a:r>
                    </a:p>
                  </a:txBody>
                  <a:tcPr anchor="ctr"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中</a:t>
                      </a:r>
                    </a:p>
                  </a:txBody>
                  <a:tcPr anchor="ctr">
                    <a:solidFill>
                      <a:srgbClr val="ECEE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8E4DB3"/>
                          </a:solidFill>
                          <a:latin typeface="Consolas"/>
                          <a:ea typeface="Consolas"/>
                          <a:cs typeface="Consolas"/>
                        </a:rPr>
                        <a:t>--hard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取り消す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巻き戻る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B2D42"/>
                          </a:solidFill>
                          <a:latin typeface="Yu Gothic"/>
                          <a:ea typeface="Yu Gothic"/>
                          <a:cs typeface="Yu Gothic"/>
                        </a:rPr>
                        <a:t>消える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D62D2D"/>
                          </a:solidFill>
                          <a:latin typeface="Yu Gothic"/>
                          <a:ea typeface="Yu Gothic"/>
                          <a:cs typeface="Yu Gothic"/>
                        </a:rPr>
                        <a:t>強（研修中は禁止）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8E4DB3"/>
                </a:solidFill>
                <a:latin typeface="Yu Gothic"/>
                <a:ea typeface="Yu Gothic"/>
                <a:cs typeface="Yu Gothic"/>
              </a:rPr>
              <a:t>ポイント： </a:t>
            </a:r>
            <a:r>
              <a:rPr sz="14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状況に応じて使い分ける。“残るもの”が soft→mixed→hard の順に減っていく。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8E4DB3"/>
                </a:solidFill>
                <a:latin typeface="Yu Gothic"/>
                <a:ea typeface="Yu Gothic"/>
                <a:cs typeface="Yu Gothic"/>
              </a:rPr>
              <a:t>　　　　　 </a:t>
            </a:r>
            <a:r>
              <a:rPr sz="1400" b="0">
                <a:solidFill>
                  <a:srgbClr val="D62D2D"/>
                </a:solidFill>
                <a:latin typeface="Yu Gothic"/>
                <a:ea typeface="Yu Gothic"/>
                <a:cs typeface="Yu Gothic"/>
              </a:rPr>
              <a:t>--hard は履歴も作業中ファイルもまるごと消えるため、研修中は実行禁止。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34440" cy="365760"/>
          </a:xfrm>
          <a:prstGeom prst="roundRect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34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CHAPTER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384048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確認クイズ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078992"/>
            <a:ext cx="82296" cy="82296"/>
          </a:xfrm>
          <a:prstGeom prst="ellipse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1672" cy="148132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27632"/>
            <a:ext cx="914400" cy="402336"/>
          </a:xfrm>
          <a:prstGeom prst="roundRect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914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Q1 ○×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517904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git reset --hard は、作業中のファイルも消えてしまう。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240280"/>
            <a:ext cx="95097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答え： </a:t>
            </a:r>
            <a:r>
              <a:rPr sz="1250" b="1">
                <a:solidFill>
                  <a:srgbClr val="2A9D8F"/>
                </a:solidFill>
                <a:latin typeface="Yu Gothic"/>
                <a:ea typeface="Yu Gothic"/>
                <a:cs typeface="Yu Gothic"/>
              </a:rPr>
              <a:t>○</a:t>
            </a:r>
            <a:r>
              <a:rPr sz="11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  全部巻き戻る。研修中は実行禁止。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99232"/>
            <a:ext cx="11091672" cy="148132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255264"/>
            <a:ext cx="914400" cy="402336"/>
          </a:xfrm>
          <a:prstGeom prst="roundRect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55264"/>
            <a:ext cx="914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Q2 穴埋め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145536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過去のコミットを反対内容の新規コミットで打ち消す操作を〔　　　〕という。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867912"/>
            <a:ext cx="95097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答え： </a:t>
            </a:r>
            <a:r>
              <a:rPr sz="1250" b="1">
                <a:solidFill>
                  <a:srgbClr val="8E4DB3"/>
                </a:solidFill>
                <a:latin typeface="Yu Gothic"/>
                <a:ea typeface="Yu Gothic"/>
                <a:cs typeface="Yu Gothic"/>
              </a:rPr>
              <a:t>リバート</a:t>
            </a:r>
            <a:r>
              <a:rPr sz="11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 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26864"/>
            <a:ext cx="11091672" cy="148132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882896"/>
            <a:ext cx="914400" cy="402336"/>
          </a:xfrm>
          <a:prstGeom prst="roundRect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82896"/>
            <a:ext cx="914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Q3 ○×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773168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リベースはコミットIDが変わるが、プッシュ済みブランチでも安全に使える。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495544"/>
            <a:ext cx="95097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答え： </a:t>
            </a:r>
            <a:r>
              <a:rPr sz="1250" b="1">
                <a:solidFill>
                  <a:srgbClr val="D62D2D"/>
                </a:solidFill>
                <a:latin typeface="Yu Gothic"/>
                <a:ea typeface="Yu Gothic"/>
                <a:cs typeface="Yu Gothic"/>
              </a:rPr>
              <a:t>×</a:t>
            </a:r>
            <a:r>
              <a:rPr sz="115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  プッシュ済みへのリベースは普通にプッシュできなくなる危険がある。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コマンド早見表</a:t>
            </a:r>
          </a:p>
        </p:txBody>
      </p:sp>
      <p:sp>
        <p:nvSpPr>
          <p:cNvPr id="3" name="Oval 2"/>
          <p:cNvSpPr/>
          <p:nvPr/>
        </p:nvSpPr>
        <p:spPr>
          <a:xfrm>
            <a:off x="566928" y="1097280"/>
            <a:ext cx="82296" cy="82296"/>
          </a:xfrm>
          <a:prstGeom prst="ellipse">
            <a:avLst/>
          </a:prstGeom>
          <a:solidFill>
            <a:srgbClr val="F05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532120" cy="621792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2743200" cy="62179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git init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371600"/>
            <a:ext cx="260604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現在のディレクトリをGitリポジトリにする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93392"/>
            <a:ext cx="2743200" cy="62179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git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993392"/>
            <a:ext cx="260604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作業ディレクトリの状態を確認する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15184"/>
            <a:ext cx="5532120" cy="621792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15184"/>
            <a:ext cx="2743200" cy="62179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git add &lt;file&gt;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615184"/>
            <a:ext cx="260604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指定ファイルをステージする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36976"/>
            <a:ext cx="2743200" cy="62179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git commit -m "…"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236976"/>
            <a:ext cx="260604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ステージした変更を履歴に保存する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58768"/>
            <a:ext cx="5532120" cy="621792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858768"/>
            <a:ext cx="2743200" cy="62179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git checkout &lt;先&gt;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858768"/>
            <a:ext cx="260604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ブランチ／コミットへ移動する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480560"/>
            <a:ext cx="2743200" cy="62179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git branch &lt;名&gt;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480560"/>
            <a:ext cx="260604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ブランチを作成・一覧する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02352"/>
            <a:ext cx="5532120" cy="621792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5102352"/>
            <a:ext cx="2743200" cy="62179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git merge &lt;ブランチ&gt;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5102352"/>
            <a:ext cx="260604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指定ブランチを今のブランチに統合する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724144"/>
            <a:ext cx="2743200" cy="62179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git 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5724144"/>
            <a:ext cx="260604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変更をリモートに反映する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08192" y="1371600"/>
            <a:ext cx="5532120" cy="621792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1371600"/>
            <a:ext cx="2743200" cy="62179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git pull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7112" y="1371600"/>
            <a:ext cx="260604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リモートの変更を取り込む（fetch＋merge）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1993392"/>
            <a:ext cx="2743200" cy="62179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git fetch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7112" y="1993392"/>
            <a:ext cx="260604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リモートの最新を取得（まだ反映しない）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08192" y="2615184"/>
            <a:ext cx="5532120" cy="621792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2784" y="2615184"/>
            <a:ext cx="2743200" cy="62179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git revert &lt;ID&gt;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2" y="2615184"/>
            <a:ext cx="260604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過去コミットを打ち消す新規コミットを作る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236976"/>
            <a:ext cx="2743200" cy="62179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git reset --soft/mixed/hard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2" y="3236976"/>
            <a:ext cx="260604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コミットを巻き戻す（残る範囲が異なる）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08192" y="3858768"/>
            <a:ext cx="5532120" cy="621792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2784" y="3858768"/>
            <a:ext cx="2743200" cy="62179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git stash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7112" y="3858768"/>
            <a:ext cx="260604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作業中の変更を一時退避する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2784" y="4480560"/>
            <a:ext cx="2743200" cy="62179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git cherry-pick &lt;ID&gt;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97112" y="4480560"/>
            <a:ext cx="260604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任意コミットを今のブランチにコピーする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08192" y="5102352"/>
            <a:ext cx="5532120" cy="621792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2784" y="5102352"/>
            <a:ext cx="2743200" cy="62179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git reflog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7112" y="5102352"/>
            <a:ext cx="260604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自分の操作履歴を表示（復旧に使える）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2784" y="5724144"/>
            <a:ext cx="2743200" cy="62179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git tag &lt;名&gt;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7112" y="5724144"/>
            <a:ext cx="260604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重要なポイントに目印をつける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総合セルフチェック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072"/>
                </a:solidFill>
                <a:latin typeface="Yu Gothic"/>
                <a:ea typeface="Yu Gothic"/>
                <a:cs typeface="Yu Gothic"/>
              </a:rPr>
              <a:t>自分の言葉で説明できるか、□ に✓を入れて確認しよう。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532120" cy="65836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8096" y="1865376"/>
            <a:ext cx="310896" cy="310896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3D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07008" y="1874520"/>
            <a:ext cx="502920" cy="292608"/>
          </a:xfrm>
          <a:prstGeom prst="roundRect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1874520"/>
            <a:ext cx="502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1691640"/>
            <a:ext cx="40690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GitとGitHubの違いを説明できる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78024"/>
            <a:ext cx="5532120" cy="65836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2651760"/>
            <a:ext cx="310896" cy="310896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3D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07008" y="2660904"/>
            <a:ext cx="502920" cy="292608"/>
          </a:xfrm>
          <a:prstGeom prst="roundRect">
            <a:avLst/>
          </a:prstGeom>
          <a:solidFill>
            <a:srgbClr val="3D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2660904"/>
            <a:ext cx="502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2478024"/>
            <a:ext cx="40690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バージョン管理のメリットを説明できる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264408"/>
            <a:ext cx="5532120" cy="65836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8096" y="3438144"/>
            <a:ext cx="310896" cy="310896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07008" y="3447288"/>
            <a:ext cx="502920" cy="29260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3447288"/>
            <a:ext cx="502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3264408"/>
            <a:ext cx="40690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ステージング→コミットの流れを説明できる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50792"/>
            <a:ext cx="5532120" cy="65836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8096" y="4224528"/>
            <a:ext cx="310896" cy="310896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07008" y="4233672"/>
            <a:ext cx="502920" cy="29260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4233672"/>
            <a:ext cx="502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7088" y="4050792"/>
            <a:ext cx="40690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集中型と分散型の違いを説明できる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7176"/>
            <a:ext cx="5532120" cy="65836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8096" y="5010912"/>
            <a:ext cx="310896" cy="310896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439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207008" y="5020056"/>
            <a:ext cx="502920" cy="292608"/>
          </a:xfrm>
          <a:prstGeom prst="roundRect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8" y="5020056"/>
            <a:ext cx="502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47088" y="4837176"/>
            <a:ext cx="40690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フォークとクローンの違いを説明できる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1691640"/>
            <a:ext cx="5532120" cy="65836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45936" y="1865376"/>
            <a:ext cx="310896" cy="310896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439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784848" y="1874520"/>
            <a:ext cx="502920" cy="292608"/>
          </a:xfrm>
          <a:prstGeom prst="roundRect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84848" y="1874520"/>
            <a:ext cx="502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4928" y="1691640"/>
            <a:ext cx="40690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プッシュ／プル／プルリクを説明できる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2478024"/>
            <a:ext cx="5532120" cy="65836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45936" y="2651760"/>
            <a:ext cx="310896" cy="310896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439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784848" y="2660904"/>
            <a:ext cx="502920" cy="292608"/>
          </a:xfrm>
          <a:prstGeom prst="roundRect">
            <a:avLst/>
          </a:prstGeom>
          <a:solidFill>
            <a:srgbClr val="439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84848" y="2660904"/>
            <a:ext cx="502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4928" y="2478024"/>
            <a:ext cx="40690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コンフリクトの原因と直し方を説明できる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44768" y="3264408"/>
            <a:ext cx="5532120" cy="65836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45936" y="3438144"/>
            <a:ext cx="310896" cy="310896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8E4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784848" y="3447288"/>
            <a:ext cx="502920" cy="292608"/>
          </a:xfrm>
          <a:prstGeom prst="roundRect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84848" y="3447288"/>
            <a:ext cx="502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4928" y="3264408"/>
            <a:ext cx="40690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reset 3種（soft/mixed/hard）の違いを説明できる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4050792"/>
            <a:ext cx="5532120" cy="65836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45936" y="4224528"/>
            <a:ext cx="310896" cy="310896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8E4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784848" y="4233672"/>
            <a:ext cx="502920" cy="292608"/>
          </a:xfrm>
          <a:prstGeom prst="roundRect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84848" y="4233672"/>
            <a:ext cx="502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4928" y="4050792"/>
            <a:ext cx="40690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リバートとリベースの違い・危険性を説明できる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44768" y="4837176"/>
            <a:ext cx="5532120" cy="658368"/>
          </a:xfrm>
          <a:prstGeom prst="roundRect">
            <a:avLst/>
          </a:prstGeom>
          <a:solidFill>
            <a:srgbClr val="ECEEF2"/>
          </a:solidFill>
          <a:ln>
            <a:noFill/>
          </a:ln>
          <a:effectLst/>
          <a:effectLst>
            <a:outerShdw blurRad="90000" dist="30000" dir="5400000" rotWithShape="0">
              <a:srgbClr val="222A3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45936" y="5010912"/>
            <a:ext cx="310896" cy="310896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8E4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784848" y="5020056"/>
            <a:ext cx="502920" cy="292608"/>
          </a:xfrm>
          <a:prstGeom prst="roundRect">
            <a:avLst/>
          </a:prstGeom>
          <a:solidFill>
            <a:srgbClr val="8E4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84848" y="5020056"/>
            <a:ext cx="502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4928" y="4837176"/>
            <a:ext cx="40690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2D42"/>
                </a:solidFill>
                <a:latin typeface="Yu Gothic"/>
                <a:ea typeface="Yu Gothic"/>
                <a:cs typeface="Yu Gothic"/>
              </a:rPr>
              <a:t>スタッシュ／チェリーピック／reflogの用途を言える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05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24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まとめ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874520"/>
            <a:ext cx="164592" cy="164592"/>
          </a:xfrm>
          <a:prstGeom prst="ellipse">
            <a:avLst/>
          </a:prstGeom>
          <a:solidFill>
            <a:srgbClr val="F05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7830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学習は積み上げ式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85416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C5CDDE"/>
                </a:solidFill>
                <a:latin typeface="Yu Gothic"/>
                <a:ea typeface="Yu Gothic"/>
                <a:cs typeface="Yu Gothic"/>
              </a:rPr>
              <a:t>基礎 → 個人 → チーム → 実用 の順で、前章の理解が次章の前提になる。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971800"/>
            <a:ext cx="164592" cy="164592"/>
          </a:xfrm>
          <a:prstGeom prst="ellipse">
            <a:avLst/>
          </a:prstGeom>
          <a:solidFill>
            <a:srgbClr val="F05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88036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困ったら慌てない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82696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C5CDDE"/>
                </a:solidFill>
                <a:latin typeface="Yu Gothic"/>
                <a:ea typeface="Yu Gothic"/>
                <a:cs typeface="Yu Gothic"/>
              </a:rPr>
              <a:t>誤って消しても reflog で救える。コンフリクトは目印を見て手で選ぶだけ。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069080"/>
            <a:ext cx="164592" cy="164592"/>
          </a:xfrm>
          <a:prstGeom prst="ellipse">
            <a:avLst/>
          </a:prstGeom>
          <a:solidFill>
            <a:srgbClr val="F05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97764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危険な操作に注意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379976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C5CDDE"/>
                </a:solidFill>
                <a:latin typeface="Yu Gothic"/>
                <a:ea typeface="Yu Gothic"/>
                <a:cs typeface="Yu Gothic"/>
              </a:rPr>
              <a:t>--hard は全消し（研修中禁止）。プッシュ済みへのリベース／スカッシュは危険。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166360"/>
            <a:ext cx="164592" cy="164592"/>
          </a:xfrm>
          <a:prstGeom prst="ellipse">
            <a:avLst/>
          </a:prstGeom>
          <a:solidFill>
            <a:srgbClr val="F05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507492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手を動かすのが近道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477256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C5CDDE"/>
                </a:solidFill>
                <a:latin typeface="Yu Gothic"/>
                <a:ea typeface="Yu Gothic"/>
                <a:cs typeface="Yu Gothic"/>
              </a:rPr>
              <a:t>reset の soft と mixed の違いなどは、実際に試すと一番腹落ちする。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